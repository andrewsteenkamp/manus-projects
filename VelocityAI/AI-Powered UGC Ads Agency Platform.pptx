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8" y="287369"/>
            <a:ext cx="5000625" cy="32600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4789" y="3761687"/>
            <a:ext cx="7254394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UGC Ads Agency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1323352" y="4470341"/>
            <a:ext cx="649729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Revolutionizing Video Ads for All E-commerce Brands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Opportunity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978819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928813"/>
            <a:ext cx="14893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Addressable Market: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1975107" y="1928813"/>
            <a:ext cx="5563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Access to 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2531427" y="1928813"/>
            <a:ext cx="296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2827586" y="1928813"/>
            <a:ext cx="14564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the e-commerce market 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485775" y="2100263"/>
            <a:ext cx="23775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across all platforms, not just Shopify's 10.3% </a:t>
            </a:r>
            <a:endParaRPr lang="en-US" sz="83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436019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2386013"/>
            <a:ext cx="11741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UGC Market Growth: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1659889" y="2386013"/>
            <a:ext cx="26413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Projected to grow from $5 billion to $24 billion in 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485775" y="2557463"/>
            <a:ext cx="9259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coming years </a:t>
            </a:r>
            <a:endParaRPr lang="en-US" sz="83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893219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5775" y="2843213"/>
            <a:ext cx="10769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Diversity: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1562723" y="2843213"/>
            <a:ext cx="2765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WooCommerce (28.24%), Shopify (10.3%), Magento </a:t>
            </a:r>
            <a:endParaRPr lang="en-US" sz="837" dirty="0"/>
          </a:p>
        </p:txBody>
      </p:sp>
      <p:sp>
        <p:nvSpPr>
          <p:cNvPr id="17" name="Text 11"/>
          <p:cNvSpPr/>
          <p:nvPr/>
        </p:nvSpPr>
        <p:spPr>
          <a:xfrm>
            <a:off x="485775" y="3014663"/>
            <a:ext cx="17820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(7.18%), Custom Solutions (15%+) </a:t>
            </a:r>
            <a:endParaRPr lang="en-US" sz="837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350419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5775" y="3300413"/>
            <a:ext cx="10616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Pain Point: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1547403" y="3300413"/>
            <a:ext cx="28734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High cost of traditional UGC ($150+ per video) vs. our </a:t>
            </a:r>
            <a:endParaRPr lang="en-US" sz="837" dirty="0"/>
          </a:p>
        </p:txBody>
      </p:sp>
      <p:sp>
        <p:nvSpPr>
          <p:cNvPr id="21" name="Text 14"/>
          <p:cNvSpPr/>
          <p:nvPr/>
        </p:nvSpPr>
        <p:spPr>
          <a:xfrm>
            <a:off x="485775" y="3471863"/>
            <a:ext cx="16944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solution ($50 per video at scale) 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4714875" y="1243013"/>
            <a:ext cx="4143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Platform Market Share</a:t>
            </a:r>
            <a:endParaRPr lang="en-US" sz="1046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571625"/>
            <a:ext cx="41433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Offering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978819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928813"/>
            <a:ext cx="8023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Package: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1317882" y="1928813"/>
            <a:ext cx="20880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 AI-generated UGC-style video ads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3405922" y="1928813"/>
            <a:ext cx="10081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month for any 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485775" y="2100263"/>
            <a:ext cx="10177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brand </a:t>
            </a:r>
            <a:endParaRPr lang="en-US" sz="83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436019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5" y="2386013"/>
            <a:ext cx="10708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Platform-Agnostic:</a:t>
            </a:r>
            <a:endParaRPr lang="en-US" sz="837" dirty="0"/>
          </a:p>
        </p:txBody>
      </p:sp>
      <p:sp>
        <p:nvSpPr>
          <p:cNvPr id="11" name="Text 6"/>
          <p:cNvSpPr/>
          <p:nvPr/>
        </p:nvSpPr>
        <p:spPr>
          <a:xfrm>
            <a:off x="1556668" y="2386013"/>
            <a:ext cx="23758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Works with all major e-commerce platforms 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485775" y="2557463"/>
            <a:ext cx="35630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including Shopify, WooCommerce, Magento, and custom solutions </a:t>
            </a:r>
            <a:endParaRPr lang="en-US" sz="83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893219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5775" y="2843213"/>
            <a:ext cx="13753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Multi-Category Support:</a:t>
            </a:r>
            <a:endParaRPr lang="en-US" sz="837" dirty="0"/>
          </a:p>
        </p:txBody>
      </p:sp>
      <p:sp>
        <p:nvSpPr>
          <p:cNvPr id="15" name="Text 9"/>
          <p:cNvSpPr/>
          <p:nvPr/>
        </p:nvSpPr>
        <p:spPr>
          <a:xfrm>
            <a:off x="1861170" y="2843213"/>
            <a:ext cx="25325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Specialized approaches for Electronics, Beauty, 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485775" y="3014663"/>
            <a:ext cx="27332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Health, Outdoor, Fashion, Home, Fitness, and more </a:t>
            </a:r>
            <a:endParaRPr lang="en-US" sz="837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350419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775" y="3300413"/>
            <a:ext cx="9749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Turnaround:</a:t>
            </a:r>
            <a:endParaRPr lang="en-US" sz="837" dirty="0"/>
          </a:p>
        </p:txBody>
      </p:sp>
      <p:sp>
        <p:nvSpPr>
          <p:cNvPr id="19" name="Text 12"/>
          <p:cNvSpPr/>
          <p:nvPr/>
        </p:nvSpPr>
        <p:spPr>
          <a:xfrm>
            <a:off x="1460757" y="3300413"/>
            <a:ext cx="28407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Complete automation reduces production time from 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485775" y="3471863"/>
            <a:ext cx="12031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weeks to just 48 hours </a:t>
            </a:r>
            <a:endParaRPr lang="en-US" sz="837" dirty="0"/>
          </a:p>
        </p:txBody>
      </p:sp>
      <p:sp>
        <p:nvSpPr>
          <p:cNvPr id="21" name="Shape 14"/>
          <p:cNvSpPr/>
          <p:nvPr/>
        </p:nvSpPr>
        <p:spPr>
          <a:xfrm>
            <a:off x="4714875" y="1728788"/>
            <a:ext cx="2000250" cy="571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Shape 15"/>
          <p:cNvSpPr/>
          <p:nvPr/>
        </p:nvSpPr>
        <p:spPr>
          <a:xfrm>
            <a:off x="4822031" y="1835944"/>
            <a:ext cx="357188" cy="357188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184" y="1928813"/>
            <a:ext cx="192881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86375" y="1843088"/>
            <a:ext cx="13215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AI-Generated UGC Videos </a:t>
            </a:r>
            <a:endParaRPr lang="en-US" sz="837" dirty="0"/>
          </a:p>
        </p:txBody>
      </p:sp>
      <p:sp>
        <p:nvSpPr>
          <p:cNvPr id="25" name="Shape 17"/>
          <p:cNvSpPr/>
          <p:nvPr/>
        </p:nvSpPr>
        <p:spPr>
          <a:xfrm>
            <a:off x="6858000" y="1728788"/>
            <a:ext cx="2000250" cy="571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18"/>
          <p:cNvSpPr/>
          <p:nvPr/>
        </p:nvSpPr>
        <p:spPr>
          <a:xfrm>
            <a:off x="6965156" y="1835944"/>
            <a:ext cx="357188" cy="357188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8025" y="1928813"/>
            <a:ext cx="171450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29500" y="1928813"/>
            <a:ext cx="9220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Ad Script Writing </a:t>
            </a:r>
            <a:endParaRPr lang="en-US" sz="837" dirty="0"/>
          </a:p>
        </p:txBody>
      </p:sp>
      <p:sp>
        <p:nvSpPr>
          <p:cNvPr id="29" name="Shape 20"/>
          <p:cNvSpPr/>
          <p:nvPr/>
        </p:nvSpPr>
        <p:spPr>
          <a:xfrm>
            <a:off x="4714875" y="2443163"/>
            <a:ext cx="2000250" cy="571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Shape 21"/>
          <p:cNvSpPr/>
          <p:nvPr/>
        </p:nvSpPr>
        <p:spPr>
          <a:xfrm>
            <a:off x="4822031" y="2550319"/>
            <a:ext cx="357188" cy="357188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2643188"/>
            <a:ext cx="171450" cy="1714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86375" y="2557463"/>
            <a:ext cx="13215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 Avatar Customization </a:t>
            </a:r>
            <a:endParaRPr lang="en-US" sz="837" dirty="0"/>
          </a:p>
        </p:txBody>
      </p:sp>
      <p:sp>
        <p:nvSpPr>
          <p:cNvPr id="33" name="Shape 23"/>
          <p:cNvSpPr/>
          <p:nvPr/>
        </p:nvSpPr>
        <p:spPr>
          <a:xfrm>
            <a:off x="6858000" y="2443163"/>
            <a:ext cx="2000250" cy="571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4" name="Shape 24"/>
          <p:cNvSpPr/>
          <p:nvPr/>
        </p:nvSpPr>
        <p:spPr>
          <a:xfrm>
            <a:off x="6965156" y="2550319"/>
            <a:ext cx="357188" cy="357188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7309" y="2643188"/>
            <a:ext cx="192881" cy="17145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429500" y="2643188"/>
            <a:ext cx="1079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Product Integration </a:t>
            </a:r>
            <a:endParaRPr lang="en-US" sz="837" dirty="0"/>
          </a:p>
        </p:txBody>
      </p:sp>
      <p:sp>
        <p:nvSpPr>
          <p:cNvPr id="37" name="Shape 26"/>
          <p:cNvSpPr/>
          <p:nvPr/>
        </p:nvSpPr>
        <p:spPr>
          <a:xfrm>
            <a:off x="5827123" y="3228975"/>
            <a:ext cx="1918878" cy="47148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8" name="Text 27"/>
          <p:cNvSpPr/>
          <p:nvPr/>
        </p:nvSpPr>
        <p:spPr>
          <a:xfrm>
            <a:off x="5827123" y="3228975"/>
            <a:ext cx="1918878" cy="471488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$5,000 per month 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5663794" y="3771900"/>
            <a:ext cx="22455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vs. $15,000+ with traditional UGC creators 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Technology Stack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1693069"/>
            <a:ext cx="114300" cy="171450"/>
          </a:xfrm>
          <a:prstGeom prst="roundRect">
            <a:avLst/>
          </a:prstGeom>
          <a:solidFill>
            <a:srgbClr val="1E40A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721644"/>
            <a:ext cx="114300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5775" y="1700213"/>
            <a:ext cx="7649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Perplexity AI: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1250686" y="1700213"/>
            <a:ext cx="31752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Conducts market research and pain point analysis for each 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485775" y="1871663"/>
            <a:ext cx="35852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 category, identifying key customer concerns and language 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485775" y="2043113"/>
            <a:ext cx="4540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 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285750" y="2350294"/>
            <a:ext cx="114300" cy="171450"/>
          </a:xfrm>
          <a:prstGeom prst="roundRect">
            <a:avLst/>
          </a:prstGeom>
          <a:solidFill>
            <a:srgbClr val="1E40A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378869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5775" y="2357438"/>
            <a:ext cx="7898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Claude/GPT-4: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1275606" y="2357438"/>
            <a:ext cx="30782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Generates category-specific ad scripts based on research 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485775" y="2528888"/>
            <a:ext cx="25396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data, optimized for conversion and authenticity </a:t>
            </a:r>
            <a:endParaRPr lang="en-US" sz="837" dirty="0"/>
          </a:p>
        </p:txBody>
      </p:sp>
      <p:sp>
        <p:nvSpPr>
          <p:cNvPr id="15" name="Shape 10"/>
          <p:cNvSpPr/>
          <p:nvPr/>
        </p:nvSpPr>
        <p:spPr>
          <a:xfrm>
            <a:off x="285750" y="2836069"/>
            <a:ext cx="128588" cy="171450"/>
          </a:xfrm>
          <a:prstGeom prst="roundRect">
            <a:avLst/>
          </a:prstGeom>
          <a:solidFill>
            <a:srgbClr val="1E40A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864644"/>
            <a:ext cx="128588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0063" y="2843213"/>
            <a:ext cx="726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MakeUGC.ai: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226325" y="2843213"/>
            <a:ext cx="30267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Creates high-quality UGC-style video ads with AI avatars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500063" y="3014663"/>
            <a:ext cx="17876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tailored to each product category 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285750" y="3321844"/>
            <a:ext cx="142875" cy="17145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350419"/>
            <a:ext cx="142875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4350" y="3328988"/>
            <a:ext cx="1540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n8n Workflow Automation: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2055000" y="3328988"/>
            <a:ext cx="20033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Orchestrates the entire process from </a:t>
            </a:r>
            <a:endParaRPr lang="en-US" sz="837" dirty="0"/>
          </a:p>
        </p:txBody>
      </p:sp>
      <p:sp>
        <p:nvSpPr>
          <p:cNvPr id="24" name="Text 17"/>
          <p:cNvSpPr/>
          <p:nvPr/>
        </p:nvSpPr>
        <p:spPr>
          <a:xfrm>
            <a:off x="514350" y="3500438"/>
            <a:ext cx="38788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to video generation, ensuring seamless integration between all </a:t>
            </a:r>
            <a:endParaRPr lang="en-US" sz="837" dirty="0"/>
          </a:p>
        </p:txBody>
      </p:sp>
      <p:sp>
        <p:nvSpPr>
          <p:cNvPr id="25" name="Text 18"/>
          <p:cNvSpPr/>
          <p:nvPr/>
        </p:nvSpPr>
        <p:spPr>
          <a:xfrm>
            <a:off x="514350" y="3671888"/>
            <a:ext cx="4053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tools </a:t>
            </a:r>
            <a:endParaRPr lang="en-US" sz="837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814513"/>
            <a:ext cx="3571875" cy="17859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00625" y="3686175"/>
            <a:ext cx="3571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Integrated AI workflow for automated UGC ad creation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Multi-Platform Support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978819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928813"/>
            <a:ext cx="16474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Platform-Agnostic Approach: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2133191" y="1928813"/>
            <a:ext cx="13434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Our solution works with 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3476690" y="1928813"/>
            <a:ext cx="2024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3679143" y="1928813"/>
            <a:ext cx="6974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e-commerce 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485775" y="2100263"/>
            <a:ext cx="14194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platforms, not just Shopify </a:t>
            </a:r>
            <a:endParaRPr lang="en-US" sz="83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436019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2386013"/>
            <a:ext cx="14134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Expanded Market Reach: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1899233" y="2386013"/>
            <a:ext cx="5563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Access to 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2455552" y="2386013"/>
            <a:ext cx="296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2751711" y="2386013"/>
            <a:ext cx="14564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the e-commerce market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485775" y="2557463"/>
            <a:ext cx="11105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instead of just 10.3% </a:t>
            </a:r>
            <a:endParaRPr lang="en-US" sz="83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893219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5775" y="2843213"/>
            <a:ext cx="17878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Platform-Specific Optimization: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2273666" y="2843213"/>
            <a:ext cx="19532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Customized ad approaches for each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485775" y="3014663"/>
            <a:ext cx="21766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platform's unique audience and features </a:t>
            </a:r>
            <a:endParaRPr lang="en-US" sz="837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350419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5775" y="3300413"/>
            <a:ext cx="1248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Integration: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733950" y="3300413"/>
            <a:ext cx="21987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Works with any e-commerce setup, from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485775" y="3471863"/>
            <a:ext cx="22776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solutions to custom-built stores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5072063" y="1268016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298" y="1425178"/>
            <a:ext cx="225028" cy="2571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49946" y="1896666"/>
            <a:ext cx="4157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Shopify</a:t>
            </a:r>
            <a:endParaRPr lang="en-US" sz="837" dirty="0"/>
          </a:p>
        </p:txBody>
      </p:sp>
      <p:sp>
        <p:nvSpPr>
          <p:cNvPr id="27" name="Text 19"/>
          <p:cNvSpPr/>
          <p:nvPr/>
        </p:nvSpPr>
        <p:spPr>
          <a:xfrm>
            <a:off x="4889729" y="2068116"/>
            <a:ext cx="936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10.3% Market Share</a:t>
            </a:r>
            <a:endParaRPr lang="en-US" sz="732" dirty="0"/>
          </a:p>
        </p:txBody>
      </p:sp>
      <p:sp>
        <p:nvSpPr>
          <p:cNvPr id="28" name="Shape 20"/>
          <p:cNvSpPr/>
          <p:nvPr/>
        </p:nvSpPr>
        <p:spPr>
          <a:xfrm>
            <a:off x="6500813" y="1268016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1425178"/>
            <a:ext cx="257175" cy="25717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62486" y="1896666"/>
            <a:ext cx="84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WooCommerce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6289877" y="2068116"/>
            <a:ext cx="9933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28.24% Market Share</a:t>
            </a:r>
            <a:endParaRPr lang="en-US" sz="732" dirty="0"/>
          </a:p>
        </p:txBody>
      </p:sp>
      <p:sp>
        <p:nvSpPr>
          <p:cNvPr id="32" name="Shape 23"/>
          <p:cNvSpPr/>
          <p:nvPr/>
        </p:nvSpPr>
        <p:spPr>
          <a:xfrm>
            <a:off x="7929563" y="1268016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2798" y="1425178"/>
            <a:ext cx="225028" cy="2571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964639" y="1896666"/>
            <a:ext cx="5013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Magento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7747229" y="2068116"/>
            <a:ext cx="936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7.18% Market Share</a:t>
            </a:r>
            <a:endParaRPr lang="en-US" sz="732" dirty="0"/>
          </a:p>
        </p:txBody>
      </p:sp>
      <p:sp>
        <p:nvSpPr>
          <p:cNvPr id="36" name="Shape 26"/>
          <p:cNvSpPr/>
          <p:nvPr/>
        </p:nvSpPr>
        <p:spPr>
          <a:xfrm>
            <a:off x="5072063" y="2361009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3152" y="2518172"/>
            <a:ext cx="289322" cy="25717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67111" y="2989659"/>
            <a:ext cx="7813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BigCommerce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4889729" y="3161109"/>
            <a:ext cx="936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3.15% Market Share</a:t>
            </a:r>
            <a:endParaRPr lang="en-US" sz="732" dirty="0"/>
          </a:p>
        </p:txBody>
      </p:sp>
      <p:sp>
        <p:nvSpPr>
          <p:cNvPr id="40" name="Shape 29"/>
          <p:cNvSpPr/>
          <p:nvPr/>
        </p:nvSpPr>
        <p:spPr>
          <a:xfrm>
            <a:off x="6500813" y="2361009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975" y="2518172"/>
            <a:ext cx="257175" cy="25717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432668" y="2989659"/>
            <a:ext cx="7077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Squarespace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6318479" y="3161109"/>
            <a:ext cx="936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3.79% Market Share</a:t>
            </a:r>
            <a:endParaRPr lang="en-US" sz="732" dirty="0"/>
          </a:p>
        </p:txBody>
      </p:sp>
      <p:sp>
        <p:nvSpPr>
          <p:cNvPr id="44" name="Shape 32"/>
          <p:cNvSpPr/>
          <p:nvPr/>
        </p:nvSpPr>
        <p:spPr>
          <a:xfrm>
            <a:off x="7929563" y="2361009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4578" y="2518172"/>
            <a:ext cx="321469" cy="257175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112426" y="2989659"/>
            <a:ext cx="2057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Wix</a:t>
            </a:r>
            <a:endParaRPr lang="en-US" sz="837" dirty="0"/>
          </a:p>
        </p:txBody>
      </p:sp>
      <p:sp>
        <p:nvSpPr>
          <p:cNvPr id="47" name="Text 34"/>
          <p:cNvSpPr/>
          <p:nvPr/>
        </p:nvSpPr>
        <p:spPr>
          <a:xfrm>
            <a:off x="7747229" y="3161109"/>
            <a:ext cx="936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3.38% Market Share</a:t>
            </a:r>
            <a:endParaRPr lang="en-US" sz="732" dirty="0"/>
          </a:p>
        </p:txBody>
      </p:sp>
      <p:sp>
        <p:nvSpPr>
          <p:cNvPr id="48" name="Shape 35"/>
          <p:cNvSpPr/>
          <p:nvPr/>
        </p:nvSpPr>
        <p:spPr>
          <a:xfrm>
            <a:off x="5072063" y="3454003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3152" y="3611166"/>
            <a:ext cx="289322" cy="257175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5041478" y="4082653"/>
            <a:ext cx="6326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PrestaShop</a:t>
            </a:r>
            <a:endParaRPr lang="en-US" sz="837" dirty="0"/>
          </a:p>
        </p:txBody>
      </p:sp>
      <p:sp>
        <p:nvSpPr>
          <p:cNvPr id="51" name="Text 37"/>
          <p:cNvSpPr/>
          <p:nvPr/>
        </p:nvSpPr>
        <p:spPr>
          <a:xfrm>
            <a:off x="4889729" y="4254103"/>
            <a:ext cx="936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5.29% Market Share</a:t>
            </a:r>
            <a:endParaRPr lang="en-US" sz="732" dirty="0"/>
          </a:p>
        </p:txBody>
      </p:sp>
      <p:sp>
        <p:nvSpPr>
          <p:cNvPr id="52" name="Shape 38"/>
          <p:cNvSpPr/>
          <p:nvPr/>
        </p:nvSpPr>
        <p:spPr>
          <a:xfrm>
            <a:off x="6500813" y="3454003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4048" y="3611166"/>
            <a:ext cx="225028" cy="257175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517556" y="4082653"/>
            <a:ext cx="538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OpenCart</a:t>
            </a:r>
            <a:endParaRPr lang="en-US" sz="837" dirty="0"/>
          </a:p>
        </p:txBody>
      </p:sp>
      <p:sp>
        <p:nvSpPr>
          <p:cNvPr id="55" name="Text 40"/>
          <p:cNvSpPr/>
          <p:nvPr/>
        </p:nvSpPr>
        <p:spPr>
          <a:xfrm>
            <a:off x="6318479" y="4254103"/>
            <a:ext cx="936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4.81% Market Share</a:t>
            </a:r>
            <a:endParaRPr lang="en-US" sz="732" dirty="0"/>
          </a:p>
        </p:txBody>
      </p:sp>
      <p:sp>
        <p:nvSpPr>
          <p:cNvPr id="56" name="Shape 41"/>
          <p:cNvSpPr/>
          <p:nvPr/>
        </p:nvSpPr>
        <p:spPr>
          <a:xfrm>
            <a:off x="7929563" y="3454003"/>
            <a:ext cx="571500" cy="5715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54578" y="3611166"/>
            <a:ext cx="321469" cy="257175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8000916" y="4082653"/>
            <a:ext cx="4287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</a:t>
            </a:r>
            <a:endParaRPr lang="en-US" sz="837" dirty="0"/>
          </a:p>
        </p:txBody>
      </p:sp>
      <p:sp>
        <p:nvSpPr>
          <p:cNvPr id="59" name="Text 43"/>
          <p:cNvSpPr/>
          <p:nvPr/>
        </p:nvSpPr>
        <p:spPr>
          <a:xfrm>
            <a:off x="7760652" y="4254103"/>
            <a:ext cx="9093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15%+ Market Share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Multi-Category Support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64431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114425"/>
            <a:ext cx="15723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Category-Specific Research: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2058098" y="1114425"/>
            <a:ext cx="19554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Tailored pain point analysis for each 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485775" y="1285875"/>
            <a:ext cx="840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 vertical </a:t>
            </a:r>
            <a:endParaRPr lang="en-US" sz="83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621631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5775" y="1571625"/>
            <a:ext cx="12983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Customized Ad Scripts:</a:t>
            </a:r>
            <a:endParaRPr lang="en-US" sz="837" dirty="0"/>
          </a:p>
        </p:txBody>
      </p:sp>
      <p:sp>
        <p:nvSpPr>
          <p:cNvPr id="10" name="Text 5"/>
          <p:cNvSpPr/>
          <p:nvPr/>
        </p:nvSpPr>
        <p:spPr>
          <a:xfrm>
            <a:off x="1784124" y="1571625"/>
            <a:ext cx="24384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Different tones and styles optimized for each </a:t>
            </a:r>
            <a:endParaRPr lang="en-US" sz="837" dirty="0"/>
          </a:p>
        </p:txBody>
      </p:sp>
      <p:sp>
        <p:nvSpPr>
          <p:cNvPr id="11" name="Text 6"/>
          <p:cNvSpPr/>
          <p:nvPr/>
        </p:nvSpPr>
        <p:spPr>
          <a:xfrm>
            <a:off x="485775" y="1743075"/>
            <a:ext cx="4696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 </a:t>
            </a:r>
            <a:endParaRPr lang="en-US" sz="837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078831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" y="2028825"/>
            <a:ext cx="11335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Specialized Avatars:</a:t>
            </a:r>
            <a:endParaRPr lang="en-US" sz="837" dirty="0"/>
          </a:p>
        </p:txBody>
      </p:sp>
      <p:sp>
        <p:nvSpPr>
          <p:cNvPr id="14" name="Text 8"/>
          <p:cNvSpPr/>
          <p:nvPr/>
        </p:nvSpPr>
        <p:spPr>
          <a:xfrm>
            <a:off x="1619287" y="2028825"/>
            <a:ext cx="2664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Category-appropriate presenters (tech reviewers, </a:t>
            </a:r>
            <a:endParaRPr lang="en-US" sz="837" dirty="0"/>
          </a:p>
        </p:txBody>
      </p:sp>
      <p:sp>
        <p:nvSpPr>
          <p:cNvPr id="15" name="Text 9"/>
          <p:cNvSpPr/>
          <p:nvPr/>
        </p:nvSpPr>
        <p:spPr>
          <a:xfrm>
            <a:off x="485775" y="2200275"/>
            <a:ext cx="18906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beauty influencers, fitness trainers) </a:t>
            </a:r>
            <a:endParaRPr lang="en-US" sz="83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536031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5775" y="2486025"/>
            <a:ext cx="12927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Category Detection:</a:t>
            </a:r>
            <a:endParaRPr lang="en-US" sz="837" dirty="0"/>
          </a:p>
        </p:txBody>
      </p:sp>
      <p:sp>
        <p:nvSpPr>
          <p:cNvPr id="18" name="Text 11"/>
          <p:cNvSpPr/>
          <p:nvPr/>
        </p:nvSpPr>
        <p:spPr>
          <a:xfrm>
            <a:off x="1778515" y="2486025"/>
            <a:ext cx="24704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Automatically identifies product category and </a:t>
            </a:r>
            <a:endParaRPr lang="en-US" sz="837" dirty="0"/>
          </a:p>
        </p:txBody>
      </p:sp>
      <p:sp>
        <p:nvSpPr>
          <p:cNvPr id="19" name="Text 12"/>
          <p:cNvSpPr/>
          <p:nvPr/>
        </p:nvSpPr>
        <p:spPr>
          <a:xfrm>
            <a:off x="485775" y="2657475"/>
            <a:ext cx="10576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optimizes approach </a:t>
            </a:r>
            <a:endParaRPr lang="en-US" sz="837" dirty="0"/>
          </a:p>
        </p:txBody>
      </p:sp>
      <p:sp>
        <p:nvSpPr>
          <p:cNvPr id="20" name="Shape 13"/>
          <p:cNvSpPr/>
          <p:nvPr/>
        </p:nvSpPr>
        <p:spPr>
          <a:xfrm>
            <a:off x="285750" y="307895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331" y="3164681"/>
            <a:ext cx="128588" cy="114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57225" y="3136106"/>
            <a:ext cx="12479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&amp; Supplements</a:t>
            </a:r>
            <a:endParaRPr lang="en-US" sz="837" dirty="0"/>
          </a:p>
        </p:txBody>
      </p:sp>
      <p:sp>
        <p:nvSpPr>
          <p:cNvPr id="23" name="Shape 15"/>
          <p:cNvSpPr/>
          <p:nvPr/>
        </p:nvSpPr>
        <p:spPr>
          <a:xfrm>
            <a:off x="2414588" y="307895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6025" y="3164681"/>
            <a:ext cx="142875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786063" y="3136106"/>
            <a:ext cx="6042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Electronics</a:t>
            </a:r>
            <a:endParaRPr lang="en-US" sz="837" dirty="0"/>
          </a:p>
        </p:txBody>
      </p:sp>
      <p:sp>
        <p:nvSpPr>
          <p:cNvPr id="26" name="Shape 17"/>
          <p:cNvSpPr/>
          <p:nvPr/>
        </p:nvSpPr>
        <p:spPr>
          <a:xfrm>
            <a:off x="285750" y="347900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331" y="3564731"/>
            <a:ext cx="128588" cy="114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7225" y="3536156"/>
            <a:ext cx="1104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Beauty &amp; Cosmetics</a:t>
            </a:r>
            <a:endParaRPr lang="en-US" sz="837" dirty="0"/>
          </a:p>
        </p:txBody>
      </p:sp>
      <p:sp>
        <p:nvSpPr>
          <p:cNvPr id="29" name="Shape 19"/>
          <p:cNvSpPr/>
          <p:nvPr/>
        </p:nvSpPr>
        <p:spPr>
          <a:xfrm>
            <a:off x="2414588" y="347900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0313" y="3564731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786063" y="3536156"/>
            <a:ext cx="9737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Outdoor &amp; Sports</a:t>
            </a:r>
            <a:endParaRPr lang="en-US" sz="837" dirty="0"/>
          </a:p>
        </p:txBody>
      </p:sp>
      <p:sp>
        <p:nvSpPr>
          <p:cNvPr id="32" name="Shape 21"/>
          <p:cNvSpPr/>
          <p:nvPr/>
        </p:nvSpPr>
        <p:spPr>
          <a:xfrm>
            <a:off x="285750" y="387905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188" y="3964781"/>
            <a:ext cx="142875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57225" y="3936206"/>
            <a:ext cx="12240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Fashion &amp; Accessories</a:t>
            </a:r>
            <a:endParaRPr lang="en-US" sz="837" dirty="0"/>
          </a:p>
        </p:txBody>
      </p:sp>
      <p:sp>
        <p:nvSpPr>
          <p:cNvPr id="35" name="Shape 23"/>
          <p:cNvSpPr/>
          <p:nvPr/>
        </p:nvSpPr>
        <p:spPr>
          <a:xfrm>
            <a:off x="2414588" y="387905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3169" y="3964781"/>
            <a:ext cx="128588" cy="1143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2786063" y="3936206"/>
            <a:ext cx="8869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Home &amp; Garden</a:t>
            </a:r>
            <a:endParaRPr lang="en-US" sz="837" dirty="0"/>
          </a:p>
        </p:txBody>
      </p:sp>
      <p:sp>
        <p:nvSpPr>
          <p:cNvPr id="38" name="Shape 25"/>
          <p:cNvSpPr/>
          <p:nvPr/>
        </p:nvSpPr>
        <p:spPr>
          <a:xfrm>
            <a:off x="285750" y="427910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188" y="4364831"/>
            <a:ext cx="142875" cy="11430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57225" y="4336256"/>
            <a:ext cx="10273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Fitness &amp; Wellness</a:t>
            </a:r>
            <a:endParaRPr lang="en-US" sz="837" dirty="0"/>
          </a:p>
        </p:txBody>
      </p:sp>
      <p:sp>
        <p:nvSpPr>
          <p:cNvPr id="41" name="Shape 27"/>
          <p:cNvSpPr/>
          <p:nvPr/>
        </p:nvSpPr>
        <p:spPr>
          <a:xfrm>
            <a:off x="2414588" y="4279106"/>
            <a:ext cx="285750" cy="28575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0313" y="4364831"/>
            <a:ext cx="114300" cy="11430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786063" y="4336256"/>
            <a:ext cx="6550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Automotive</a:t>
            </a:r>
            <a:endParaRPr lang="en-US" sz="837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4875" y="1454255"/>
            <a:ext cx="4143375" cy="2763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Lead Generation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750219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700213"/>
            <a:ext cx="14587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Multi-Platform Discovery: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1944495" y="1700213"/>
            <a:ext cx="21697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Automatically identifies potential clients 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485775" y="1871663"/>
            <a:ext cx="3722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across 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858059" y="1871663"/>
            <a:ext cx="14281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e-commerce platforms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2286251" y="1871663"/>
            <a:ext cx="20116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using BuiltWith technology detection </a:t>
            </a:r>
            <a:endParaRPr lang="en-US" sz="83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207419"/>
            <a:ext cx="100013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1488" y="2157413"/>
            <a:ext cx="11721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Contact Enrichment: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1643649" y="2157413"/>
            <a:ext cx="25920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Uses Apollo.io to find decision-makers and their 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471488" y="2328863"/>
            <a:ext cx="21698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contact information at target companies </a:t>
            </a:r>
            <a:endParaRPr lang="en-US" sz="83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664619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5775" y="2614613"/>
            <a:ext cx="10408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 Verification: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1526614" y="2614613"/>
            <a:ext cx="27733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Validates all email addresses with Million Verifier to </a:t>
            </a:r>
            <a:endParaRPr lang="en-US" sz="837" dirty="0"/>
          </a:p>
        </p:txBody>
      </p:sp>
      <p:sp>
        <p:nvSpPr>
          <p:cNvPr id="17" name="Text 11"/>
          <p:cNvSpPr/>
          <p:nvPr/>
        </p:nvSpPr>
        <p:spPr>
          <a:xfrm>
            <a:off x="485775" y="2786063"/>
            <a:ext cx="16532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 high deliverability rates </a:t>
            </a:r>
            <a:endParaRPr lang="en-US" sz="837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121819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5775" y="3071813"/>
            <a:ext cx="14749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Intelligent Segmentation: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1960708" y="3071813"/>
            <a:ext cx="21089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Categorizes leads by platform, product </a:t>
            </a:r>
            <a:endParaRPr lang="en-US" sz="837" dirty="0"/>
          </a:p>
        </p:txBody>
      </p:sp>
      <p:sp>
        <p:nvSpPr>
          <p:cNvPr id="21" name="Text 14"/>
          <p:cNvSpPr/>
          <p:nvPr/>
        </p:nvSpPr>
        <p:spPr>
          <a:xfrm>
            <a:off x="485775" y="3243263"/>
            <a:ext cx="35234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category, company size, and monthly traffic for targeted outreach </a:t>
            </a:r>
            <a:endParaRPr lang="en-US" sz="837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579019"/>
            <a:ext cx="100013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1488" y="3529013"/>
            <a:ext cx="15526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Centralized Lead Database:</a:t>
            </a:r>
            <a:endParaRPr lang="en-US" sz="837" dirty="0"/>
          </a:p>
        </p:txBody>
      </p:sp>
      <p:sp>
        <p:nvSpPr>
          <p:cNvPr id="24" name="Text 16"/>
          <p:cNvSpPr/>
          <p:nvPr/>
        </p:nvSpPr>
        <p:spPr>
          <a:xfrm>
            <a:off x="2024137" y="3529013"/>
            <a:ext cx="2258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Stores all lead information in a structured </a:t>
            </a:r>
            <a:endParaRPr lang="en-US" sz="837" dirty="0"/>
          </a:p>
        </p:txBody>
      </p:sp>
      <p:sp>
        <p:nvSpPr>
          <p:cNvPr id="25" name="Text 17"/>
          <p:cNvSpPr/>
          <p:nvPr/>
        </p:nvSpPr>
        <p:spPr>
          <a:xfrm>
            <a:off x="471488" y="3700463"/>
            <a:ext cx="29651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database for easy management and campaign tracking </a:t>
            </a:r>
            <a:endParaRPr lang="en-US" sz="837" dirty="0"/>
          </a:p>
        </p:txBody>
      </p:sp>
      <p:sp>
        <p:nvSpPr>
          <p:cNvPr id="26" name="Text 18"/>
          <p:cNvSpPr/>
          <p:nvPr/>
        </p:nvSpPr>
        <p:spPr>
          <a:xfrm>
            <a:off x="5924652" y="1506438"/>
            <a:ext cx="17237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Lead Generation Process</a:t>
            </a:r>
            <a:endParaRPr lang="en-US" sz="1046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835051"/>
            <a:ext cx="4143375" cy="2330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Cold Outreach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64494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614488"/>
            <a:ext cx="19707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Platform-Specific Email Templates: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2456557" y="1614488"/>
            <a:ext cx="18781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Customized messaging for each e-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485775" y="1785938"/>
            <a:ext cx="35302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commerce platform (WooCommerce, Shopify, Magento, etc.) with </a:t>
            </a:r>
            <a:endParaRPr lang="en-US" sz="837" dirty="0"/>
          </a:p>
        </p:txBody>
      </p:sp>
      <p:sp>
        <p:nvSpPr>
          <p:cNvPr id="8" name="Text 4"/>
          <p:cNvSpPr/>
          <p:nvPr/>
        </p:nvSpPr>
        <p:spPr>
          <a:xfrm>
            <a:off x="4016043" y="1785938"/>
            <a:ext cx="3895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 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485775" y="1957388"/>
            <a:ext cx="9788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conversion hooks</a:t>
            </a:r>
            <a:endParaRPr lang="en-US" sz="83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293144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2243138"/>
            <a:ext cx="1417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Multi-Channel Approach: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1903447" y="2243138"/>
            <a:ext cx="23370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Coordinated outreach across email, Twitter 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485775" y="2414588"/>
            <a:ext cx="31491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DMs, and LinkedIn messages for maximum response rates </a:t>
            </a:r>
            <a:endParaRPr lang="en-US" sz="83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750344"/>
            <a:ext cx="142875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4350" y="2700338"/>
            <a:ext cx="9557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Automation: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1470134" y="2700338"/>
            <a:ext cx="26462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Entire outreach process is automated from initial </a:t>
            </a:r>
            <a:endParaRPr lang="en-US" sz="837" dirty="0"/>
          </a:p>
        </p:txBody>
      </p:sp>
      <p:sp>
        <p:nvSpPr>
          <p:cNvPr id="17" name="Text 11"/>
          <p:cNvSpPr/>
          <p:nvPr/>
        </p:nvSpPr>
        <p:spPr>
          <a:xfrm>
            <a:off x="514350" y="2871788"/>
            <a:ext cx="32170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contact to follow-ups with intelligent timing and sequencing </a:t>
            </a:r>
            <a:endParaRPr lang="en-US" sz="837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207544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5775" y="3157538"/>
            <a:ext cx="12941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Tracking: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1779882" y="3157538"/>
            <a:ext cx="21705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Comprehensive analytics on open rates, </a:t>
            </a:r>
            <a:endParaRPr lang="en-US" sz="837" dirty="0"/>
          </a:p>
        </p:txBody>
      </p:sp>
      <p:sp>
        <p:nvSpPr>
          <p:cNvPr id="21" name="Text 14"/>
          <p:cNvSpPr/>
          <p:nvPr/>
        </p:nvSpPr>
        <p:spPr>
          <a:xfrm>
            <a:off x="485775" y="3328988"/>
            <a:ext cx="31392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 rates, and conversion metrics across all channels </a:t>
            </a:r>
            <a:endParaRPr lang="en-US" sz="837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664744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85775" y="3614738"/>
            <a:ext cx="10574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Sample Offer:</a:t>
            </a:r>
            <a:endParaRPr lang="en-US" sz="837" dirty="0"/>
          </a:p>
        </p:txBody>
      </p:sp>
      <p:sp>
        <p:nvSpPr>
          <p:cNvPr id="24" name="Text 16"/>
          <p:cNvSpPr/>
          <p:nvPr/>
        </p:nvSpPr>
        <p:spPr>
          <a:xfrm>
            <a:off x="1543190" y="3614738"/>
            <a:ext cx="28033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Automated workflow to deliver 5 free sample ads to </a:t>
            </a:r>
            <a:endParaRPr lang="en-US" sz="837" dirty="0"/>
          </a:p>
        </p:txBody>
      </p:sp>
      <p:sp>
        <p:nvSpPr>
          <p:cNvPr id="25" name="Text 17"/>
          <p:cNvSpPr/>
          <p:nvPr/>
        </p:nvSpPr>
        <p:spPr>
          <a:xfrm>
            <a:off x="485775" y="3786188"/>
            <a:ext cx="33189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interested prospects, dramatically increasing conversion rates </a:t>
            </a:r>
            <a:endParaRPr lang="en-US" sz="837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946352"/>
            <a:ext cx="4143347" cy="282928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494660" y="3918514"/>
            <a:ext cx="428625" cy="428625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8960" y="4032814"/>
            <a:ext cx="200025" cy="20002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555577" y="4404289"/>
            <a:ext cx="3067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</a:t>
            </a:r>
            <a:endParaRPr lang="en-US" sz="837" dirty="0"/>
          </a:p>
        </p:txBody>
      </p:sp>
      <p:sp>
        <p:nvSpPr>
          <p:cNvPr id="30" name="Text 20"/>
          <p:cNvSpPr/>
          <p:nvPr/>
        </p:nvSpPr>
        <p:spPr>
          <a:xfrm>
            <a:off x="5218202" y="4575739"/>
            <a:ext cx="9815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Instantly / Smartlead</a:t>
            </a:r>
            <a:endParaRPr lang="en-US" sz="732" dirty="0"/>
          </a:p>
        </p:txBody>
      </p:sp>
      <p:sp>
        <p:nvSpPr>
          <p:cNvPr id="31" name="Shape 21"/>
          <p:cNvSpPr/>
          <p:nvPr/>
        </p:nvSpPr>
        <p:spPr>
          <a:xfrm>
            <a:off x="6680550" y="3918514"/>
            <a:ext cx="428625" cy="428625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4850" y="4032814"/>
            <a:ext cx="200025" cy="20002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556874" y="4404289"/>
            <a:ext cx="6759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Twitter DMs</a:t>
            </a:r>
            <a:endParaRPr lang="en-US" sz="837" dirty="0"/>
          </a:p>
        </p:txBody>
      </p:sp>
      <p:sp>
        <p:nvSpPr>
          <p:cNvPr id="34" name="Text 23"/>
          <p:cNvSpPr/>
          <p:nvPr/>
        </p:nvSpPr>
        <p:spPr>
          <a:xfrm>
            <a:off x="6414055" y="4575739"/>
            <a:ext cx="9616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InboxApp / Drippy.ai</a:t>
            </a:r>
            <a:endParaRPr lang="en-US" sz="732" dirty="0"/>
          </a:p>
        </p:txBody>
      </p:sp>
      <p:sp>
        <p:nvSpPr>
          <p:cNvPr id="35" name="Shape 24"/>
          <p:cNvSpPr/>
          <p:nvPr/>
        </p:nvSpPr>
        <p:spPr>
          <a:xfrm>
            <a:off x="7758140" y="3918514"/>
            <a:ext cx="428625" cy="428625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4942" y="4032814"/>
            <a:ext cx="175022" cy="20002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727500" y="4404289"/>
            <a:ext cx="4899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LinkedIn</a:t>
            </a:r>
            <a:endParaRPr lang="en-US" sz="837" dirty="0"/>
          </a:p>
        </p:txBody>
      </p:sp>
      <p:sp>
        <p:nvSpPr>
          <p:cNvPr id="38" name="Text 26"/>
          <p:cNvSpPr/>
          <p:nvPr/>
        </p:nvSpPr>
        <p:spPr>
          <a:xfrm>
            <a:off x="7590011" y="4575739"/>
            <a:ext cx="76491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Phantom Buster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Pricing Strategy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778794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5775" y="1785938"/>
            <a:ext cx="13911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Flat-Rate Pricing:</a:t>
            </a:r>
            <a:endParaRPr lang="en-US" sz="837" dirty="0"/>
          </a:p>
        </p:txBody>
      </p:sp>
      <p:sp>
        <p:nvSpPr>
          <p:cNvPr id="6" name="Shape 2"/>
          <p:cNvSpPr/>
          <p:nvPr/>
        </p:nvSpPr>
        <p:spPr>
          <a:xfrm>
            <a:off x="1906656" y="1721644"/>
            <a:ext cx="1006432" cy="28575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3"/>
          <p:cNvSpPr/>
          <p:nvPr/>
        </p:nvSpPr>
        <p:spPr>
          <a:xfrm>
            <a:off x="1906656" y="1721644"/>
            <a:ext cx="1006432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$5,000/month</a:t>
            </a:r>
            <a:endParaRPr lang="en-US" sz="837" dirty="0"/>
          </a:p>
        </p:txBody>
      </p:sp>
      <p:sp>
        <p:nvSpPr>
          <p:cNvPr id="8" name="Shape 4"/>
          <p:cNvSpPr/>
          <p:nvPr/>
        </p:nvSpPr>
        <p:spPr>
          <a:xfrm>
            <a:off x="2999956" y="1721644"/>
            <a:ext cx="908456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5"/>
          <p:cNvSpPr/>
          <p:nvPr/>
        </p:nvSpPr>
        <p:spPr>
          <a:xfrm>
            <a:off x="2999956" y="1721644"/>
            <a:ext cx="908456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67% savings</a:t>
            </a:r>
            <a:endParaRPr lang="en-US" sz="83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178844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2128838"/>
            <a:ext cx="8530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Per Video:</a:t>
            </a:r>
            <a:endParaRPr lang="en-US" sz="837" dirty="0"/>
          </a:p>
        </p:txBody>
      </p:sp>
      <p:sp>
        <p:nvSpPr>
          <p:cNvPr id="12" name="Text 7"/>
          <p:cNvSpPr/>
          <p:nvPr/>
        </p:nvSpPr>
        <p:spPr>
          <a:xfrm>
            <a:off x="1338811" y="2128838"/>
            <a:ext cx="307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Only 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1645937" y="2128838"/>
            <a:ext cx="7470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$50 per video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2393017" y="2128838"/>
            <a:ext cx="19163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compared to $150+ with traditional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485775" y="2300288"/>
            <a:ext cx="7094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UGC creators </a:t>
            </a:r>
            <a:endParaRPr lang="en-US" sz="83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636044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5775" y="2586038"/>
            <a:ext cx="920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Hidden Fees: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405784" y="2586038"/>
            <a:ext cx="29813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All-inclusive package with research, scriptwriting, video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485775" y="2757488"/>
            <a:ext cx="12074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creation, and revisions </a:t>
            </a:r>
            <a:endParaRPr lang="en-US" sz="837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093244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5775" y="3043238"/>
            <a:ext cx="8921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ROI Advantage: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377907" y="3043238"/>
            <a:ext cx="29488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Lower cost per acquisition and higher ROAS compared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485775" y="3214688"/>
            <a:ext cx="15782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traditional UGC campaigns </a:t>
            </a:r>
            <a:endParaRPr lang="en-US" sz="837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550444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5775" y="3500438"/>
            <a:ext cx="8895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Trial Offer:</a:t>
            </a:r>
            <a:endParaRPr lang="en-US" sz="837" dirty="0"/>
          </a:p>
        </p:txBody>
      </p:sp>
      <p:sp>
        <p:nvSpPr>
          <p:cNvPr id="26" name="Text 18"/>
          <p:cNvSpPr/>
          <p:nvPr/>
        </p:nvSpPr>
        <p:spPr>
          <a:xfrm>
            <a:off x="1375283" y="3500438"/>
            <a:ext cx="3044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 free sample ads for new clients to demonstrate quality </a:t>
            </a:r>
            <a:endParaRPr lang="en-US" sz="837" dirty="0"/>
          </a:p>
        </p:txBody>
      </p:sp>
      <p:sp>
        <p:nvSpPr>
          <p:cNvPr id="27" name="Text 19"/>
          <p:cNvSpPr/>
          <p:nvPr/>
        </p:nvSpPr>
        <p:spPr>
          <a:xfrm>
            <a:off x="485775" y="3671888"/>
            <a:ext cx="935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effectiveness </a:t>
            </a:r>
            <a:endParaRPr lang="en-US" sz="837" dirty="0"/>
          </a:p>
        </p:txBody>
      </p:sp>
      <p:sp>
        <p:nvSpPr>
          <p:cNvPr id="28" name="Text 20"/>
          <p:cNvSpPr/>
          <p:nvPr/>
        </p:nvSpPr>
        <p:spPr>
          <a:xfrm>
            <a:off x="4714875" y="1243013"/>
            <a:ext cx="4143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Comparison: Traditional UGC vs. Our Platform</a:t>
            </a:r>
            <a:endParaRPr lang="en-US" sz="1046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571625"/>
            <a:ext cx="41433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Steps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1096566"/>
            <a:ext cx="257175" cy="257175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09656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657225" y="1096566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 a Demo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57225" y="1318022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our platform in action with a personalized demonstration for your specific e-commerce category.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285750" y="1832372"/>
            <a:ext cx="257175" cy="257175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Text 6"/>
          <p:cNvSpPr/>
          <p:nvPr/>
        </p:nvSpPr>
        <p:spPr>
          <a:xfrm>
            <a:off x="285750" y="183237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657225" y="1832372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 5 Free Sample Ads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57225" y="2053828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Experience the quality of our AI-generated UGC ads with 5 complimentary videos for your brand.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285750" y="2568178"/>
            <a:ext cx="257175" cy="257175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" name="Text 10"/>
          <p:cNvSpPr/>
          <p:nvPr/>
        </p:nvSpPr>
        <p:spPr>
          <a:xfrm>
            <a:off x="285750" y="256817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657225" y="2568178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Onboarding &amp; Setup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657225" y="2789634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team will handle the entire setup process, from product research to ad creation workflow.</a:t>
            </a:r>
            <a:endParaRPr lang="en-US" sz="837" dirty="0"/>
          </a:p>
        </p:txBody>
      </p:sp>
      <p:sp>
        <p:nvSpPr>
          <p:cNvPr id="16" name="Shape 13"/>
          <p:cNvSpPr/>
          <p:nvPr/>
        </p:nvSpPr>
        <p:spPr>
          <a:xfrm>
            <a:off x="285750" y="3303984"/>
            <a:ext cx="257175" cy="257175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Text 14"/>
          <p:cNvSpPr/>
          <p:nvPr/>
        </p:nvSpPr>
        <p:spPr>
          <a:xfrm>
            <a:off x="285750" y="3303984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657225" y="3303984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 Your Ad Creative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657225" y="3525441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receiving 100 high-quality UGC-style video ads monthly for your e-commerce brand.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85750" y="4211241"/>
            <a:ext cx="4143375" cy="3643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285750" y="4211241"/>
            <a:ext cx="4143375" cy="364331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Get Started Today </a:t>
            </a:r>
            <a:endParaRPr lang="en-US" sz="942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421411"/>
            <a:ext cx="4143347" cy="28292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2025-09-22T18:14:36Z</dcterms:created>
  <dcterms:modified xsi:type="dcterms:W3CDTF">2025-09-22T18:14:36Z</dcterms:modified>
</cp:coreProperties>
</file>