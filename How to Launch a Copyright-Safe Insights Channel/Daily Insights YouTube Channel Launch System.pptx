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slideLayout" Target="../slideLayouts/slideLayout1.xml"/><Relationship Id="rId1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slideLayout" Target="../slideLayouts/slideLayout1.xml"/><Relationship Id="rId11"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pic>
        <p:nvPicPr>
          <p:cNvPr id="3" name="Image 1" descr="preencoded.png">    </p:cNvPr>
          <p:cNvPicPr>
            <a:picLocks noChangeAspect="1"/>
          </p:cNvPicPr>
          <p:nvPr/>
        </p:nvPicPr>
        <p:blipFill>
          <a:blip r:embed="rId2"/>
          <a:stretch>
            <a:fillRect/>
          </a:stretch>
        </p:blipFill>
        <p:spPr>
          <a:xfrm>
            <a:off x="3886200" y="1428750"/>
            <a:ext cx="1371600" cy="1371600"/>
          </a:xfrm>
          <a:prstGeom prst="rect">
            <a:avLst/>
          </a:prstGeom>
        </p:spPr>
      </p:pic>
      <p:sp>
        <p:nvSpPr>
          <p:cNvPr id="4" name="Text 0"/>
          <p:cNvSpPr/>
          <p:nvPr/>
        </p:nvSpPr>
        <p:spPr>
          <a:xfrm>
            <a:off x="775906" y="3028950"/>
            <a:ext cx="7592160" cy="342900"/>
          </a:xfrm>
          <a:prstGeom prst="rect">
            <a:avLst/>
          </a:prstGeom>
          <a:noFill/>
          <a:ln/>
        </p:spPr>
        <p:txBody>
          <a:bodyPr wrap="none" lIns="0" tIns="0" rIns="0" bIns="0" rtlCol="0" anchor="ctr">
            <a:spAutoFit/>
          </a:bodyPr>
          <a:lstStyle/>
          <a:p>
            <a:pPr algn="ctr" indent="0" marL="0">
              <a:buNone/>
            </a:pPr>
            <a:r>
              <a:rPr lang="en-US" sz="2700" b="1" dirty="0">
                <a:solidFill>
                  <a:srgbClr val="1A365D"/>
                </a:solidFill>
                <a:latin typeface="Noto Sans" pitchFamily="34" charset="0"/>
                <a:ea typeface="Noto Sans" pitchFamily="34" charset="-122"/>
                <a:cs typeface="Noto Sans" pitchFamily="34" charset="-120"/>
              </a:rPr>
              <a:t>Complete Business System for Daily Insights</a:t>
            </a:r>
            <a:endParaRPr lang="en-US" sz="2700" dirty="0"/>
          </a:p>
        </p:txBody>
      </p:sp>
      <p:sp>
        <p:nvSpPr>
          <p:cNvPr id="5" name="Text 1"/>
          <p:cNvSpPr/>
          <p:nvPr/>
        </p:nvSpPr>
        <p:spPr>
          <a:xfrm>
            <a:off x="872347" y="3486150"/>
            <a:ext cx="7399279" cy="228600"/>
          </a:xfrm>
          <a:prstGeom prst="rect">
            <a:avLst/>
          </a:prstGeom>
          <a:noFill/>
          <a:ln/>
        </p:spPr>
        <p:txBody>
          <a:bodyPr wrap="none" lIns="0" tIns="0" rIns="0" bIns="0" rtlCol="0" anchor="ctr">
            <a:spAutoFit/>
          </a:bodyPr>
          <a:lstStyle/>
          <a:p>
            <a:pPr algn="ctr" indent="0" marL="0">
              <a:buNone/>
            </a:pPr>
            <a:r>
              <a:rPr lang="en-US" sz="1350" dirty="0">
                <a:solidFill>
                  <a:srgbClr val="333333"/>
                </a:solidFill>
                <a:latin typeface="Noto Sans" pitchFamily="34" charset="0"/>
                <a:ea typeface="Noto Sans" pitchFamily="34" charset="-122"/>
                <a:cs typeface="Noto Sans" pitchFamily="34" charset="-120"/>
              </a:rPr>
              <a:t>Your turnkey solution for launching a trending daily insights YouTube channel this weekend.</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342900" y="342900"/>
            <a:ext cx="8458200" cy="285750"/>
          </a:xfrm>
          <a:prstGeom prst="rect">
            <a:avLst/>
          </a:prstGeom>
          <a:noFill/>
          <a:ln/>
        </p:spPr>
        <p:txBody>
          <a:bodyPr wrap="none" lIns="0" tIns="0" rIns="0" bIns="0" rtlCol="0" anchor="ctr">
            <a:spAutoFit/>
          </a:bodyPr>
          <a:lstStyle/>
          <a:p>
            <a:pPr algn="ctr" indent="0" marL="0">
              <a:buNone/>
            </a:pPr>
            <a:r>
              <a:rPr lang="en-US" sz="2025" b="1" dirty="0">
                <a:solidFill>
                  <a:srgbClr val="1A365D"/>
                </a:solidFill>
                <a:latin typeface="Noto Sans" pitchFamily="34" charset="0"/>
                <a:ea typeface="Noto Sans" pitchFamily="34" charset="-122"/>
                <a:cs typeface="Noto Sans" pitchFamily="34" charset="-120"/>
              </a:rPr>
              <a:t>Business Framework &amp; Process Flow</a:t>
            </a:r>
            <a:endParaRPr lang="en-US" sz="2025" dirty="0"/>
          </a:p>
        </p:txBody>
      </p:sp>
      <p:sp>
        <p:nvSpPr>
          <p:cNvPr id="4" name="Text 1"/>
          <p:cNvSpPr/>
          <p:nvPr/>
        </p:nvSpPr>
        <p:spPr>
          <a:xfrm>
            <a:off x="342900" y="857250"/>
            <a:ext cx="4000500" cy="228600"/>
          </a:xfrm>
          <a:prstGeom prst="rect">
            <a:avLst/>
          </a:prstGeom>
          <a:noFill/>
          <a:ln/>
        </p:spPr>
        <p:txBody>
          <a:bodyPr wrap="none" lIns="0" tIns="0" rIns="0" bIns="0" rtlCol="0" anchor="ctr">
            <a:spAutoFit/>
          </a:bodyPr>
          <a:lstStyle/>
          <a:p>
            <a:pPr indent="0" marL="0">
              <a:buNone/>
            </a:pPr>
            <a:r>
              <a:rPr lang="en-US" sz="1350" b="1" dirty="0">
                <a:solidFill>
                  <a:srgbClr val="1A365D"/>
                </a:solidFill>
                <a:latin typeface="Noto Sans" pitchFamily="34" charset="0"/>
                <a:ea typeface="Noto Sans" pitchFamily="34" charset="-122"/>
                <a:cs typeface="Noto Sans" pitchFamily="34" charset="-120"/>
              </a:rPr>
              <a:t>Business Model</a:t>
            </a:r>
            <a:endParaRPr lang="en-US" sz="1350" dirty="0"/>
          </a:p>
        </p:txBody>
      </p:sp>
      <p:sp>
        <p:nvSpPr>
          <p:cNvPr id="5" name="Text 2"/>
          <p:cNvSpPr/>
          <p:nvPr/>
        </p:nvSpPr>
        <p:spPr>
          <a:xfrm>
            <a:off x="342900" y="1200150"/>
            <a:ext cx="4000500" cy="600075"/>
          </a:xfrm>
          <a:prstGeom prst="rect">
            <a:avLst/>
          </a:prstGeom>
          <a:noFill/>
          <a:ln/>
        </p:spPr>
        <p:txBody>
          <a:bodyPr wrap="square" lIns="0" tIns="0" rIns="0" bIns="0" rtlCol="0" anchor="ctr">
            <a:spAutoFit/>
          </a:bodyPr>
          <a:lstStyle/>
          <a:p>
            <a:pPr indent="0" marL="0">
              <a:buNone/>
            </a:pPr>
            <a:r>
              <a:rPr lang="en-US" sz="942" dirty="0">
                <a:solidFill>
                  <a:srgbClr val="333333"/>
                </a:solidFill>
                <a:latin typeface="Noto Sans" pitchFamily="34" charset="0"/>
                <a:ea typeface="Noto Sans" pitchFamily="34" charset="-122"/>
                <a:cs typeface="Noto Sans" pitchFamily="34" charset="-120"/>
              </a:rPr>
              <a:t>The primary revenue stream is ad-supported, leveraging YouTube AdSense. As the channel grows, we will introduce sponsorships, brand deals, and affiliate marketing for diversified income.</a:t>
            </a:r>
            <a:endParaRPr lang="en-US" sz="942" dirty="0"/>
          </a:p>
        </p:txBody>
      </p:sp>
      <p:sp>
        <p:nvSpPr>
          <p:cNvPr id="6" name="Text 3"/>
          <p:cNvSpPr/>
          <p:nvPr/>
        </p:nvSpPr>
        <p:spPr>
          <a:xfrm>
            <a:off x="342900" y="1971675"/>
            <a:ext cx="4000500" cy="228600"/>
          </a:xfrm>
          <a:prstGeom prst="rect">
            <a:avLst/>
          </a:prstGeom>
          <a:noFill/>
          <a:ln/>
        </p:spPr>
        <p:txBody>
          <a:bodyPr wrap="none" lIns="0" tIns="0" rIns="0" bIns="0" rtlCol="0" anchor="ctr">
            <a:spAutoFit/>
          </a:bodyPr>
          <a:lstStyle/>
          <a:p>
            <a:pPr indent="0" marL="0">
              <a:buNone/>
            </a:pPr>
            <a:r>
              <a:rPr lang="en-US" sz="1350" b="1" dirty="0">
                <a:solidFill>
                  <a:srgbClr val="1A365D"/>
                </a:solidFill>
                <a:latin typeface="Noto Sans" pitchFamily="34" charset="0"/>
                <a:ea typeface="Noto Sans" pitchFamily="34" charset="-122"/>
                <a:cs typeface="Noto Sans" pitchFamily="34" charset="-120"/>
              </a:rPr>
              <a:t>Content Workflow</a:t>
            </a:r>
            <a:endParaRPr lang="en-US" sz="1350" dirty="0"/>
          </a:p>
        </p:txBody>
      </p:sp>
      <p:sp>
        <p:nvSpPr>
          <p:cNvPr id="7" name="Text 4"/>
          <p:cNvSpPr/>
          <p:nvPr/>
        </p:nvSpPr>
        <p:spPr>
          <a:xfrm>
            <a:off x="342900" y="2314575"/>
            <a:ext cx="4000500" cy="800100"/>
          </a:xfrm>
          <a:prstGeom prst="rect">
            <a:avLst/>
          </a:prstGeom>
          <a:noFill/>
          <a:ln/>
        </p:spPr>
        <p:txBody>
          <a:bodyPr wrap="square" lIns="0" tIns="0" rIns="0" bIns="0" rtlCol="0" anchor="ctr">
            <a:spAutoFit/>
          </a:bodyPr>
          <a:lstStyle/>
          <a:p>
            <a:pPr indent="0" marL="0">
              <a:buNone/>
            </a:pPr>
            <a:r>
              <a:rPr lang="en-US" sz="942" dirty="0">
                <a:solidFill>
                  <a:srgbClr val="333333"/>
                </a:solidFill>
                <a:latin typeface="Noto Sans" pitchFamily="34" charset="0"/>
                <a:ea typeface="Noto Sans" pitchFamily="34" charset="-122"/>
                <a:cs typeface="Noto Sans" pitchFamily="34" charset="-120"/>
              </a:rPr>
              <a:t>Our daily content pipeline is designed for maximum efficiency and quality. The process is streamlined to allow for a quick turnaround from idea to publication, making a daily upload schedule feasible.</a:t>
            </a:r>
            <a:endParaRPr lang="en-US" sz="942" dirty="0"/>
          </a:p>
        </p:txBody>
      </p:sp>
      <p:sp>
        <p:nvSpPr>
          <p:cNvPr id="8" name="Text 5"/>
          <p:cNvSpPr/>
          <p:nvPr/>
        </p:nvSpPr>
        <p:spPr>
          <a:xfrm>
            <a:off x="342900" y="3286125"/>
            <a:ext cx="4000500" cy="228600"/>
          </a:xfrm>
          <a:prstGeom prst="rect">
            <a:avLst/>
          </a:prstGeom>
          <a:noFill/>
          <a:ln/>
        </p:spPr>
        <p:txBody>
          <a:bodyPr wrap="none" lIns="0" tIns="0" rIns="0" bIns="0" rtlCol="0" anchor="ctr">
            <a:spAutoFit/>
          </a:bodyPr>
          <a:lstStyle/>
          <a:p>
            <a:pPr indent="0" marL="0">
              <a:buNone/>
            </a:pPr>
            <a:r>
              <a:rPr lang="en-US" sz="1350" b="1" dirty="0">
                <a:solidFill>
                  <a:srgbClr val="1A365D"/>
                </a:solidFill>
                <a:latin typeface="Noto Sans" pitchFamily="34" charset="0"/>
                <a:ea typeface="Noto Sans" pitchFamily="34" charset="-122"/>
                <a:cs typeface="Noto Sans" pitchFamily="34" charset="-120"/>
              </a:rPr>
              <a:t>Monetization Strategy</a:t>
            </a:r>
            <a:endParaRPr lang="en-US" sz="1350" dirty="0"/>
          </a:p>
        </p:txBody>
      </p:sp>
      <p:sp>
        <p:nvSpPr>
          <p:cNvPr id="9" name="Text 6"/>
          <p:cNvSpPr/>
          <p:nvPr/>
        </p:nvSpPr>
        <p:spPr>
          <a:xfrm>
            <a:off x="342900" y="3629025"/>
            <a:ext cx="4000500" cy="800100"/>
          </a:xfrm>
          <a:prstGeom prst="rect">
            <a:avLst/>
          </a:prstGeom>
          <a:noFill/>
          <a:ln/>
        </p:spPr>
        <p:txBody>
          <a:bodyPr wrap="square" lIns="0" tIns="0" rIns="0" bIns="0" rtlCol="0" anchor="ctr">
            <a:spAutoFit/>
          </a:bodyPr>
          <a:lstStyle/>
          <a:p>
            <a:pPr indent="0" marL="0">
              <a:buNone/>
            </a:pPr>
            <a:r>
              <a:rPr lang="en-US" sz="942" dirty="0">
                <a:solidFill>
                  <a:srgbClr val="333333"/>
                </a:solidFill>
                <a:latin typeface="Noto Sans" pitchFamily="34" charset="0"/>
                <a:ea typeface="Noto Sans" pitchFamily="34" charset="-122"/>
                <a:cs typeface="Noto Sans" pitchFamily="34" charset="-120"/>
              </a:rPr>
              <a:t>Monetization will be phased in to ensure audience trust and channel integrity. We will start with AdSense, then actively seek out relevant brand partnerships and affiliate opportunities that provide value to our audience.</a:t>
            </a:r>
            <a:endParaRPr lang="en-US" sz="942" dirty="0"/>
          </a:p>
        </p:txBody>
      </p:sp>
      <p:pic>
        <p:nvPicPr>
          <p:cNvPr id="10" name="Image 1" descr="preencoded.png">    </p:cNvPr>
          <p:cNvPicPr>
            <a:picLocks noChangeAspect="1"/>
          </p:cNvPicPr>
          <p:nvPr/>
        </p:nvPicPr>
        <p:blipFill>
          <a:blip r:embed="rId2"/>
          <a:stretch>
            <a:fillRect/>
          </a:stretch>
        </p:blipFill>
        <p:spPr>
          <a:xfrm>
            <a:off x="4900613" y="1042988"/>
            <a:ext cx="3571875" cy="357187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342900" y="342900"/>
            <a:ext cx="8458200" cy="285750"/>
          </a:xfrm>
          <a:prstGeom prst="rect">
            <a:avLst/>
          </a:prstGeom>
          <a:noFill/>
          <a:ln/>
        </p:spPr>
        <p:txBody>
          <a:bodyPr wrap="none" lIns="0" tIns="0" rIns="0" bIns="0" rtlCol="0" anchor="ctr">
            <a:spAutoFit/>
          </a:bodyPr>
          <a:lstStyle/>
          <a:p>
            <a:pPr algn="ctr" indent="0" marL="0">
              <a:buNone/>
            </a:pPr>
            <a:r>
              <a:rPr lang="en-US" sz="2025" b="1" dirty="0">
                <a:solidFill>
                  <a:srgbClr val="1A365D"/>
                </a:solidFill>
                <a:latin typeface="Noto Sans" pitchFamily="34" charset="0"/>
                <a:ea typeface="Noto Sans" pitchFamily="34" charset="-122"/>
                <a:cs typeface="Noto Sans" pitchFamily="34" charset="-120"/>
              </a:rPr>
              <a:t>Automation Tools &amp; Scripts</a:t>
            </a:r>
            <a:endParaRPr lang="en-US" sz="2025" dirty="0"/>
          </a:p>
        </p:txBody>
      </p:sp>
      <p:sp>
        <p:nvSpPr>
          <p:cNvPr id="4" name="Text 1"/>
          <p:cNvSpPr/>
          <p:nvPr/>
        </p:nvSpPr>
        <p:spPr>
          <a:xfrm>
            <a:off x="342900" y="857250"/>
            <a:ext cx="4000500" cy="228600"/>
          </a:xfrm>
          <a:prstGeom prst="rect">
            <a:avLst/>
          </a:prstGeom>
          <a:noFill/>
          <a:ln/>
        </p:spPr>
        <p:txBody>
          <a:bodyPr wrap="none" lIns="0" tIns="0" rIns="0" bIns="0" rtlCol="0" anchor="ctr">
            <a:spAutoFit/>
          </a:bodyPr>
          <a:lstStyle/>
          <a:p>
            <a:pPr indent="0" marL="0">
              <a:buNone/>
            </a:pPr>
            <a:r>
              <a:rPr lang="en-US" sz="1350" b="1" dirty="0">
                <a:solidFill>
                  <a:srgbClr val="1A365D"/>
                </a:solidFill>
                <a:latin typeface="Noto Sans" pitchFamily="34" charset="0"/>
                <a:ea typeface="Noto Sans" pitchFamily="34" charset="-122"/>
                <a:cs typeface="Noto Sans" pitchFamily="34" charset="-120"/>
              </a:rPr>
              <a:t>Streamlined Workflow</a:t>
            </a:r>
            <a:endParaRPr lang="en-US" sz="1350" dirty="0"/>
          </a:p>
        </p:txBody>
      </p:sp>
      <p:sp>
        <p:nvSpPr>
          <p:cNvPr id="5" name="Text 2"/>
          <p:cNvSpPr/>
          <p:nvPr/>
        </p:nvSpPr>
        <p:spPr>
          <a:xfrm>
            <a:off x="342900" y="1200150"/>
            <a:ext cx="4000500" cy="600075"/>
          </a:xfrm>
          <a:prstGeom prst="rect">
            <a:avLst/>
          </a:prstGeom>
          <a:noFill/>
          <a:ln/>
        </p:spPr>
        <p:txBody>
          <a:bodyPr wrap="square" lIns="0" tIns="0" rIns="0" bIns="0" rtlCol="0" anchor="ctr">
            <a:spAutoFit/>
          </a:bodyPr>
          <a:lstStyle/>
          <a:p>
            <a:pPr indent="0" marL="0">
              <a:buNone/>
            </a:pPr>
            <a:r>
              <a:rPr lang="en-US" sz="942" dirty="0">
                <a:solidFill>
                  <a:srgbClr val="333333"/>
                </a:solidFill>
                <a:latin typeface="Noto Sans" pitchFamily="34" charset="0"/>
                <a:ea typeface="Noto Sans" pitchFamily="34" charset="-122"/>
                <a:cs typeface="Noto Sans" pitchFamily="34" charset="-120"/>
              </a:rPr>
              <a:t>A suite of powerful Python scripts automates the entire daily workflow, from initial research to final upload preparation. This system is designed to save you hours of manual work every day.</a:t>
            </a:r>
            <a:endParaRPr lang="en-US" sz="942" dirty="0"/>
          </a:p>
        </p:txBody>
      </p:sp>
      <p:sp>
        <p:nvSpPr>
          <p:cNvPr id="6" name="Text 3"/>
          <p:cNvSpPr/>
          <p:nvPr/>
        </p:nvSpPr>
        <p:spPr>
          <a:xfrm>
            <a:off x="342900" y="1971675"/>
            <a:ext cx="4000500" cy="228600"/>
          </a:xfrm>
          <a:prstGeom prst="rect">
            <a:avLst/>
          </a:prstGeom>
          <a:noFill/>
          <a:ln/>
        </p:spPr>
        <p:txBody>
          <a:bodyPr wrap="none" lIns="0" tIns="0" rIns="0" bIns="0" rtlCol="0" anchor="ctr">
            <a:spAutoFit/>
          </a:bodyPr>
          <a:lstStyle/>
          <a:p>
            <a:pPr indent="0" marL="0">
              <a:buNone/>
            </a:pPr>
            <a:r>
              <a:rPr lang="en-US" sz="1350" b="1" dirty="0">
                <a:solidFill>
                  <a:srgbClr val="1A365D"/>
                </a:solidFill>
                <a:latin typeface="Noto Sans" pitchFamily="34" charset="0"/>
                <a:ea typeface="Noto Sans" pitchFamily="34" charset="-122"/>
                <a:cs typeface="Noto Sans" pitchFamily="34" charset="-120"/>
              </a:rPr>
              <a:t>Core Components</a:t>
            </a:r>
            <a:endParaRPr lang="en-US" sz="1350" dirty="0"/>
          </a:p>
        </p:txBody>
      </p:sp>
      <p:sp>
        <p:nvSpPr>
          <p:cNvPr id="7" name="Text 4"/>
          <p:cNvSpPr/>
          <p:nvPr/>
        </p:nvSpPr>
        <p:spPr>
          <a:xfrm>
            <a:off x="517922" y="2327077"/>
            <a:ext cx="621478" cy="175022"/>
          </a:xfrm>
          <a:prstGeom prst="rect">
            <a:avLst/>
          </a:prstGeom>
          <a:noFill/>
          <a:ln/>
        </p:spPr>
        <p:txBody>
          <a:bodyPr wrap="none" lIns="0" tIns="0" rIns="0" bIns="0" rtlCol="0" anchor="ctr">
            <a:spAutoFit/>
          </a:bodyPr>
          <a:lstStyle/>
          <a:p>
            <a:pPr algn="l" indent="0" marL="0">
              <a:buNone/>
            </a:pPr>
            <a:r>
              <a:rPr lang="en-US" sz="942" b="1" dirty="0">
                <a:solidFill>
                  <a:srgbClr val="FF7F50"/>
                </a:solidFill>
                <a:latin typeface="Noto Sans" pitchFamily="34" charset="0"/>
                <a:ea typeface="Noto Sans" pitchFamily="34" charset="-122"/>
                <a:cs typeface="Noto Sans" pitchFamily="34" charset="-120"/>
              </a:rPr>
              <a:t>Research:</a:t>
            </a:r>
            <a:endParaRPr lang="en-US" sz="942" dirty="0"/>
          </a:p>
        </p:txBody>
      </p:sp>
      <p:sp>
        <p:nvSpPr>
          <p:cNvPr id="8" name="Text 5"/>
          <p:cNvSpPr/>
          <p:nvPr/>
        </p:nvSpPr>
        <p:spPr>
          <a:xfrm>
            <a:off x="342900" y="2327077"/>
            <a:ext cx="3702221" cy="375047"/>
          </a:xfrm>
          <a:prstGeom prst="rect">
            <a:avLst/>
          </a:prstGeom>
          <a:noFill/>
          <a:ln/>
        </p:spPr>
        <p:txBody>
          <a:bodyPr wrap="square" lIns="0" tIns="0" rIns="0" bIns="0" rtlCol="0" anchor="ctr">
            <a:spAutoFit/>
          </a:bodyPr>
          <a:lstStyle/>
          <a:p>
            <a:pPr algn="l" indent="0" marL="0">
              <a:buNone/>
            </a:pPr>
            <a:r>
              <a:rPr lang="en-US" sz="942" dirty="0">
                <a:solidFill>
                  <a:srgbClr val="333333"/>
                </a:solidFill>
                <a:latin typeface="Noto Sans" pitchFamily="34" charset="0"/>
                <a:ea typeface="Noto Sans" pitchFamily="34" charset="-122"/>
                <a:cs typeface="Noto Sans" pitchFamily="34" charset="-120"/>
              </a:rPr>
              <a:t> Automatically scrapes trending topics and news from multiple sources.</a:t>
            </a:r>
            <a:endParaRPr lang="en-US" sz="942" dirty="0"/>
          </a:p>
        </p:txBody>
      </p:sp>
      <p:sp>
        <p:nvSpPr>
          <p:cNvPr id="9" name="Text 6"/>
          <p:cNvSpPr/>
          <p:nvPr/>
        </p:nvSpPr>
        <p:spPr>
          <a:xfrm>
            <a:off x="517922" y="2784277"/>
            <a:ext cx="1310320" cy="175022"/>
          </a:xfrm>
          <a:prstGeom prst="rect">
            <a:avLst/>
          </a:prstGeom>
          <a:noFill/>
          <a:ln/>
        </p:spPr>
        <p:txBody>
          <a:bodyPr wrap="none" lIns="0" tIns="0" rIns="0" bIns="0" rtlCol="0" anchor="ctr">
            <a:spAutoFit/>
          </a:bodyPr>
          <a:lstStyle/>
          <a:p>
            <a:pPr algn="l" indent="0" marL="0">
              <a:buNone/>
            </a:pPr>
            <a:r>
              <a:rPr lang="en-US" sz="942" b="1" dirty="0">
                <a:solidFill>
                  <a:srgbClr val="FF7F50"/>
                </a:solidFill>
                <a:latin typeface="Noto Sans" pitchFamily="34" charset="0"/>
                <a:ea typeface="Noto Sans" pitchFamily="34" charset="-122"/>
                <a:cs typeface="Noto Sans" pitchFamily="34" charset="-120"/>
              </a:rPr>
              <a:t>Content Generation:</a:t>
            </a:r>
            <a:endParaRPr lang="en-US" sz="942" dirty="0"/>
          </a:p>
        </p:txBody>
      </p:sp>
      <p:sp>
        <p:nvSpPr>
          <p:cNvPr id="10" name="Text 7"/>
          <p:cNvSpPr/>
          <p:nvPr/>
        </p:nvSpPr>
        <p:spPr>
          <a:xfrm>
            <a:off x="342900" y="2784277"/>
            <a:ext cx="3522957" cy="375047"/>
          </a:xfrm>
          <a:prstGeom prst="rect">
            <a:avLst/>
          </a:prstGeom>
          <a:noFill/>
          <a:ln/>
        </p:spPr>
        <p:txBody>
          <a:bodyPr wrap="square" lIns="0" tIns="0" rIns="0" bIns="0" rtlCol="0" anchor="ctr">
            <a:spAutoFit/>
          </a:bodyPr>
          <a:lstStyle/>
          <a:p>
            <a:pPr algn="l" indent="0" marL="0">
              <a:buNone/>
            </a:pPr>
            <a:r>
              <a:rPr lang="en-US" sz="942" dirty="0">
                <a:solidFill>
                  <a:srgbClr val="333333"/>
                </a:solidFill>
                <a:latin typeface="Noto Sans" pitchFamily="34" charset="0"/>
                <a:ea typeface="Noto Sans" pitchFamily="34" charset="-122"/>
                <a:cs typeface="Noto Sans" pitchFamily="34" charset="-120"/>
              </a:rPr>
              <a:t> Converts research into engaging, NotebookLM-optimized video scripts.</a:t>
            </a:r>
            <a:endParaRPr lang="en-US" sz="942" dirty="0"/>
          </a:p>
        </p:txBody>
      </p:sp>
      <p:sp>
        <p:nvSpPr>
          <p:cNvPr id="11" name="Text 8"/>
          <p:cNvSpPr/>
          <p:nvPr/>
        </p:nvSpPr>
        <p:spPr>
          <a:xfrm>
            <a:off x="517922" y="3241477"/>
            <a:ext cx="1478896" cy="175022"/>
          </a:xfrm>
          <a:prstGeom prst="rect">
            <a:avLst/>
          </a:prstGeom>
          <a:noFill/>
          <a:ln/>
        </p:spPr>
        <p:txBody>
          <a:bodyPr wrap="none" lIns="0" tIns="0" rIns="0" bIns="0" rtlCol="0" anchor="ctr">
            <a:spAutoFit/>
          </a:bodyPr>
          <a:lstStyle/>
          <a:p>
            <a:pPr algn="l" indent="0" marL="0">
              <a:buNone/>
            </a:pPr>
            <a:r>
              <a:rPr lang="en-US" sz="942" b="1" dirty="0">
                <a:solidFill>
                  <a:srgbClr val="FF7F50"/>
                </a:solidFill>
                <a:latin typeface="Noto Sans" pitchFamily="34" charset="0"/>
                <a:ea typeface="Noto Sans" pitchFamily="34" charset="-122"/>
                <a:cs typeface="Noto Sans" pitchFamily="34" charset="-120"/>
              </a:rPr>
              <a:t>YouTube Management:</a:t>
            </a:r>
            <a:endParaRPr lang="en-US" sz="942" dirty="0"/>
          </a:p>
        </p:txBody>
      </p:sp>
      <p:sp>
        <p:nvSpPr>
          <p:cNvPr id="12" name="Text 9"/>
          <p:cNvSpPr/>
          <p:nvPr/>
        </p:nvSpPr>
        <p:spPr>
          <a:xfrm>
            <a:off x="342900" y="3241477"/>
            <a:ext cx="3504567" cy="375047"/>
          </a:xfrm>
          <a:prstGeom prst="rect">
            <a:avLst/>
          </a:prstGeom>
          <a:noFill/>
          <a:ln/>
        </p:spPr>
        <p:txBody>
          <a:bodyPr wrap="square" lIns="0" tIns="0" rIns="0" bIns="0" rtlCol="0" anchor="ctr">
            <a:spAutoFit/>
          </a:bodyPr>
          <a:lstStyle/>
          <a:p>
            <a:pPr algn="l" indent="0" marL="0">
              <a:buNone/>
            </a:pPr>
            <a:r>
              <a:rPr lang="en-US" sz="942" dirty="0">
                <a:solidFill>
                  <a:srgbClr val="333333"/>
                </a:solidFill>
                <a:latin typeface="Noto Sans" pitchFamily="34" charset="0"/>
                <a:ea typeface="Noto Sans" pitchFamily="34" charset="-122"/>
                <a:cs typeface="Noto Sans" pitchFamily="34" charset="-120"/>
              </a:rPr>
              <a:t> Prepares SEO-optimized titles, descriptions, and tags for upload.</a:t>
            </a:r>
            <a:endParaRPr lang="en-US" sz="942" dirty="0"/>
          </a:p>
        </p:txBody>
      </p:sp>
      <p:sp>
        <p:nvSpPr>
          <p:cNvPr id="13" name="Text 10"/>
          <p:cNvSpPr/>
          <p:nvPr/>
        </p:nvSpPr>
        <p:spPr>
          <a:xfrm>
            <a:off x="517922" y="3698677"/>
            <a:ext cx="624939" cy="175022"/>
          </a:xfrm>
          <a:prstGeom prst="rect">
            <a:avLst/>
          </a:prstGeom>
          <a:noFill/>
          <a:ln/>
        </p:spPr>
        <p:txBody>
          <a:bodyPr wrap="none" lIns="0" tIns="0" rIns="0" bIns="0" rtlCol="0" anchor="ctr">
            <a:spAutoFit/>
          </a:bodyPr>
          <a:lstStyle/>
          <a:p>
            <a:pPr algn="l" indent="0" marL="0">
              <a:buNone/>
            </a:pPr>
            <a:r>
              <a:rPr lang="en-US" sz="942" b="1" dirty="0">
                <a:solidFill>
                  <a:srgbClr val="FF7F50"/>
                </a:solidFill>
                <a:latin typeface="Noto Sans" pitchFamily="34" charset="0"/>
                <a:ea typeface="Noto Sans" pitchFamily="34" charset="-122"/>
                <a:cs typeface="Noto Sans" pitchFamily="34" charset="-120"/>
              </a:rPr>
              <a:t>Analytics:</a:t>
            </a:r>
            <a:endParaRPr lang="en-US" sz="942" dirty="0"/>
          </a:p>
        </p:txBody>
      </p:sp>
      <p:sp>
        <p:nvSpPr>
          <p:cNvPr id="14" name="Text 11"/>
          <p:cNvSpPr/>
          <p:nvPr/>
        </p:nvSpPr>
        <p:spPr>
          <a:xfrm>
            <a:off x="342900" y="3698677"/>
            <a:ext cx="3357953" cy="375047"/>
          </a:xfrm>
          <a:prstGeom prst="rect">
            <a:avLst/>
          </a:prstGeom>
          <a:noFill/>
          <a:ln/>
        </p:spPr>
        <p:txBody>
          <a:bodyPr wrap="square" lIns="0" tIns="0" rIns="0" bIns="0" rtlCol="0" anchor="ctr">
            <a:spAutoFit/>
          </a:bodyPr>
          <a:lstStyle/>
          <a:p>
            <a:pPr algn="l" indent="0" marL="0">
              <a:buNone/>
            </a:pPr>
            <a:r>
              <a:rPr lang="en-US" sz="942" dirty="0">
                <a:solidFill>
                  <a:srgbClr val="333333"/>
                </a:solidFill>
                <a:latin typeface="Noto Sans" pitchFamily="34" charset="0"/>
                <a:ea typeface="Noto Sans" pitchFamily="34" charset="-122"/>
                <a:cs typeface="Noto Sans" pitchFamily="34" charset="-120"/>
              </a:rPr>
              <a:t> Tracks channel performance and provides actionable insights for growth.</a:t>
            </a:r>
            <a:endParaRPr lang="en-US" sz="942" dirty="0"/>
          </a:p>
        </p:txBody>
      </p:sp>
      <p:sp>
        <p:nvSpPr>
          <p:cNvPr id="15" name="Shape 12"/>
          <p:cNvSpPr/>
          <p:nvPr/>
        </p:nvSpPr>
        <p:spPr>
          <a:xfrm>
            <a:off x="4572000" y="1471613"/>
            <a:ext cx="4229100" cy="2714625"/>
          </a:xfrm>
          <a:prstGeom prst="rect">
            <a:avLst/>
          </a:prstGeom>
          <a:solidFill>
            <a:srgbClr val="F0F4F8"/>
          </a:solidFill>
          <a:ln/>
        </p:spPr>
      </p:sp>
      <p:sp>
        <p:nvSpPr>
          <p:cNvPr id="16" name="Shape 13"/>
          <p:cNvSpPr/>
          <p:nvPr/>
        </p:nvSpPr>
        <p:spPr>
          <a:xfrm>
            <a:off x="4572000" y="1471613"/>
            <a:ext cx="14288" cy="2714625"/>
          </a:xfrm>
          <a:prstGeom prst="rect">
            <a:avLst/>
          </a:prstGeom>
          <a:solidFill>
            <a:srgbClr val="1A365D"/>
          </a:solidFill>
          <a:ln/>
        </p:spPr>
      </p:sp>
      <p:pic>
        <p:nvPicPr>
          <p:cNvPr id="17" name="Image 1" descr="preencoded.png">    </p:cNvPr>
          <p:cNvPicPr>
            <a:picLocks noChangeAspect="1"/>
          </p:cNvPicPr>
          <p:nvPr/>
        </p:nvPicPr>
        <p:blipFill>
          <a:blip r:embed="rId2"/>
          <a:stretch>
            <a:fillRect/>
          </a:stretch>
        </p:blipFill>
        <p:spPr>
          <a:xfrm>
            <a:off x="4714875" y="1643063"/>
            <a:ext cx="128588" cy="114300"/>
          </a:xfrm>
          <a:prstGeom prst="rect">
            <a:avLst/>
          </a:prstGeom>
        </p:spPr>
      </p:pic>
      <p:sp>
        <p:nvSpPr>
          <p:cNvPr id="18" name="Text 14"/>
          <p:cNvSpPr/>
          <p:nvPr/>
        </p:nvSpPr>
        <p:spPr>
          <a:xfrm>
            <a:off x="4843463" y="1621631"/>
            <a:ext cx="1013520" cy="155377"/>
          </a:xfrm>
          <a:prstGeom prst="rect">
            <a:avLst/>
          </a:prstGeom>
          <a:noFill/>
          <a:ln/>
        </p:spPr>
        <p:txBody>
          <a:bodyPr wrap="none" lIns="0" tIns="0" rIns="0" bIns="0" rtlCol="0" anchor="ctr">
            <a:spAutoFit/>
          </a:bodyPr>
          <a:lstStyle/>
          <a:p>
            <a:pPr indent="0" marL="0">
              <a:buNone/>
            </a:pPr>
            <a:r>
              <a:rPr lang="en-US" sz="837" dirty="0">
                <a:solidFill>
                  <a:srgbClr val="000000"/>
                </a:solidFill>
                <a:latin typeface="Noto Sans" pitchFamily="34" charset="0"/>
                <a:ea typeface="Noto Sans" pitchFamily="34" charset="-122"/>
                <a:cs typeface="Noto Sans" pitchFamily="34" charset="-120"/>
              </a:rPr>
              <a:t> automation_tools/</a:t>
            </a:r>
            <a:endParaRPr lang="en-US" sz="837" dirty="0"/>
          </a:p>
        </p:txBody>
      </p:sp>
      <p:pic>
        <p:nvPicPr>
          <p:cNvPr id="19" name="Image 2" descr="preencoded.png">    </p:cNvPr>
          <p:cNvPicPr>
            <a:picLocks noChangeAspect="1"/>
          </p:cNvPicPr>
          <p:nvPr/>
        </p:nvPicPr>
        <p:blipFill>
          <a:blip r:embed="rId3"/>
          <a:stretch>
            <a:fillRect/>
          </a:stretch>
        </p:blipFill>
        <p:spPr>
          <a:xfrm>
            <a:off x="4829175" y="1885950"/>
            <a:ext cx="114300" cy="114300"/>
          </a:xfrm>
          <a:prstGeom prst="rect">
            <a:avLst/>
          </a:prstGeom>
        </p:spPr>
      </p:pic>
      <p:sp>
        <p:nvSpPr>
          <p:cNvPr id="20" name="Text 15"/>
          <p:cNvSpPr/>
          <p:nvPr/>
        </p:nvSpPr>
        <p:spPr>
          <a:xfrm>
            <a:off x="4943475" y="1864519"/>
            <a:ext cx="535391" cy="155377"/>
          </a:xfrm>
          <a:prstGeom prst="rect">
            <a:avLst/>
          </a:prstGeom>
          <a:noFill/>
          <a:ln/>
        </p:spPr>
        <p:txBody>
          <a:bodyPr wrap="none" lIns="0" tIns="0" rIns="0" bIns="0" rtlCol="0" anchor="ctr">
            <a:spAutoFit/>
          </a:bodyPr>
          <a:lstStyle/>
          <a:p>
            <a:pPr indent="0" marL="0">
              <a:buNone/>
            </a:pPr>
            <a:r>
              <a:rPr lang="en-US" sz="837" dirty="0">
                <a:solidFill>
                  <a:srgbClr val="000000"/>
                </a:solidFill>
                <a:latin typeface="Noto Sans" pitchFamily="34" charset="0"/>
                <a:ea typeface="Noto Sans" pitchFamily="34" charset="-122"/>
                <a:cs typeface="Noto Sans" pitchFamily="34" charset="-120"/>
              </a:rPr>
              <a:t> research/</a:t>
            </a:r>
            <a:endParaRPr lang="en-US" sz="837" dirty="0"/>
          </a:p>
        </p:txBody>
      </p:sp>
      <p:pic>
        <p:nvPicPr>
          <p:cNvPr id="21" name="Image 3" descr="preencoded.png">    </p:cNvPr>
          <p:cNvPicPr>
            <a:picLocks noChangeAspect="1"/>
          </p:cNvPicPr>
          <p:nvPr/>
        </p:nvPicPr>
        <p:blipFill>
          <a:blip r:embed="rId4"/>
          <a:stretch>
            <a:fillRect/>
          </a:stretch>
        </p:blipFill>
        <p:spPr>
          <a:xfrm>
            <a:off x="4943475" y="2128838"/>
            <a:ext cx="85725" cy="114300"/>
          </a:xfrm>
          <a:prstGeom prst="rect">
            <a:avLst/>
          </a:prstGeom>
        </p:spPr>
      </p:pic>
      <p:sp>
        <p:nvSpPr>
          <p:cNvPr id="22" name="Text 16"/>
          <p:cNvSpPr/>
          <p:nvPr/>
        </p:nvSpPr>
        <p:spPr>
          <a:xfrm>
            <a:off x="5029200" y="2107406"/>
            <a:ext cx="1385329" cy="155377"/>
          </a:xfrm>
          <a:prstGeom prst="rect">
            <a:avLst/>
          </a:prstGeom>
          <a:noFill/>
          <a:ln/>
        </p:spPr>
        <p:txBody>
          <a:bodyPr wrap="none" lIns="0" tIns="0" rIns="0" bIns="0" rtlCol="0" anchor="ctr">
            <a:spAutoFit/>
          </a:bodyPr>
          <a:lstStyle/>
          <a:p>
            <a:pPr indent="0" marL="0">
              <a:buNone/>
            </a:pPr>
            <a:r>
              <a:rPr lang="en-US" sz="837" dirty="0">
                <a:solidFill>
                  <a:srgbClr val="000000"/>
                </a:solidFill>
                <a:latin typeface="Noto Sans" pitchFamily="34" charset="0"/>
                <a:ea typeface="Noto Sans" pitchFamily="34" charset="-122"/>
                <a:cs typeface="Noto Sans" pitchFamily="34" charset="-120"/>
              </a:rPr>
              <a:t> daily_research_scraper.py</a:t>
            </a:r>
            <a:endParaRPr lang="en-US" sz="837" dirty="0"/>
          </a:p>
        </p:txBody>
      </p:sp>
      <p:pic>
        <p:nvPicPr>
          <p:cNvPr id="23" name="Image 4" descr="preencoded.png">    </p:cNvPr>
          <p:cNvPicPr>
            <a:picLocks noChangeAspect="1"/>
          </p:cNvPicPr>
          <p:nvPr/>
        </p:nvPicPr>
        <p:blipFill>
          <a:blip r:embed="rId5"/>
          <a:stretch>
            <a:fillRect/>
          </a:stretch>
        </p:blipFill>
        <p:spPr>
          <a:xfrm>
            <a:off x="4829175" y="2371725"/>
            <a:ext cx="114300" cy="114300"/>
          </a:xfrm>
          <a:prstGeom prst="rect">
            <a:avLst/>
          </a:prstGeom>
        </p:spPr>
      </p:pic>
      <p:sp>
        <p:nvSpPr>
          <p:cNvPr id="24" name="Text 17"/>
          <p:cNvSpPr/>
          <p:nvPr/>
        </p:nvSpPr>
        <p:spPr>
          <a:xfrm>
            <a:off x="4943475" y="2350294"/>
            <a:ext cx="1124722" cy="155377"/>
          </a:xfrm>
          <a:prstGeom prst="rect">
            <a:avLst/>
          </a:prstGeom>
          <a:noFill/>
          <a:ln/>
        </p:spPr>
        <p:txBody>
          <a:bodyPr wrap="none" lIns="0" tIns="0" rIns="0" bIns="0" rtlCol="0" anchor="ctr">
            <a:spAutoFit/>
          </a:bodyPr>
          <a:lstStyle/>
          <a:p>
            <a:pPr indent="0" marL="0">
              <a:buNone/>
            </a:pPr>
            <a:r>
              <a:rPr lang="en-US" sz="837" dirty="0">
                <a:solidFill>
                  <a:srgbClr val="000000"/>
                </a:solidFill>
                <a:latin typeface="Noto Sans" pitchFamily="34" charset="0"/>
                <a:ea typeface="Noto Sans" pitchFamily="34" charset="-122"/>
                <a:cs typeface="Noto Sans" pitchFamily="34" charset="-120"/>
              </a:rPr>
              <a:t> content_generation/</a:t>
            </a:r>
            <a:endParaRPr lang="en-US" sz="837" dirty="0"/>
          </a:p>
        </p:txBody>
      </p:sp>
      <p:pic>
        <p:nvPicPr>
          <p:cNvPr id="25" name="Image 5" descr="preencoded.png">    </p:cNvPr>
          <p:cNvPicPr>
            <a:picLocks noChangeAspect="1"/>
          </p:cNvPicPr>
          <p:nvPr/>
        </p:nvPicPr>
        <p:blipFill>
          <a:blip r:embed="rId6"/>
          <a:stretch>
            <a:fillRect/>
          </a:stretch>
        </p:blipFill>
        <p:spPr>
          <a:xfrm>
            <a:off x="4943475" y="2614613"/>
            <a:ext cx="85725" cy="114300"/>
          </a:xfrm>
          <a:prstGeom prst="rect">
            <a:avLst/>
          </a:prstGeom>
        </p:spPr>
      </p:pic>
      <p:sp>
        <p:nvSpPr>
          <p:cNvPr id="26" name="Text 18"/>
          <p:cNvSpPr/>
          <p:nvPr/>
        </p:nvSpPr>
        <p:spPr>
          <a:xfrm>
            <a:off x="5029200" y="2593181"/>
            <a:ext cx="1400175" cy="155377"/>
          </a:xfrm>
          <a:prstGeom prst="rect">
            <a:avLst/>
          </a:prstGeom>
          <a:noFill/>
          <a:ln/>
        </p:spPr>
        <p:txBody>
          <a:bodyPr wrap="none" lIns="0" tIns="0" rIns="0" bIns="0" rtlCol="0" anchor="ctr">
            <a:spAutoFit/>
          </a:bodyPr>
          <a:lstStyle/>
          <a:p>
            <a:pPr indent="0" marL="0">
              <a:buNone/>
            </a:pPr>
            <a:r>
              <a:rPr lang="en-US" sz="837" dirty="0">
                <a:solidFill>
                  <a:srgbClr val="000000"/>
                </a:solidFill>
                <a:latin typeface="Noto Sans" pitchFamily="34" charset="0"/>
                <a:ea typeface="Noto Sans" pitchFamily="34" charset="-122"/>
                <a:cs typeface="Noto Sans" pitchFamily="34" charset="-120"/>
              </a:rPr>
              <a:t> notebooklm_processor.py</a:t>
            </a:r>
            <a:endParaRPr lang="en-US" sz="837" dirty="0"/>
          </a:p>
        </p:txBody>
      </p:sp>
      <p:pic>
        <p:nvPicPr>
          <p:cNvPr id="27" name="Image 6" descr="preencoded.png">    </p:cNvPr>
          <p:cNvPicPr>
            <a:picLocks noChangeAspect="1"/>
          </p:cNvPicPr>
          <p:nvPr/>
        </p:nvPicPr>
        <p:blipFill>
          <a:blip r:embed="rId7"/>
          <a:stretch>
            <a:fillRect/>
          </a:stretch>
        </p:blipFill>
        <p:spPr>
          <a:xfrm>
            <a:off x="4829175" y="2857500"/>
            <a:ext cx="114300" cy="114300"/>
          </a:xfrm>
          <a:prstGeom prst="rect">
            <a:avLst/>
          </a:prstGeom>
        </p:spPr>
      </p:pic>
      <p:sp>
        <p:nvSpPr>
          <p:cNvPr id="28" name="Text 19"/>
          <p:cNvSpPr/>
          <p:nvPr/>
        </p:nvSpPr>
        <p:spPr>
          <a:xfrm>
            <a:off x="4943475" y="2836069"/>
            <a:ext cx="1291484" cy="155377"/>
          </a:xfrm>
          <a:prstGeom prst="rect">
            <a:avLst/>
          </a:prstGeom>
          <a:noFill/>
          <a:ln/>
        </p:spPr>
        <p:txBody>
          <a:bodyPr wrap="none" lIns="0" tIns="0" rIns="0" bIns="0" rtlCol="0" anchor="ctr">
            <a:spAutoFit/>
          </a:bodyPr>
          <a:lstStyle/>
          <a:p>
            <a:pPr indent="0" marL="0">
              <a:buNone/>
            </a:pPr>
            <a:r>
              <a:rPr lang="en-US" sz="837" dirty="0">
                <a:solidFill>
                  <a:srgbClr val="000000"/>
                </a:solidFill>
                <a:latin typeface="Noto Sans" pitchFamily="34" charset="0"/>
                <a:ea typeface="Noto Sans" pitchFamily="34" charset="-122"/>
                <a:cs typeface="Noto Sans" pitchFamily="34" charset="-120"/>
              </a:rPr>
              <a:t> youtube_management/</a:t>
            </a:r>
            <a:endParaRPr lang="en-US" sz="837" dirty="0"/>
          </a:p>
        </p:txBody>
      </p:sp>
      <p:pic>
        <p:nvPicPr>
          <p:cNvPr id="29" name="Image 7" descr="preencoded.png">    </p:cNvPr>
          <p:cNvPicPr>
            <a:picLocks noChangeAspect="1"/>
          </p:cNvPicPr>
          <p:nvPr/>
        </p:nvPicPr>
        <p:blipFill>
          <a:blip r:embed="rId8"/>
          <a:stretch>
            <a:fillRect/>
          </a:stretch>
        </p:blipFill>
        <p:spPr>
          <a:xfrm>
            <a:off x="4943475" y="3100388"/>
            <a:ext cx="85725" cy="114300"/>
          </a:xfrm>
          <a:prstGeom prst="rect">
            <a:avLst/>
          </a:prstGeom>
        </p:spPr>
      </p:pic>
      <p:sp>
        <p:nvSpPr>
          <p:cNvPr id="30" name="Text 20"/>
          <p:cNvSpPr/>
          <p:nvPr/>
        </p:nvSpPr>
        <p:spPr>
          <a:xfrm>
            <a:off x="5029200" y="3078956"/>
            <a:ext cx="1149530" cy="155377"/>
          </a:xfrm>
          <a:prstGeom prst="rect">
            <a:avLst/>
          </a:prstGeom>
          <a:noFill/>
          <a:ln/>
        </p:spPr>
        <p:txBody>
          <a:bodyPr wrap="none" lIns="0" tIns="0" rIns="0" bIns="0" rtlCol="0" anchor="ctr">
            <a:spAutoFit/>
          </a:bodyPr>
          <a:lstStyle/>
          <a:p>
            <a:pPr indent="0" marL="0">
              <a:buNone/>
            </a:pPr>
            <a:r>
              <a:rPr lang="en-US" sz="837" dirty="0">
                <a:solidFill>
                  <a:srgbClr val="000000"/>
                </a:solidFill>
                <a:latin typeface="Noto Sans" pitchFamily="34" charset="0"/>
                <a:ea typeface="Noto Sans" pitchFamily="34" charset="-122"/>
                <a:cs typeface="Noto Sans" pitchFamily="34" charset="-120"/>
              </a:rPr>
              <a:t> youtube_uploader.py</a:t>
            </a:r>
            <a:endParaRPr lang="en-US" sz="837" dirty="0"/>
          </a:p>
        </p:txBody>
      </p:sp>
      <p:pic>
        <p:nvPicPr>
          <p:cNvPr id="31" name="Image 8" descr="preencoded.png">    </p:cNvPr>
          <p:cNvPicPr>
            <a:picLocks noChangeAspect="1"/>
          </p:cNvPicPr>
          <p:nvPr/>
        </p:nvPicPr>
        <p:blipFill>
          <a:blip r:embed="rId9"/>
          <a:stretch>
            <a:fillRect/>
          </a:stretch>
        </p:blipFill>
        <p:spPr>
          <a:xfrm>
            <a:off x="4829175" y="3343275"/>
            <a:ext cx="114300" cy="114300"/>
          </a:xfrm>
          <a:prstGeom prst="rect">
            <a:avLst/>
          </a:prstGeom>
        </p:spPr>
      </p:pic>
      <p:sp>
        <p:nvSpPr>
          <p:cNvPr id="32" name="Text 21"/>
          <p:cNvSpPr/>
          <p:nvPr/>
        </p:nvSpPr>
        <p:spPr>
          <a:xfrm>
            <a:off x="4943475" y="3321844"/>
            <a:ext cx="539269" cy="155377"/>
          </a:xfrm>
          <a:prstGeom prst="rect">
            <a:avLst/>
          </a:prstGeom>
          <a:noFill/>
          <a:ln/>
        </p:spPr>
        <p:txBody>
          <a:bodyPr wrap="none" lIns="0" tIns="0" rIns="0" bIns="0" rtlCol="0" anchor="ctr">
            <a:spAutoFit/>
          </a:bodyPr>
          <a:lstStyle/>
          <a:p>
            <a:pPr indent="0" marL="0">
              <a:buNone/>
            </a:pPr>
            <a:r>
              <a:rPr lang="en-US" sz="837" dirty="0">
                <a:solidFill>
                  <a:srgbClr val="000000"/>
                </a:solidFill>
                <a:latin typeface="Noto Sans" pitchFamily="34" charset="0"/>
                <a:ea typeface="Noto Sans" pitchFamily="34" charset="-122"/>
                <a:cs typeface="Noto Sans" pitchFamily="34" charset="-120"/>
              </a:rPr>
              <a:t> analytics/</a:t>
            </a:r>
            <a:endParaRPr lang="en-US" sz="837" dirty="0"/>
          </a:p>
        </p:txBody>
      </p:sp>
      <p:pic>
        <p:nvPicPr>
          <p:cNvPr id="33" name="Image 9" descr="preencoded.png">    </p:cNvPr>
          <p:cNvPicPr>
            <a:picLocks noChangeAspect="1"/>
          </p:cNvPicPr>
          <p:nvPr/>
        </p:nvPicPr>
        <p:blipFill>
          <a:blip r:embed="rId10"/>
          <a:stretch>
            <a:fillRect/>
          </a:stretch>
        </p:blipFill>
        <p:spPr>
          <a:xfrm>
            <a:off x="4943475" y="3586163"/>
            <a:ext cx="85725" cy="114300"/>
          </a:xfrm>
          <a:prstGeom prst="rect">
            <a:avLst/>
          </a:prstGeom>
        </p:spPr>
      </p:pic>
      <p:sp>
        <p:nvSpPr>
          <p:cNvPr id="34" name="Text 22"/>
          <p:cNvSpPr/>
          <p:nvPr/>
        </p:nvSpPr>
        <p:spPr>
          <a:xfrm>
            <a:off x="5029200" y="3564731"/>
            <a:ext cx="1295614" cy="155377"/>
          </a:xfrm>
          <a:prstGeom prst="rect">
            <a:avLst/>
          </a:prstGeom>
          <a:noFill/>
          <a:ln/>
        </p:spPr>
        <p:txBody>
          <a:bodyPr wrap="none" lIns="0" tIns="0" rIns="0" bIns="0" rtlCol="0" anchor="ctr">
            <a:spAutoFit/>
          </a:bodyPr>
          <a:lstStyle/>
          <a:p>
            <a:pPr indent="0" marL="0">
              <a:buNone/>
            </a:pPr>
            <a:r>
              <a:rPr lang="en-US" sz="837" dirty="0">
                <a:solidFill>
                  <a:srgbClr val="000000"/>
                </a:solidFill>
                <a:latin typeface="Noto Sans" pitchFamily="34" charset="0"/>
                <a:ea typeface="Noto Sans" pitchFamily="34" charset="-122"/>
                <a:cs typeface="Noto Sans" pitchFamily="34" charset="-120"/>
              </a:rPr>
              <a:t> performance_tracker.py</a:t>
            </a:r>
            <a:endParaRPr lang="en-US" sz="837" dirty="0"/>
          </a:p>
        </p:txBody>
      </p:sp>
      <p:pic>
        <p:nvPicPr>
          <p:cNvPr id="35" name="Image 10" descr="preencoded.png">    </p:cNvPr>
          <p:cNvPicPr>
            <a:picLocks noChangeAspect="1"/>
          </p:cNvPicPr>
          <p:nvPr/>
        </p:nvPicPr>
        <p:blipFill>
          <a:blip r:embed="rId11"/>
          <a:stretch>
            <a:fillRect/>
          </a:stretch>
        </p:blipFill>
        <p:spPr>
          <a:xfrm>
            <a:off x="4829175" y="3829050"/>
            <a:ext cx="142875" cy="114300"/>
          </a:xfrm>
          <a:prstGeom prst="rect">
            <a:avLst/>
          </a:prstGeom>
        </p:spPr>
      </p:pic>
      <p:sp>
        <p:nvSpPr>
          <p:cNvPr id="36" name="Text 23"/>
          <p:cNvSpPr/>
          <p:nvPr/>
        </p:nvSpPr>
        <p:spPr>
          <a:xfrm>
            <a:off x="4972050" y="3807619"/>
            <a:ext cx="1104267" cy="155377"/>
          </a:xfrm>
          <a:prstGeom prst="rect">
            <a:avLst/>
          </a:prstGeom>
          <a:noFill/>
          <a:ln/>
        </p:spPr>
        <p:txBody>
          <a:bodyPr wrap="none" lIns="0" tIns="0" rIns="0" bIns="0" rtlCol="0" anchor="ctr">
            <a:spAutoFit/>
          </a:bodyPr>
          <a:lstStyle/>
          <a:p>
            <a:pPr indent="0" marL="0">
              <a:buNone/>
            </a:pPr>
            <a:r>
              <a:rPr lang="en-US" sz="837" dirty="0">
                <a:solidFill>
                  <a:srgbClr val="000000"/>
                </a:solidFill>
                <a:latin typeface="Noto Sans" pitchFamily="34" charset="0"/>
                <a:ea typeface="Noto Sans" pitchFamily="34" charset="-122"/>
                <a:cs typeface="Noto Sans" pitchFamily="34" charset="-120"/>
              </a:rPr>
              <a:t> master_workflow.py</a:t>
            </a:r>
            <a:endParaRPr lang="en-US" sz="837"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342900" y="342900"/>
            <a:ext cx="8458200" cy="285750"/>
          </a:xfrm>
          <a:prstGeom prst="rect">
            <a:avLst/>
          </a:prstGeom>
          <a:noFill/>
          <a:ln/>
        </p:spPr>
        <p:txBody>
          <a:bodyPr wrap="none" lIns="0" tIns="0" rIns="0" bIns="0" rtlCol="0" anchor="ctr">
            <a:spAutoFit/>
          </a:bodyPr>
          <a:lstStyle/>
          <a:p>
            <a:pPr algn="ctr" indent="0" marL="0">
              <a:buNone/>
            </a:pPr>
            <a:r>
              <a:rPr lang="en-US" sz="2025" b="1" dirty="0">
                <a:solidFill>
                  <a:srgbClr val="1A365D"/>
                </a:solidFill>
                <a:latin typeface="Noto Sans" pitchFamily="34" charset="0"/>
                <a:ea typeface="Noto Sans" pitchFamily="34" charset="-122"/>
                <a:cs typeface="Noto Sans" pitchFamily="34" charset="-120"/>
              </a:rPr>
              <a:t>Content Templates &amp; Guides</a:t>
            </a:r>
            <a:endParaRPr lang="en-US" sz="2025" dirty="0"/>
          </a:p>
        </p:txBody>
      </p:sp>
      <p:sp>
        <p:nvSpPr>
          <p:cNvPr id="4" name="Text 1"/>
          <p:cNvSpPr/>
          <p:nvPr/>
        </p:nvSpPr>
        <p:spPr>
          <a:xfrm>
            <a:off x="342900" y="857250"/>
            <a:ext cx="4000500" cy="228600"/>
          </a:xfrm>
          <a:prstGeom prst="rect">
            <a:avLst/>
          </a:prstGeom>
          <a:noFill/>
          <a:ln/>
        </p:spPr>
        <p:txBody>
          <a:bodyPr wrap="none" lIns="0" tIns="0" rIns="0" bIns="0" rtlCol="0" anchor="ctr">
            <a:spAutoFit/>
          </a:bodyPr>
          <a:lstStyle/>
          <a:p>
            <a:pPr indent="0" marL="0">
              <a:buNone/>
            </a:pPr>
            <a:r>
              <a:rPr lang="en-US" sz="1350" b="1" dirty="0">
                <a:solidFill>
                  <a:srgbClr val="1A365D"/>
                </a:solidFill>
                <a:latin typeface="Noto Sans" pitchFamily="34" charset="0"/>
                <a:ea typeface="Noto Sans" pitchFamily="34" charset="-122"/>
                <a:cs typeface="Noto Sans" pitchFamily="34" charset="-120"/>
              </a:rPr>
              <a:t>Jumpstart Your Content Creation</a:t>
            </a:r>
            <a:endParaRPr lang="en-US" sz="1350" dirty="0"/>
          </a:p>
        </p:txBody>
      </p:sp>
      <p:sp>
        <p:nvSpPr>
          <p:cNvPr id="5" name="Text 2"/>
          <p:cNvSpPr/>
          <p:nvPr/>
        </p:nvSpPr>
        <p:spPr>
          <a:xfrm>
            <a:off x="342900" y="1200150"/>
            <a:ext cx="4000500" cy="600075"/>
          </a:xfrm>
          <a:prstGeom prst="rect">
            <a:avLst/>
          </a:prstGeom>
          <a:noFill/>
          <a:ln/>
        </p:spPr>
        <p:txBody>
          <a:bodyPr wrap="square" lIns="0" tIns="0" rIns="0" bIns="0" rtlCol="0" anchor="ctr">
            <a:spAutoFit/>
          </a:bodyPr>
          <a:lstStyle/>
          <a:p>
            <a:pPr indent="0" marL="0">
              <a:buNone/>
            </a:pPr>
            <a:r>
              <a:rPr lang="en-US" sz="942" dirty="0">
                <a:solidFill>
                  <a:srgbClr val="333333"/>
                </a:solidFill>
                <a:latin typeface="Noto Sans" pitchFamily="34" charset="0"/>
                <a:ea typeface="Noto Sans" pitchFamily="34" charset="-122"/>
                <a:cs typeface="Noto Sans" pitchFamily="34" charset="-120"/>
              </a:rPr>
              <a:t>A comprehensive set of templates and guides to ensure brand consistency and high-quality content from day one. These resources are designed to be easy to use, even for beginners.</a:t>
            </a:r>
            <a:endParaRPr lang="en-US" sz="942" dirty="0"/>
          </a:p>
        </p:txBody>
      </p:sp>
      <p:sp>
        <p:nvSpPr>
          <p:cNvPr id="6" name="Text 3"/>
          <p:cNvSpPr/>
          <p:nvPr/>
        </p:nvSpPr>
        <p:spPr>
          <a:xfrm>
            <a:off x="342900" y="1971675"/>
            <a:ext cx="4000500" cy="228600"/>
          </a:xfrm>
          <a:prstGeom prst="rect">
            <a:avLst/>
          </a:prstGeom>
          <a:noFill/>
          <a:ln/>
        </p:spPr>
        <p:txBody>
          <a:bodyPr wrap="none" lIns="0" tIns="0" rIns="0" bIns="0" rtlCol="0" anchor="ctr">
            <a:spAutoFit/>
          </a:bodyPr>
          <a:lstStyle/>
          <a:p>
            <a:pPr indent="0" marL="0">
              <a:buNone/>
            </a:pPr>
            <a:r>
              <a:rPr lang="en-US" sz="1350" b="1" dirty="0">
                <a:solidFill>
                  <a:srgbClr val="1A365D"/>
                </a:solidFill>
                <a:latin typeface="Noto Sans" pitchFamily="34" charset="0"/>
                <a:ea typeface="Noto Sans" pitchFamily="34" charset="-122"/>
                <a:cs typeface="Noto Sans" pitchFamily="34" charset="-120"/>
              </a:rPr>
              <a:t>What's Included</a:t>
            </a:r>
            <a:endParaRPr lang="en-US" sz="1350" dirty="0"/>
          </a:p>
        </p:txBody>
      </p:sp>
      <p:sp>
        <p:nvSpPr>
          <p:cNvPr id="7" name="Text 4"/>
          <p:cNvSpPr/>
          <p:nvPr/>
        </p:nvSpPr>
        <p:spPr>
          <a:xfrm>
            <a:off x="517922" y="2327077"/>
            <a:ext cx="1249877" cy="175022"/>
          </a:xfrm>
          <a:prstGeom prst="rect">
            <a:avLst/>
          </a:prstGeom>
          <a:noFill/>
          <a:ln/>
        </p:spPr>
        <p:txBody>
          <a:bodyPr wrap="none" lIns="0" tIns="0" rIns="0" bIns="0" rtlCol="0" anchor="ctr">
            <a:spAutoFit/>
          </a:bodyPr>
          <a:lstStyle/>
          <a:p>
            <a:pPr algn="l" indent="0" marL="0">
              <a:buNone/>
            </a:pPr>
            <a:r>
              <a:rPr lang="en-US" sz="942" b="1" dirty="0">
                <a:solidFill>
                  <a:srgbClr val="FF7F50"/>
                </a:solidFill>
                <a:latin typeface="Noto Sans" pitchFamily="34" charset="0"/>
                <a:ea typeface="Noto Sans" pitchFamily="34" charset="-122"/>
                <a:cs typeface="Noto Sans" pitchFamily="34" charset="-120"/>
              </a:rPr>
              <a:t>Content Templates:</a:t>
            </a:r>
            <a:endParaRPr lang="en-US" sz="942" dirty="0"/>
          </a:p>
        </p:txBody>
      </p:sp>
      <p:sp>
        <p:nvSpPr>
          <p:cNvPr id="8" name="Text 5"/>
          <p:cNvSpPr/>
          <p:nvPr/>
        </p:nvSpPr>
        <p:spPr>
          <a:xfrm>
            <a:off x="1767799" y="2327077"/>
            <a:ext cx="2528301" cy="175022"/>
          </a:xfrm>
          <a:prstGeom prst="rect">
            <a:avLst/>
          </a:prstGeom>
          <a:noFill/>
          <a:ln/>
        </p:spPr>
        <p:txBody>
          <a:bodyPr wrap="none" lIns="0" tIns="0" rIns="0" bIns="0" rtlCol="0" anchor="ctr">
            <a:spAutoFit/>
          </a:bodyPr>
          <a:lstStyle/>
          <a:p>
            <a:pPr algn="l" indent="0" marL="0">
              <a:buNone/>
            </a:pPr>
            <a:r>
              <a:rPr lang="en-US" sz="942" dirty="0">
                <a:solidFill>
                  <a:srgbClr val="333333"/>
                </a:solidFill>
                <a:latin typeface="Noto Sans" pitchFamily="34" charset="0"/>
                <a:ea typeface="Noto Sans" pitchFamily="34" charset="-122"/>
                <a:cs typeface="Noto Sans" pitchFamily="34" charset="-120"/>
              </a:rPr>
              <a:t> For structuring your daily insights videos.</a:t>
            </a:r>
            <a:endParaRPr lang="en-US" sz="942" dirty="0"/>
          </a:p>
        </p:txBody>
      </p:sp>
      <p:sp>
        <p:nvSpPr>
          <p:cNvPr id="9" name="Text 6"/>
          <p:cNvSpPr/>
          <p:nvPr/>
        </p:nvSpPr>
        <p:spPr>
          <a:xfrm>
            <a:off x="517922" y="2584252"/>
            <a:ext cx="1103542" cy="175022"/>
          </a:xfrm>
          <a:prstGeom prst="rect">
            <a:avLst/>
          </a:prstGeom>
          <a:noFill/>
          <a:ln/>
        </p:spPr>
        <p:txBody>
          <a:bodyPr wrap="none" lIns="0" tIns="0" rIns="0" bIns="0" rtlCol="0" anchor="ctr">
            <a:spAutoFit/>
          </a:bodyPr>
          <a:lstStyle/>
          <a:p>
            <a:pPr algn="l" indent="0" marL="0">
              <a:buNone/>
            </a:pPr>
            <a:r>
              <a:rPr lang="en-US" sz="942" b="1" dirty="0">
                <a:solidFill>
                  <a:srgbClr val="FF7F50"/>
                </a:solidFill>
                <a:latin typeface="Noto Sans" pitchFamily="34" charset="0"/>
                <a:ea typeface="Noto Sans" pitchFamily="34" charset="-122"/>
                <a:cs typeface="Noto Sans" pitchFamily="34" charset="-120"/>
              </a:rPr>
              <a:t>Script Templates:</a:t>
            </a:r>
            <a:endParaRPr lang="en-US" sz="942" dirty="0"/>
          </a:p>
        </p:txBody>
      </p:sp>
      <p:sp>
        <p:nvSpPr>
          <p:cNvPr id="10" name="Text 7"/>
          <p:cNvSpPr/>
          <p:nvPr/>
        </p:nvSpPr>
        <p:spPr>
          <a:xfrm>
            <a:off x="342900" y="2584252"/>
            <a:ext cx="3321704" cy="375047"/>
          </a:xfrm>
          <a:prstGeom prst="rect">
            <a:avLst/>
          </a:prstGeom>
          <a:noFill/>
          <a:ln/>
        </p:spPr>
        <p:txBody>
          <a:bodyPr wrap="square" lIns="0" tIns="0" rIns="0" bIns="0" rtlCol="0" anchor="ctr">
            <a:spAutoFit/>
          </a:bodyPr>
          <a:lstStyle/>
          <a:p>
            <a:pPr algn="l" indent="0" marL="0">
              <a:buNone/>
            </a:pPr>
            <a:r>
              <a:rPr lang="en-US" sz="942" dirty="0">
                <a:solidFill>
                  <a:srgbClr val="333333"/>
                </a:solidFill>
                <a:latin typeface="Noto Sans" pitchFamily="34" charset="0"/>
                <a:ea typeface="Noto Sans" pitchFamily="34" charset="-122"/>
                <a:cs typeface="Noto Sans" pitchFamily="34" charset="-120"/>
              </a:rPr>
              <a:t> Optimized for NotebookLM video generation.</a:t>
            </a:r>
            <a:endParaRPr lang="en-US" sz="942" dirty="0"/>
          </a:p>
        </p:txBody>
      </p:sp>
      <p:sp>
        <p:nvSpPr>
          <p:cNvPr id="11" name="Text 8"/>
          <p:cNvSpPr/>
          <p:nvPr/>
        </p:nvSpPr>
        <p:spPr>
          <a:xfrm>
            <a:off x="517922" y="3041452"/>
            <a:ext cx="1199871" cy="175022"/>
          </a:xfrm>
          <a:prstGeom prst="rect">
            <a:avLst/>
          </a:prstGeom>
          <a:noFill/>
          <a:ln/>
        </p:spPr>
        <p:txBody>
          <a:bodyPr wrap="none" lIns="0" tIns="0" rIns="0" bIns="0" rtlCol="0" anchor="ctr">
            <a:spAutoFit/>
          </a:bodyPr>
          <a:lstStyle/>
          <a:p>
            <a:pPr algn="l" indent="0" marL="0">
              <a:buNone/>
            </a:pPr>
            <a:r>
              <a:rPr lang="en-US" sz="942" b="1" dirty="0">
                <a:solidFill>
                  <a:srgbClr val="FF7F50"/>
                </a:solidFill>
                <a:latin typeface="Noto Sans" pitchFamily="34" charset="0"/>
                <a:ea typeface="Noto Sans" pitchFamily="34" charset="-122"/>
                <a:cs typeface="Noto Sans" pitchFamily="34" charset="-120"/>
              </a:rPr>
              <a:t>Thumbnail Guides:</a:t>
            </a:r>
            <a:endParaRPr lang="en-US" sz="942" dirty="0"/>
          </a:p>
        </p:txBody>
      </p:sp>
      <p:sp>
        <p:nvSpPr>
          <p:cNvPr id="12" name="Text 9"/>
          <p:cNvSpPr/>
          <p:nvPr/>
        </p:nvSpPr>
        <p:spPr>
          <a:xfrm>
            <a:off x="342900" y="3041452"/>
            <a:ext cx="3560629" cy="375047"/>
          </a:xfrm>
          <a:prstGeom prst="rect">
            <a:avLst/>
          </a:prstGeom>
          <a:noFill/>
          <a:ln/>
        </p:spPr>
        <p:txBody>
          <a:bodyPr wrap="square" lIns="0" tIns="0" rIns="0" bIns="0" rtlCol="0" anchor="ctr">
            <a:spAutoFit/>
          </a:bodyPr>
          <a:lstStyle/>
          <a:p>
            <a:pPr algn="l" indent="0" marL="0">
              <a:buNone/>
            </a:pPr>
            <a:r>
              <a:rPr lang="en-US" sz="942" dirty="0">
                <a:solidFill>
                  <a:srgbClr val="333333"/>
                </a:solidFill>
                <a:latin typeface="Noto Sans" pitchFamily="34" charset="0"/>
                <a:ea typeface="Noto Sans" pitchFamily="34" charset="-122"/>
                <a:cs typeface="Noto Sans" pitchFamily="34" charset="-120"/>
              </a:rPr>
              <a:t> Best practices for creating high-CTR thumbnails.</a:t>
            </a:r>
            <a:endParaRPr lang="en-US" sz="942" dirty="0"/>
          </a:p>
        </p:txBody>
      </p:sp>
      <p:sp>
        <p:nvSpPr>
          <p:cNvPr id="13" name="Text 10"/>
          <p:cNvSpPr/>
          <p:nvPr/>
        </p:nvSpPr>
        <p:spPr>
          <a:xfrm>
            <a:off x="517922" y="3498652"/>
            <a:ext cx="753414" cy="175022"/>
          </a:xfrm>
          <a:prstGeom prst="rect">
            <a:avLst/>
          </a:prstGeom>
          <a:noFill/>
          <a:ln/>
        </p:spPr>
        <p:txBody>
          <a:bodyPr wrap="none" lIns="0" tIns="0" rIns="0" bIns="0" rtlCol="0" anchor="ctr">
            <a:spAutoFit/>
          </a:bodyPr>
          <a:lstStyle/>
          <a:p>
            <a:pPr algn="l" indent="0" marL="0">
              <a:buNone/>
            </a:pPr>
            <a:r>
              <a:rPr lang="en-US" sz="942" b="1" dirty="0">
                <a:solidFill>
                  <a:srgbClr val="FF7F50"/>
                </a:solidFill>
                <a:latin typeface="Noto Sans" pitchFamily="34" charset="0"/>
                <a:ea typeface="Noto Sans" pitchFamily="34" charset="-122"/>
                <a:cs typeface="Noto Sans" pitchFamily="34" charset="-120"/>
              </a:rPr>
              <a:t>SEO Guides:</a:t>
            </a:r>
            <a:endParaRPr lang="en-US" sz="942" dirty="0"/>
          </a:p>
        </p:txBody>
      </p:sp>
      <p:sp>
        <p:nvSpPr>
          <p:cNvPr id="14" name="Text 11"/>
          <p:cNvSpPr/>
          <p:nvPr/>
        </p:nvSpPr>
        <p:spPr>
          <a:xfrm>
            <a:off x="342900" y="3498652"/>
            <a:ext cx="3507274" cy="375047"/>
          </a:xfrm>
          <a:prstGeom prst="rect">
            <a:avLst/>
          </a:prstGeom>
          <a:noFill/>
          <a:ln/>
        </p:spPr>
        <p:txBody>
          <a:bodyPr wrap="square" lIns="0" tIns="0" rIns="0" bIns="0" rtlCol="0" anchor="ctr">
            <a:spAutoFit/>
          </a:bodyPr>
          <a:lstStyle/>
          <a:p>
            <a:pPr algn="l" indent="0" marL="0">
              <a:buNone/>
            </a:pPr>
            <a:r>
              <a:rPr lang="en-US" sz="942" dirty="0">
                <a:solidFill>
                  <a:srgbClr val="333333"/>
                </a:solidFill>
                <a:latin typeface="Noto Sans" pitchFamily="34" charset="0"/>
                <a:ea typeface="Noto Sans" pitchFamily="34" charset="-122"/>
                <a:cs typeface="Noto Sans" pitchFamily="34" charset="-120"/>
              </a:rPr>
              <a:t> To help your videos get discovered by new viewers.</a:t>
            </a:r>
            <a:endParaRPr lang="en-US" sz="942" dirty="0"/>
          </a:p>
        </p:txBody>
      </p:sp>
      <p:sp>
        <p:nvSpPr>
          <p:cNvPr id="15" name="Text 12"/>
          <p:cNvSpPr/>
          <p:nvPr/>
        </p:nvSpPr>
        <p:spPr>
          <a:xfrm>
            <a:off x="517922" y="3955852"/>
            <a:ext cx="1164878" cy="175022"/>
          </a:xfrm>
          <a:prstGeom prst="rect">
            <a:avLst/>
          </a:prstGeom>
          <a:noFill/>
          <a:ln/>
        </p:spPr>
        <p:txBody>
          <a:bodyPr wrap="none" lIns="0" tIns="0" rIns="0" bIns="0" rtlCol="0" anchor="ctr">
            <a:spAutoFit/>
          </a:bodyPr>
          <a:lstStyle/>
          <a:p>
            <a:pPr algn="l" indent="0" marL="0">
              <a:buNone/>
            </a:pPr>
            <a:r>
              <a:rPr lang="en-US" sz="942" b="1" dirty="0">
                <a:solidFill>
                  <a:srgbClr val="FF7F50"/>
                </a:solidFill>
                <a:latin typeface="Noto Sans" pitchFamily="34" charset="0"/>
                <a:ea typeface="Noto Sans" pitchFamily="34" charset="-122"/>
                <a:cs typeface="Noto Sans" pitchFamily="34" charset="-120"/>
              </a:rPr>
              <a:t>Content Calendar:</a:t>
            </a:r>
            <a:endParaRPr lang="en-US" sz="942" dirty="0"/>
          </a:p>
        </p:txBody>
      </p:sp>
      <p:sp>
        <p:nvSpPr>
          <p:cNvPr id="16" name="Text 13"/>
          <p:cNvSpPr/>
          <p:nvPr/>
        </p:nvSpPr>
        <p:spPr>
          <a:xfrm>
            <a:off x="1682800" y="3955852"/>
            <a:ext cx="2482146" cy="175022"/>
          </a:xfrm>
          <a:prstGeom prst="rect">
            <a:avLst/>
          </a:prstGeom>
          <a:noFill/>
          <a:ln/>
        </p:spPr>
        <p:txBody>
          <a:bodyPr wrap="none" lIns="0" tIns="0" rIns="0" bIns="0" rtlCol="0" anchor="ctr">
            <a:spAutoFit/>
          </a:bodyPr>
          <a:lstStyle/>
          <a:p>
            <a:pPr algn="l" indent="0" marL="0">
              <a:buNone/>
            </a:pPr>
            <a:r>
              <a:rPr lang="en-US" sz="942" dirty="0">
                <a:solidFill>
                  <a:srgbClr val="333333"/>
                </a:solidFill>
                <a:latin typeface="Noto Sans" pitchFamily="34" charset="0"/>
                <a:ea typeface="Noto Sans" pitchFamily="34" charset="-122"/>
                <a:cs typeface="Noto Sans" pitchFamily="34" charset="-120"/>
              </a:rPr>
              <a:t> To plan and track your content schedule.</a:t>
            </a:r>
            <a:endParaRPr lang="en-US" sz="942" dirty="0"/>
          </a:p>
        </p:txBody>
      </p:sp>
      <p:sp>
        <p:nvSpPr>
          <p:cNvPr id="17" name="Shape 14"/>
          <p:cNvSpPr/>
          <p:nvPr/>
        </p:nvSpPr>
        <p:spPr>
          <a:xfrm>
            <a:off x="4908845" y="2343150"/>
            <a:ext cx="1720555" cy="428625"/>
          </a:xfrm>
          <a:prstGeom prst="rect">
            <a:avLst/>
          </a:prstGeom>
          <a:solidFill>
            <a:srgbClr val="F0F4F8"/>
          </a:solidFill>
          <a:ln w="198">
            <a:solidFill>
              <a:srgbClr val="1A365D"/>
            </a:solidFill>
            <a:prstDash val="solid"/>
          </a:ln>
        </p:spPr>
      </p:sp>
      <p:sp>
        <p:nvSpPr>
          <p:cNvPr id="18" name="Text 15"/>
          <p:cNvSpPr/>
          <p:nvPr/>
        </p:nvSpPr>
        <p:spPr>
          <a:xfrm>
            <a:off x="4908845" y="2343150"/>
            <a:ext cx="1720555" cy="428625"/>
          </a:xfrm>
          <a:prstGeom prst="rect">
            <a:avLst/>
          </a:prstGeom>
          <a:noFill/>
          <a:ln/>
        </p:spPr>
        <p:txBody>
          <a:bodyPr wrap="square" lIns="136017" tIns="136017" rIns="136017" bIns="136017" rtlCol="0" anchor="ctr">
            <a:spAutoFit/>
          </a:bodyPr>
          <a:lstStyle/>
          <a:p>
            <a:pPr algn="ctr" indent="0" marL="0">
              <a:buNone/>
            </a:pPr>
            <a:r>
              <a:rPr lang="en-US" sz="837" b="1" dirty="0">
                <a:solidFill>
                  <a:srgbClr val="1A365D"/>
                </a:solidFill>
                <a:latin typeface="Noto Sans" pitchFamily="34" charset="0"/>
                <a:ea typeface="Noto Sans" pitchFamily="34" charset="-122"/>
                <a:cs typeface="Noto Sans" pitchFamily="34" charset="-120"/>
              </a:rPr>
              <a:t>General Content Template</a:t>
            </a:r>
            <a:endParaRPr lang="en-US" sz="837" dirty="0"/>
          </a:p>
        </p:txBody>
      </p:sp>
      <p:sp>
        <p:nvSpPr>
          <p:cNvPr id="19" name="Shape 16"/>
          <p:cNvSpPr/>
          <p:nvPr/>
        </p:nvSpPr>
        <p:spPr>
          <a:xfrm>
            <a:off x="6743700" y="2343150"/>
            <a:ext cx="1691980" cy="428625"/>
          </a:xfrm>
          <a:prstGeom prst="rect">
            <a:avLst/>
          </a:prstGeom>
          <a:solidFill>
            <a:srgbClr val="F0F4F8"/>
          </a:solidFill>
          <a:ln w="198">
            <a:solidFill>
              <a:srgbClr val="1A365D"/>
            </a:solidFill>
            <a:prstDash val="solid"/>
          </a:ln>
        </p:spPr>
      </p:sp>
      <p:sp>
        <p:nvSpPr>
          <p:cNvPr id="20" name="Text 17"/>
          <p:cNvSpPr/>
          <p:nvPr/>
        </p:nvSpPr>
        <p:spPr>
          <a:xfrm>
            <a:off x="6743700" y="2343150"/>
            <a:ext cx="1691980" cy="428625"/>
          </a:xfrm>
          <a:prstGeom prst="rect">
            <a:avLst/>
          </a:prstGeom>
          <a:noFill/>
          <a:ln/>
        </p:spPr>
        <p:txBody>
          <a:bodyPr wrap="square" lIns="136017" tIns="136017" rIns="136017" bIns="136017" rtlCol="0" anchor="ctr">
            <a:spAutoFit/>
          </a:bodyPr>
          <a:lstStyle/>
          <a:p>
            <a:pPr algn="ctr" indent="0" marL="0">
              <a:buNone/>
            </a:pPr>
            <a:r>
              <a:rPr lang="en-US" sz="837" b="1" dirty="0">
                <a:solidFill>
                  <a:srgbClr val="1A365D"/>
                </a:solidFill>
                <a:latin typeface="Noto Sans" pitchFamily="34" charset="0"/>
                <a:ea typeface="Noto Sans" pitchFamily="34" charset="-122"/>
                <a:cs typeface="Noto Sans" pitchFamily="34" charset="-120"/>
              </a:rPr>
              <a:t>Script Template</a:t>
            </a:r>
            <a:endParaRPr lang="en-US" sz="837" dirty="0"/>
          </a:p>
        </p:txBody>
      </p:sp>
      <p:sp>
        <p:nvSpPr>
          <p:cNvPr id="21" name="Shape 18"/>
          <p:cNvSpPr/>
          <p:nvPr/>
        </p:nvSpPr>
        <p:spPr>
          <a:xfrm>
            <a:off x="4937420" y="2871788"/>
            <a:ext cx="1691980" cy="428625"/>
          </a:xfrm>
          <a:prstGeom prst="rect">
            <a:avLst/>
          </a:prstGeom>
          <a:solidFill>
            <a:srgbClr val="F0F4F8"/>
          </a:solidFill>
          <a:ln w="198">
            <a:solidFill>
              <a:srgbClr val="1A365D"/>
            </a:solidFill>
            <a:prstDash val="solid"/>
          </a:ln>
        </p:spPr>
      </p:sp>
      <p:sp>
        <p:nvSpPr>
          <p:cNvPr id="22" name="Text 19"/>
          <p:cNvSpPr/>
          <p:nvPr/>
        </p:nvSpPr>
        <p:spPr>
          <a:xfrm>
            <a:off x="4937420" y="2871788"/>
            <a:ext cx="1691980" cy="428625"/>
          </a:xfrm>
          <a:prstGeom prst="rect">
            <a:avLst/>
          </a:prstGeom>
          <a:noFill/>
          <a:ln/>
        </p:spPr>
        <p:txBody>
          <a:bodyPr wrap="square" lIns="136017" tIns="136017" rIns="136017" bIns="136017" rtlCol="0" anchor="ctr">
            <a:spAutoFit/>
          </a:bodyPr>
          <a:lstStyle/>
          <a:p>
            <a:pPr algn="ctr" indent="0" marL="0">
              <a:buNone/>
            </a:pPr>
            <a:r>
              <a:rPr lang="en-US" sz="837" b="1" dirty="0">
                <a:solidFill>
                  <a:srgbClr val="1A365D"/>
                </a:solidFill>
                <a:latin typeface="Noto Sans" pitchFamily="34" charset="0"/>
                <a:ea typeface="Noto Sans" pitchFamily="34" charset="-122"/>
                <a:cs typeface="Noto Sans" pitchFamily="34" charset="-120"/>
              </a:rPr>
              <a:t>Thumbnail Design Guide</a:t>
            </a:r>
            <a:endParaRPr lang="en-US" sz="837" dirty="0"/>
          </a:p>
        </p:txBody>
      </p:sp>
      <p:sp>
        <p:nvSpPr>
          <p:cNvPr id="23" name="Shape 20"/>
          <p:cNvSpPr/>
          <p:nvPr/>
        </p:nvSpPr>
        <p:spPr>
          <a:xfrm>
            <a:off x="6743700" y="2871788"/>
            <a:ext cx="1691980" cy="428625"/>
          </a:xfrm>
          <a:prstGeom prst="rect">
            <a:avLst/>
          </a:prstGeom>
          <a:solidFill>
            <a:srgbClr val="F0F4F8"/>
          </a:solidFill>
          <a:ln w="198">
            <a:solidFill>
              <a:srgbClr val="1A365D"/>
            </a:solidFill>
            <a:prstDash val="solid"/>
          </a:ln>
        </p:spPr>
      </p:sp>
      <p:sp>
        <p:nvSpPr>
          <p:cNvPr id="24" name="Text 21"/>
          <p:cNvSpPr/>
          <p:nvPr/>
        </p:nvSpPr>
        <p:spPr>
          <a:xfrm>
            <a:off x="6743700" y="2871788"/>
            <a:ext cx="1691980" cy="428625"/>
          </a:xfrm>
          <a:prstGeom prst="rect">
            <a:avLst/>
          </a:prstGeom>
          <a:noFill/>
          <a:ln/>
        </p:spPr>
        <p:txBody>
          <a:bodyPr wrap="square" lIns="136017" tIns="136017" rIns="136017" bIns="136017" rtlCol="0" anchor="ctr">
            <a:spAutoFit/>
          </a:bodyPr>
          <a:lstStyle/>
          <a:p>
            <a:pPr algn="ctr" indent="0" marL="0">
              <a:buNone/>
            </a:pPr>
            <a:r>
              <a:rPr lang="en-US" sz="837" b="1" dirty="0">
                <a:solidFill>
                  <a:srgbClr val="1A365D"/>
                </a:solidFill>
                <a:latin typeface="Noto Sans" pitchFamily="34" charset="0"/>
                <a:ea typeface="Noto Sans" pitchFamily="34" charset="-122"/>
                <a:cs typeface="Noto Sans" pitchFamily="34" charset="-120"/>
              </a:rPr>
              <a:t>SEO Optimization Guide</a:t>
            </a:r>
            <a:endParaRPr lang="en-US" sz="837"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342900" y="342900"/>
            <a:ext cx="8458200" cy="285750"/>
          </a:xfrm>
          <a:prstGeom prst="rect">
            <a:avLst/>
          </a:prstGeom>
          <a:noFill/>
          <a:ln/>
        </p:spPr>
        <p:txBody>
          <a:bodyPr wrap="none" lIns="0" tIns="0" rIns="0" bIns="0" rtlCol="0" anchor="ctr">
            <a:spAutoFit/>
          </a:bodyPr>
          <a:lstStyle/>
          <a:p>
            <a:pPr algn="ctr" indent="0" marL="0">
              <a:buNone/>
            </a:pPr>
            <a:r>
              <a:rPr lang="en-US" sz="2025" b="1" dirty="0">
                <a:solidFill>
                  <a:srgbClr val="1A365D"/>
                </a:solidFill>
                <a:latin typeface="Noto Sans" pitchFamily="34" charset="0"/>
                <a:ea typeface="Noto Sans" pitchFamily="34" charset="-122"/>
                <a:cs typeface="Noto Sans" pitchFamily="34" charset="-120"/>
              </a:rPr>
              <a:t>Visual Assets &amp; Branding</a:t>
            </a:r>
            <a:endParaRPr lang="en-US" sz="2025" dirty="0"/>
          </a:p>
        </p:txBody>
      </p:sp>
      <p:sp>
        <p:nvSpPr>
          <p:cNvPr id="4" name="Text 1"/>
          <p:cNvSpPr/>
          <p:nvPr/>
        </p:nvSpPr>
        <p:spPr>
          <a:xfrm>
            <a:off x="342900" y="857250"/>
            <a:ext cx="4000500" cy="228600"/>
          </a:xfrm>
          <a:prstGeom prst="rect">
            <a:avLst/>
          </a:prstGeom>
          <a:noFill/>
          <a:ln/>
        </p:spPr>
        <p:txBody>
          <a:bodyPr wrap="none" lIns="0" tIns="0" rIns="0" bIns="0" rtlCol="0" anchor="ctr">
            <a:spAutoFit/>
          </a:bodyPr>
          <a:lstStyle/>
          <a:p>
            <a:pPr indent="0" marL="0">
              <a:buNone/>
            </a:pPr>
            <a:r>
              <a:rPr lang="en-US" sz="1350" b="1" dirty="0">
                <a:solidFill>
                  <a:srgbClr val="1A365D"/>
                </a:solidFill>
                <a:latin typeface="Noto Sans" pitchFamily="34" charset="0"/>
                <a:ea typeface="Noto Sans" pitchFamily="34" charset="-122"/>
                <a:cs typeface="Noto Sans" pitchFamily="34" charset="-120"/>
              </a:rPr>
              <a:t>A Cohesive &amp; Professional Brand</a:t>
            </a:r>
            <a:endParaRPr lang="en-US" sz="1350" dirty="0"/>
          </a:p>
        </p:txBody>
      </p:sp>
      <p:sp>
        <p:nvSpPr>
          <p:cNvPr id="5" name="Text 2"/>
          <p:cNvSpPr/>
          <p:nvPr/>
        </p:nvSpPr>
        <p:spPr>
          <a:xfrm>
            <a:off x="342900" y="1200150"/>
            <a:ext cx="4000500" cy="800100"/>
          </a:xfrm>
          <a:prstGeom prst="rect">
            <a:avLst/>
          </a:prstGeom>
          <a:noFill/>
          <a:ln/>
        </p:spPr>
        <p:txBody>
          <a:bodyPr wrap="square" lIns="0" tIns="0" rIns="0" bIns="0" rtlCol="0" anchor="ctr">
            <a:spAutoFit/>
          </a:bodyPr>
          <a:lstStyle/>
          <a:p>
            <a:pPr indent="0" marL="0">
              <a:buNone/>
            </a:pPr>
            <a:r>
              <a:rPr lang="en-US" sz="942" dirty="0">
                <a:solidFill>
                  <a:srgbClr val="333333"/>
                </a:solidFill>
                <a:latin typeface="Noto Sans" pitchFamily="34" charset="0"/>
                <a:ea typeface="Noto Sans" pitchFamily="34" charset="-122"/>
                <a:cs typeface="Noto Sans" pitchFamily="34" charset="-120"/>
              </a:rPr>
              <a:t>A complete set of visual assets to ensure your channel has a professional and consistent brand identity from day one. These assets are designed to be modern, authoritative, and visually appealing.</a:t>
            </a:r>
            <a:endParaRPr lang="en-US" sz="942" dirty="0"/>
          </a:p>
        </p:txBody>
      </p:sp>
      <p:sp>
        <p:nvSpPr>
          <p:cNvPr id="6" name="Text 3"/>
          <p:cNvSpPr/>
          <p:nvPr/>
        </p:nvSpPr>
        <p:spPr>
          <a:xfrm>
            <a:off x="342900" y="2171700"/>
            <a:ext cx="4000500" cy="228600"/>
          </a:xfrm>
          <a:prstGeom prst="rect">
            <a:avLst/>
          </a:prstGeom>
          <a:noFill/>
          <a:ln/>
        </p:spPr>
        <p:txBody>
          <a:bodyPr wrap="none" lIns="0" tIns="0" rIns="0" bIns="0" rtlCol="0" anchor="ctr">
            <a:spAutoFit/>
          </a:bodyPr>
          <a:lstStyle/>
          <a:p>
            <a:pPr indent="0" marL="0">
              <a:buNone/>
            </a:pPr>
            <a:r>
              <a:rPr lang="en-US" sz="1350" b="1" dirty="0">
                <a:solidFill>
                  <a:srgbClr val="1A365D"/>
                </a:solidFill>
                <a:latin typeface="Noto Sans" pitchFamily="34" charset="0"/>
                <a:ea typeface="Noto Sans" pitchFamily="34" charset="-122"/>
                <a:cs typeface="Noto Sans" pitchFamily="34" charset="-120"/>
              </a:rPr>
              <a:t>Key Assets</a:t>
            </a:r>
            <a:endParaRPr lang="en-US" sz="1350" dirty="0"/>
          </a:p>
        </p:txBody>
      </p:sp>
      <p:sp>
        <p:nvSpPr>
          <p:cNvPr id="7" name="Text 4"/>
          <p:cNvSpPr/>
          <p:nvPr/>
        </p:nvSpPr>
        <p:spPr>
          <a:xfrm>
            <a:off x="517922" y="2527102"/>
            <a:ext cx="349904" cy="175022"/>
          </a:xfrm>
          <a:prstGeom prst="rect">
            <a:avLst/>
          </a:prstGeom>
          <a:noFill/>
          <a:ln/>
        </p:spPr>
        <p:txBody>
          <a:bodyPr wrap="none" lIns="0" tIns="0" rIns="0" bIns="0" rtlCol="0" anchor="ctr">
            <a:spAutoFit/>
          </a:bodyPr>
          <a:lstStyle/>
          <a:p>
            <a:pPr algn="l" indent="0" marL="0">
              <a:buNone/>
            </a:pPr>
            <a:r>
              <a:rPr lang="en-US" sz="942" b="1" dirty="0">
                <a:solidFill>
                  <a:srgbClr val="FF7F50"/>
                </a:solidFill>
                <a:latin typeface="Noto Sans" pitchFamily="34" charset="0"/>
                <a:ea typeface="Noto Sans" pitchFamily="34" charset="-122"/>
                <a:cs typeface="Noto Sans" pitchFamily="34" charset="-120"/>
              </a:rPr>
              <a:t>Logo:</a:t>
            </a:r>
            <a:endParaRPr lang="en-US" sz="942" dirty="0"/>
          </a:p>
        </p:txBody>
      </p:sp>
      <p:sp>
        <p:nvSpPr>
          <p:cNvPr id="8" name="Text 5"/>
          <p:cNvSpPr/>
          <p:nvPr/>
        </p:nvSpPr>
        <p:spPr>
          <a:xfrm>
            <a:off x="342900" y="2527102"/>
            <a:ext cx="3275800" cy="375047"/>
          </a:xfrm>
          <a:prstGeom prst="rect">
            <a:avLst/>
          </a:prstGeom>
          <a:noFill/>
          <a:ln/>
        </p:spPr>
        <p:txBody>
          <a:bodyPr wrap="square" lIns="0" tIns="0" rIns="0" bIns="0" rtlCol="0" anchor="ctr">
            <a:spAutoFit/>
          </a:bodyPr>
          <a:lstStyle/>
          <a:p>
            <a:pPr algn="l" indent="0" marL="0">
              <a:buNone/>
            </a:pPr>
            <a:r>
              <a:rPr lang="en-US" sz="942" dirty="0">
                <a:solidFill>
                  <a:srgbClr val="333333"/>
                </a:solidFill>
                <a:latin typeface="Noto Sans" pitchFamily="34" charset="0"/>
                <a:ea typeface="Noto Sans" pitchFamily="34" charset="-122"/>
                <a:cs typeface="Noto Sans" pitchFamily="34" charset="-120"/>
              </a:rPr>
              <a:t> A modern and professional logo that is easily recognizable.</a:t>
            </a:r>
            <a:endParaRPr lang="en-US" sz="942" dirty="0"/>
          </a:p>
        </p:txBody>
      </p:sp>
      <p:sp>
        <p:nvSpPr>
          <p:cNvPr id="9" name="Text 6"/>
          <p:cNvSpPr/>
          <p:nvPr/>
        </p:nvSpPr>
        <p:spPr>
          <a:xfrm>
            <a:off x="517922" y="2984302"/>
            <a:ext cx="863473" cy="175022"/>
          </a:xfrm>
          <a:prstGeom prst="rect">
            <a:avLst/>
          </a:prstGeom>
          <a:noFill/>
          <a:ln/>
        </p:spPr>
        <p:txBody>
          <a:bodyPr wrap="none" lIns="0" tIns="0" rIns="0" bIns="0" rtlCol="0" anchor="ctr">
            <a:spAutoFit/>
          </a:bodyPr>
          <a:lstStyle/>
          <a:p>
            <a:pPr algn="l" indent="0" marL="0">
              <a:buNone/>
            </a:pPr>
            <a:r>
              <a:rPr lang="en-US" sz="942" b="1" dirty="0">
                <a:solidFill>
                  <a:srgbClr val="FF7F50"/>
                </a:solidFill>
                <a:latin typeface="Noto Sans" pitchFamily="34" charset="0"/>
                <a:ea typeface="Noto Sans" pitchFamily="34" charset="-122"/>
                <a:cs typeface="Noto Sans" pitchFamily="34" charset="-120"/>
              </a:rPr>
              <a:t>Lower Thirds:</a:t>
            </a:r>
            <a:endParaRPr lang="en-US" sz="942" dirty="0"/>
          </a:p>
        </p:txBody>
      </p:sp>
      <p:sp>
        <p:nvSpPr>
          <p:cNvPr id="10" name="Text 7"/>
          <p:cNvSpPr/>
          <p:nvPr/>
        </p:nvSpPr>
        <p:spPr>
          <a:xfrm>
            <a:off x="342900" y="2984302"/>
            <a:ext cx="3840435" cy="375047"/>
          </a:xfrm>
          <a:prstGeom prst="rect">
            <a:avLst/>
          </a:prstGeom>
          <a:noFill/>
          <a:ln/>
        </p:spPr>
        <p:txBody>
          <a:bodyPr wrap="square" lIns="0" tIns="0" rIns="0" bIns="0" rtlCol="0" anchor="ctr">
            <a:spAutoFit/>
          </a:bodyPr>
          <a:lstStyle/>
          <a:p>
            <a:pPr algn="l" indent="0" marL="0">
              <a:buNone/>
            </a:pPr>
            <a:r>
              <a:rPr lang="en-US" sz="942" dirty="0">
                <a:solidFill>
                  <a:srgbClr val="333333"/>
                </a:solidFill>
                <a:latin typeface="Noto Sans" pitchFamily="34" charset="0"/>
                <a:ea typeface="Noto Sans" pitchFamily="34" charset="-122"/>
                <a:cs typeface="Noto Sans" pitchFamily="34" charset="-120"/>
              </a:rPr>
              <a:t> Clean and professional graphics for on-screen text.</a:t>
            </a:r>
            <a:endParaRPr lang="en-US" sz="942" dirty="0"/>
          </a:p>
        </p:txBody>
      </p:sp>
      <p:sp>
        <p:nvSpPr>
          <p:cNvPr id="11" name="Text 8"/>
          <p:cNvSpPr/>
          <p:nvPr/>
        </p:nvSpPr>
        <p:spPr>
          <a:xfrm>
            <a:off x="517922" y="3441502"/>
            <a:ext cx="792231" cy="175022"/>
          </a:xfrm>
          <a:prstGeom prst="rect">
            <a:avLst/>
          </a:prstGeom>
          <a:noFill/>
          <a:ln/>
        </p:spPr>
        <p:txBody>
          <a:bodyPr wrap="none" lIns="0" tIns="0" rIns="0" bIns="0" rtlCol="0" anchor="ctr">
            <a:spAutoFit/>
          </a:bodyPr>
          <a:lstStyle/>
          <a:p>
            <a:pPr algn="l" indent="0" marL="0">
              <a:buNone/>
            </a:pPr>
            <a:r>
              <a:rPr lang="en-US" sz="942" b="1" dirty="0">
                <a:solidFill>
                  <a:srgbClr val="FF7F50"/>
                </a:solidFill>
                <a:latin typeface="Noto Sans" pitchFamily="34" charset="0"/>
                <a:ea typeface="Noto Sans" pitchFamily="34" charset="-122"/>
                <a:cs typeface="Noto Sans" pitchFamily="34" charset="-120"/>
              </a:rPr>
              <a:t>Thumbnails:</a:t>
            </a:r>
            <a:endParaRPr lang="en-US" sz="942" dirty="0"/>
          </a:p>
        </p:txBody>
      </p:sp>
      <p:sp>
        <p:nvSpPr>
          <p:cNvPr id="12" name="Text 9"/>
          <p:cNvSpPr/>
          <p:nvPr/>
        </p:nvSpPr>
        <p:spPr>
          <a:xfrm>
            <a:off x="342900" y="3441502"/>
            <a:ext cx="3838873" cy="375047"/>
          </a:xfrm>
          <a:prstGeom prst="rect">
            <a:avLst/>
          </a:prstGeom>
          <a:noFill/>
          <a:ln/>
        </p:spPr>
        <p:txBody>
          <a:bodyPr wrap="square" lIns="0" tIns="0" rIns="0" bIns="0" rtlCol="0" anchor="ctr">
            <a:spAutoFit/>
          </a:bodyPr>
          <a:lstStyle/>
          <a:p>
            <a:pPr algn="l" indent="0" marL="0">
              <a:buNone/>
            </a:pPr>
            <a:r>
              <a:rPr lang="en-US" sz="942" dirty="0">
                <a:solidFill>
                  <a:srgbClr val="333333"/>
                </a:solidFill>
                <a:latin typeface="Noto Sans" pitchFamily="34" charset="0"/>
                <a:ea typeface="Noto Sans" pitchFamily="34" charset="-122"/>
                <a:cs typeface="Noto Sans" pitchFamily="34" charset="-120"/>
              </a:rPr>
              <a:t> Eye-catching templates designed for high click-through rates.</a:t>
            </a:r>
            <a:endParaRPr lang="en-US" sz="942" dirty="0"/>
          </a:p>
        </p:txBody>
      </p:sp>
      <p:sp>
        <p:nvSpPr>
          <p:cNvPr id="13" name="Text 10"/>
          <p:cNvSpPr/>
          <p:nvPr/>
        </p:nvSpPr>
        <p:spPr>
          <a:xfrm>
            <a:off x="517922" y="3898702"/>
            <a:ext cx="877621" cy="175022"/>
          </a:xfrm>
          <a:prstGeom prst="rect">
            <a:avLst/>
          </a:prstGeom>
          <a:noFill/>
          <a:ln/>
        </p:spPr>
        <p:txBody>
          <a:bodyPr wrap="none" lIns="0" tIns="0" rIns="0" bIns="0" rtlCol="0" anchor="ctr">
            <a:spAutoFit/>
          </a:bodyPr>
          <a:lstStyle/>
          <a:p>
            <a:pPr algn="l" indent="0" marL="0">
              <a:buNone/>
            </a:pPr>
            <a:r>
              <a:rPr lang="en-US" sz="942" b="1" dirty="0">
                <a:solidFill>
                  <a:srgbClr val="FF7F50"/>
                </a:solidFill>
                <a:latin typeface="Noto Sans" pitchFamily="34" charset="0"/>
                <a:ea typeface="Noto Sans" pitchFamily="34" charset="-122"/>
                <a:cs typeface="Noto Sans" pitchFamily="34" charset="-120"/>
              </a:rPr>
              <a:t>Backgrounds:</a:t>
            </a:r>
            <a:endParaRPr lang="en-US" sz="942" dirty="0"/>
          </a:p>
        </p:txBody>
      </p:sp>
      <p:sp>
        <p:nvSpPr>
          <p:cNvPr id="14" name="Text 11"/>
          <p:cNvSpPr/>
          <p:nvPr/>
        </p:nvSpPr>
        <p:spPr>
          <a:xfrm>
            <a:off x="342900" y="3898702"/>
            <a:ext cx="3868480" cy="375047"/>
          </a:xfrm>
          <a:prstGeom prst="rect">
            <a:avLst/>
          </a:prstGeom>
          <a:noFill/>
          <a:ln/>
        </p:spPr>
        <p:txBody>
          <a:bodyPr wrap="square" lIns="0" tIns="0" rIns="0" bIns="0" rtlCol="0" anchor="ctr">
            <a:spAutoFit/>
          </a:bodyPr>
          <a:lstStyle/>
          <a:p>
            <a:pPr algn="l" indent="0" marL="0">
              <a:buNone/>
            </a:pPr>
            <a:r>
              <a:rPr lang="en-US" sz="942" dirty="0">
                <a:solidFill>
                  <a:srgbClr val="333333"/>
                </a:solidFill>
                <a:latin typeface="Noto Sans" pitchFamily="34" charset="0"/>
                <a:ea typeface="Noto Sans" pitchFamily="34" charset="-122"/>
                <a:cs typeface="Noto Sans" pitchFamily="34" charset="-120"/>
              </a:rPr>
              <a:t> Professional and non-distracting backgrounds for your videos.</a:t>
            </a:r>
            <a:endParaRPr lang="en-US" sz="942" dirty="0"/>
          </a:p>
        </p:txBody>
      </p:sp>
      <p:pic>
        <p:nvPicPr>
          <p:cNvPr id="15" name="Image 1" descr="preencoded.png">    </p:cNvPr>
          <p:cNvPicPr>
            <a:picLocks noChangeAspect="1"/>
          </p:cNvPicPr>
          <p:nvPr/>
        </p:nvPicPr>
        <p:blipFill>
          <a:blip r:embed="rId2"/>
          <a:stretch>
            <a:fillRect/>
          </a:stretch>
        </p:blipFill>
        <p:spPr>
          <a:xfrm>
            <a:off x="4586288" y="1066791"/>
            <a:ext cx="2028825" cy="2028825"/>
          </a:xfrm>
          <a:prstGeom prst="rect">
            <a:avLst/>
          </a:prstGeom>
        </p:spPr>
      </p:pic>
      <p:pic>
        <p:nvPicPr>
          <p:cNvPr id="16" name="Image 2" descr="preencoded.png">    </p:cNvPr>
          <p:cNvPicPr>
            <a:picLocks noChangeAspect="1"/>
          </p:cNvPicPr>
          <p:nvPr/>
        </p:nvPicPr>
        <p:blipFill>
          <a:blip r:embed="rId3"/>
          <a:stretch>
            <a:fillRect/>
          </a:stretch>
        </p:blipFill>
        <p:spPr>
          <a:xfrm>
            <a:off x="6757988" y="1066791"/>
            <a:ext cx="2028825" cy="2028825"/>
          </a:xfrm>
          <a:prstGeom prst="rect">
            <a:avLst/>
          </a:prstGeom>
        </p:spPr>
      </p:pic>
      <p:pic>
        <p:nvPicPr>
          <p:cNvPr id="17" name="Image 3" descr="preencoded.png">    </p:cNvPr>
          <p:cNvPicPr>
            <a:picLocks noChangeAspect="1"/>
          </p:cNvPicPr>
          <p:nvPr/>
        </p:nvPicPr>
        <p:blipFill>
          <a:blip r:embed="rId4"/>
          <a:stretch>
            <a:fillRect/>
          </a:stretch>
        </p:blipFill>
        <p:spPr>
          <a:xfrm>
            <a:off x="4586288" y="3238491"/>
            <a:ext cx="2028825" cy="1352541"/>
          </a:xfrm>
          <a:prstGeom prst="rect">
            <a:avLst/>
          </a:prstGeom>
        </p:spPr>
      </p:pic>
      <p:pic>
        <p:nvPicPr>
          <p:cNvPr id="18" name="Image 4" descr="preencoded.png">    </p:cNvPr>
          <p:cNvPicPr>
            <a:picLocks noChangeAspect="1"/>
          </p:cNvPicPr>
          <p:nvPr/>
        </p:nvPicPr>
        <p:blipFill>
          <a:blip r:embed="rId5"/>
          <a:stretch>
            <a:fillRect/>
          </a:stretch>
        </p:blipFill>
        <p:spPr>
          <a:xfrm>
            <a:off x="6757988" y="3238491"/>
            <a:ext cx="2028825" cy="135254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342900" y="342900"/>
            <a:ext cx="8458200" cy="285750"/>
          </a:xfrm>
          <a:prstGeom prst="rect">
            <a:avLst/>
          </a:prstGeom>
          <a:noFill/>
          <a:ln/>
        </p:spPr>
        <p:txBody>
          <a:bodyPr wrap="none" lIns="0" tIns="0" rIns="0" bIns="0" rtlCol="0" anchor="ctr">
            <a:spAutoFit/>
          </a:bodyPr>
          <a:lstStyle/>
          <a:p>
            <a:pPr algn="ctr" indent="0" marL="0">
              <a:buNone/>
            </a:pPr>
            <a:r>
              <a:rPr lang="en-US" sz="2025" b="1" dirty="0">
                <a:solidFill>
                  <a:srgbClr val="1A365D"/>
                </a:solidFill>
                <a:latin typeface="Noto Sans" pitchFamily="34" charset="0"/>
                <a:ea typeface="Noto Sans" pitchFamily="34" charset="-122"/>
                <a:cs typeface="Noto Sans" pitchFamily="34" charset="-120"/>
              </a:rPr>
              <a:t>Weekend Launch Checklist</a:t>
            </a:r>
            <a:endParaRPr lang="en-US" sz="2025" dirty="0"/>
          </a:p>
        </p:txBody>
      </p:sp>
      <p:sp>
        <p:nvSpPr>
          <p:cNvPr id="4" name="Text 1"/>
          <p:cNvSpPr/>
          <p:nvPr/>
        </p:nvSpPr>
        <p:spPr>
          <a:xfrm>
            <a:off x="342900" y="857250"/>
            <a:ext cx="4000500" cy="228600"/>
          </a:xfrm>
          <a:prstGeom prst="rect">
            <a:avLst/>
          </a:prstGeom>
          <a:noFill/>
          <a:ln/>
        </p:spPr>
        <p:txBody>
          <a:bodyPr wrap="none" lIns="0" tIns="0" rIns="0" bIns="0" rtlCol="0" anchor="ctr">
            <a:spAutoFit/>
          </a:bodyPr>
          <a:lstStyle/>
          <a:p>
            <a:pPr indent="0" marL="0">
              <a:buNone/>
            </a:pPr>
            <a:r>
              <a:rPr lang="en-US" sz="1350" b="1" dirty="0">
                <a:solidFill>
                  <a:srgbClr val="1A365D"/>
                </a:solidFill>
                <a:latin typeface="Noto Sans" pitchFamily="34" charset="0"/>
                <a:ea typeface="Noto Sans" pitchFamily="34" charset="-122"/>
                <a:cs typeface="Noto Sans" pitchFamily="34" charset="-120"/>
              </a:rPr>
              <a:t>Launch Your Channel This Weekend</a:t>
            </a:r>
            <a:endParaRPr lang="en-US" sz="1350" dirty="0"/>
          </a:p>
        </p:txBody>
      </p:sp>
      <p:sp>
        <p:nvSpPr>
          <p:cNvPr id="5" name="Text 2"/>
          <p:cNvSpPr/>
          <p:nvPr/>
        </p:nvSpPr>
        <p:spPr>
          <a:xfrm>
            <a:off x="342900" y="1200150"/>
            <a:ext cx="4000500" cy="600075"/>
          </a:xfrm>
          <a:prstGeom prst="rect">
            <a:avLst/>
          </a:prstGeom>
          <a:noFill/>
          <a:ln/>
        </p:spPr>
        <p:txBody>
          <a:bodyPr wrap="square" lIns="0" tIns="0" rIns="0" bIns="0" rtlCol="0" anchor="ctr">
            <a:spAutoFit/>
          </a:bodyPr>
          <a:lstStyle/>
          <a:p>
            <a:pPr indent="0" marL="0">
              <a:buNone/>
            </a:pPr>
            <a:r>
              <a:rPr lang="en-US" sz="942" dirty="0">
                <a:solidFill>
                  <a:srgbClr val="333333"/>
                </a:solidFill>
                <a:latin typeface="Noto Sans" pitchFamily="34" charset="0"/>
                <a:ea typeface="Noto Sans" pitchFamily="34" charset="-122"/>
                <a:cs typeface="Noto Sans" pitchFamily="34" charset="-120"/>
              </a:rPr>
              <a:t>Follow this simple checklist to get your Daily Insights channel up and running in just two days. This step-by-step guide is designed for a quick and efficient launch.</a:t>
            </a:r>
            <a:endParaRPr lang="en-US" sz="942" dirty="0"/>
          </a:p>
        </p:txBody>
      </p:sp>
      <p:sp>
        <p:nvSpPr>
          <p:cNvPr id="6" name="Text 3"/>
          <p:cNvSpPr/>
          <p:nvPr/>
        </p:nvSpPr>
        <p:spPr>
          <a:xfrm>
            <a:off x="4572000" y="857250"/>
            <a:ext cx="4229100" cy="200025"/>
          </a:xfrm>
          <a:prstGeom prst="rect">
            <a:avLst/>
          </a:prstGeom>
          <a:noFill/>
          <a:ln/>
        </p:spPr>
        <p:txBody>
          <a:bodyPr wrap="none" lIns="0" tIns="0" rIns="0" bIns="0" rtlCol="0" anchor="ctr">
            <a:spAutoFit/>
          </a:bodyPr>
          <a:lstStyle/>
          <a:p>
            <a:pPr indent="0" marL="0">
              <a:buNone/>
            </a:pPr>
            <a:r>
              <a:rPr lang="en-US" sz="1046" b="1" dirty="0">
                <a:solidFill>
                  <a:srgbClr val="1A365D"/>
                </a:solidFill>
                <a:latin typeface="Noto Sans" pitchFamily="34" charset="0"/>
                <a:ea typeface="Noto Sans" pitchFamily="34" charset="-122"/>
                <a:cs typeface="Noto Sans" pitchFamily="34" charset="-120"/>
              </a:rPr>
              <a:t>Saturday: Setup &amp; Preparation</a:t>
            </a:r>
            <a:endParaRPr lang="en-US" sz="1046" dirty="0"/>
          </a:p>
        </p:txBody>
      </p:sp>
      <p:pic>
        <p:nvPicPr>
          <p:cNvPr id="7" name="Image 1" descr="preencoded.png">    </p:cNvPr>
          <p:cNvPicPr>
            <a:picLocks noChangeAspect="1"/>
          </p:cNvPicPr>
          <p:nvPr/>
        </p:nvPicPr>
        <p:blipFill>
          <a:blip r:embed="rId2"/>
          <a:stretch>
            <a:fillRect/>
          </a:stretch>
        </p:blipFill>
        <p:spPr>
          <a:xfrm>
            <a:off x="4572000" y="1207294"/>
            <a:ext cx="111147" cy="142875"/>
          </a:xfrm>
          <a:prstGeom prst="rect">
            <a:avLst/>
          </a:prstGeom>
        </p:spPr>
      </p:pic>
      <p:sp>
        <p:nvSpPr>
          <p:cNvPr id="8" name="Text 4"/>
          <p:cNvSpPr/>
          <p:nvPr/>
        </p:nvSpPr>
        <p:spPr>
          <a:xfrm>
            <a:off x="4797447" y="1171575"/>
            <a:ext cx="1591354" cy="214313"/>
          </a:xfrm>
          <a:prstGeom prst="rect">
            <a:avLst/>
          </a:prstGeom>
          <a:noFill/>
          <a:ln/>
        </p:spPr>
        <p:txBody>
          <a:bodyPr wrap="none" lIns="0" tIns="0" rIns="0" bIns="0" rtlCol="0" anchor="ctr">
            <a:spAutoFit/>
          </a:bodyPr>
          <a:lstStyle/>
          <a:p>
            <a:pPr indent="0" marL="0">
              <a:buNone/>
            </a:pPr>
            <a:r>
              <a:rPr lang="en-US" sz="1046" dirty="0">
                <a:solidFill>
                  <a:srgbClr val="333333"/>
                </a:solidFill>
                <a:latin typeface="Noto Sans" pitchFamily="34" charset="0"/>
                <a:ea typeface="Noto Sans" pitchFamily="34" charset="-122"/>
                <a:cs typeface="Noto Sans" pitchFamily="34" charset="-120"/>
              </a:rPr>
              <a:t> Setup YouTube Channel</a:t>
            </a:r>
            <a:endParaRPr lang="en-US" sz="1046" dirty="0"/>
          </a:p>
        </p:txBody>
      </p:sp>
      <p:pic>
        <p:nvPicPr>
          <p:cNvPr id="9" name="Image 2" descr="preencoded.png">    </p:cNvPr>
          <p:cNvPicPr>
            <a:picLocks noChangeAspect="1"/>
          </p:cNvPicPr>
          <p:nvPr/>
        </p:nvPicPr>
        <p:blipFill>
          <a:blip r:embed="rId3"/>
          <a:stretch>
            <a:fillRect/>
          </a:stretch>
        </p:blipFill>
        <p:spPr>
          <a:xfrm>
            <a:off x="4572000" y="1535906"/>
            <a:ext cx="111147" cy="142875"/>
          </a:xfrm>
          <a:prstGeom prst="rect">
            <a:avLst/>
          </a:prstGeom>
        </p:spPr>
      </p:pic>
      <p:sp>
        <p:nvSpPr>
          <p:cNvPr id="10" name="Text 5"/>
          <p:cNvSpPr/>
          <p:nvPr/>
        </p:nvSpPr>
        <p:spPr>
          <a:xfrm>
            <a:off x="4797447" y="1500188"/>
            <a:ext cx="1880397" cy="214313"/>
          </a:xfrm>
          <a:prstGeom prst="rect">
            <a:avLst/>
          </a:prstGeom>
          <a:noFill/>
          <a:ln/>
        </p:spPr>
        <p:txBody>
          <a:bodyPr wrap="none" lIns="0" tIns="0" rIns="0" bIns="0" rtlCol="0" anchor="ctr">
            <a:spAutoFit/>
          </a:bodyPr>
          <a:lstStyle/>
          <a:p>
            <a:pPr indent="0" marL="0">
              <a:buNone/>
            </a:pPr>
            <a:r>
              <a:rPr lang="en-US" sz="1046" dirty="0">
                <a:solidFill>
                  <a:srgbClr val="333333"/>
                </a:solidFill>
                <a:latin typeface="Noto Sans" pitchFamily="34" charset="0"/>
                <a:ea typeface="Noto Sans" pitchFamily="34" charset="-122"/>
                <a:cs typeface="Noto Sans" pitchFamily="34" charset="-120"/>
              </a:rPr>
              <a:t> Configure Automation Tools</a:t>
            </a:r>
            <a:endParaRPr lang="en-US" sz="1046" dirty="0"/>
          </a:p>
        </p:txBody>
      </p:sp>
      <p:pic>
        <p:nvPicPr>
          <p:cNvPr id="11" name="Image 3" descr="preencoded.png">    </p:cNvPr>
          <p:cNvPicPr>
            <a:picLocks noChangeAspect="1"/>
          </p:cNvPicPr>
          <p:nvPr/>
        </p:nvPicPr>
        <p:blipFill>
          <a:blip r:embed="rId4"/>
          <a:stretch>
            <a:fillRect/>
          </a:stretch>
        </p:blipFill>
        <p:spPr>
          <a:xfrm>
            <a:off x="4572000" y="1864519"/>
            <a:ext cx="111147" cy="142875"/>
          </a:xfrm>
          <a:prstGeom prst="rect">
            <a:avLst/>
          </a:prstGeom>
        </p:spPr>
      </p:pic>
      <p:sp>
        <p:nvSpPr>
          <p:cNvPr id="12" name="Text 6"/>
          <p:cNvSpPr/>
          <p:nvPr/>
        </p:nvSpPr>
        <p:spPr>
          <a:xfrm>
            <a:off x="4797447" y="1828800"/>
            <a:ext cx="1660922" cy="214313"/>
          </a:xfrm>
          <a:prstGeom prst="rect">
            <a:avLst/>
          </a:prstGeom>
          <a:noFill/>
          <a:ln/>
        </p:spPr>
        <p:txBody>
          <a:bodyPr wrap="none" lIns="0" tIns="0" rIns="0" bIns="0" rtlCol="0" anchor="ctr">
            <a:spAutoFit/>
          </a:bodyPr>
          <a:lstStyle/>
          <a:p>
            <a:pPr indent="0" marL="0">
              <a:buNone/>
            </a:pPr>
            <a:r>
              <a:rPr lang="en-US" sz="1046" dirty="0">
                <a:solidFill>
                  <a:srgbClr val="333333"/>
                </a:solidFill>
                <a:latin typeface="Noto Sans" pitchFamily="34" charset="0"/>
                <a:ea typeface="Noto Sans" pitchFamily="34" charset="-122"/>
                <a:cs typeface="Noto Sans" pitchFamily="34" charset="-120"/>
              </a:rPr>
              <a:t> Run First Research Script</a:t>
            </a:r>
            <a:endParaRPr lang="en-US" sz="1046" dirty="0"/>
          </a:p>
        </p:txBody>
      </p:sp>
      <p:pic>
        <p:nvPicPr>
          <p:cNvPr id="13" name="Image 4" descr="preencoded.png">    </p:cNvPr>
          <p:cNvPicPr>
            <a:picLocks noChangeAspect="1"/>
          </p:cNvPicPr>
          <p:nvPr/>
        </p:nvPicPr>
        <p:blipFill>
          <a:blip r:embed="rId5"/>
          <a:stretch>
            <a:fillRect/>
          </a:stretch>
        </p:blipFill>
        <p:spPr>
          <a:xfrm>
            <a:off x="4572000" y="2193131"/>
            <a:ext cx="111147" cy="142875"/>
          </a:xfrm>
          <a:prstGeom prst="rect">
            <a:avLst/>
          </a:prstGeom>
        </p:spPr>
      </p:pic>
      <p:sp>
        <p:nvSpPr>
          <p:cNvPr id="14" name="Text 7"/>
          <p:cNvSpPr/>
          <p:nvPr/>
        </p:nvSpPr>
        <p:spPr>
          <a:xfrm>
            <a:off x="4797447" y="2157413"/>
            <a:ext cx="1783231" cy="214313"/>
          </a:xfrm>
          <a:prstGeom prst="rect">
            <a:avLst/>
          </a:prstGeom>
          <a:noFill/>
          <a:ln/>
        </p:spPr>
        <p:txBody>
          <a:bodyPr wrap="none" lIns="0" tIns="0" rIns="0" bIns="0" rtlCol="0" anchor="ctr">
            <a:spAutoFit/>
          </a:bodyPr>
          <a:lstStyle/>
          <a:p>
            <a:pPr indent="0" marL="0">
              <a:buNone/>
            </a:pPr>
            <a:r>
              <a:rPr lang="en-US" sz="1046" dirty="0">
                <a:solidFill>
                  <a:srgbClr val="333333"/>
                </a:solidFill>
                <a:latin typeface="Noto Sans" pitchFamily="34" charset="0"/>
                <a:ea typeface="Noto Sans" pitchFamily="34" charset="-122"/>
                <a:cs typeface="Noto Sans" pitchFamily="34" charset="-120"/>
              </a:rPr>
              <a:t> Generate First Video Script</a:t>
            </a:r>
            <a:endParaRPr lang="en-US" sz="1046" dirty="0"/>
          </a:p>
        </p:txBody>
      </p:sp>
      <p:sp>
        <p:nvSpPr>
          <p:cNvPr id="15" name="Text 8"/>
          <p:cNvSpPr/>
          <p:nvPr/>
        </p:nvSpPr>
        <p:spPr>
          <a:xfrm>
            <a:off x="4572000" y="2600325"/>
            <a:ext cx="4229100" cy="200025"/>
          </a:xfrm>
          <a:prstGeom prst="rect">
            <a:avLst/>
          </a:prstGeom>
          <a:noFill/>
          <a:ln/>
        </p:spPr>
        <p:txBody>
          <a:bodyPr wrap="none" lIns="0" tIns="0" rIns="0" bIns="0" rtlCol="0" anchor="ctr">
            <a:spAutoFit/>
          </a:bodyPr>
          <a:lstStyle/>
          <a:p>
            <a:pPr indent="0" marL="0">
              <a:buNone/>
            </a:pPr>
            <a:r>
              <a:rPr lang="en-US" sz="1046" b="1" dirty="0">
                <a:solidFill>
                  <a:srgbClr val="1A365D"/>
                </a:solidFill>
                <a:latin typeface="Noto Sans" pitchFamily="34" charset="0"/>
                <a:ea typeface="Noto Sans" pitchFamily="34" charset="-122"/>
                <a:cs typeface="Noto Sans" pitchFamily="34" charset="-120"/>
              </a:rPr>
              <a:t>Sunday: Content &amp; Launch</a:t>
            </a:r>
            <a:endParaRPr lang="en-US" sz="1046" dirty="0"/>
          </a:p>
        </p:txBody>
      </p:sp>
      <p:pic>
        <p:nvPicPr>
          <p:cNvPr id="16" name="Image 5" descr="preencoded.png">    </p:cNvPr>
          <p:cNvPicPr>
            <a:picLocks noChangeAspect="1"/>
          </p:cNvPicPr>
          <p:nvPr/>
        </p:nvPicPr>
        <p:blipFill>
          <a:blip r:embed="rId6"/>
          <a:stretch>
            <a:fillRect/>
          </a:stretch>
        </p:blipFill>
        <p:spPr>
          <a:xfrm>
            <a:off x="4572000" y="2950369"/>
            <a:ext cx="111147" cy="142875"/>
          </a:xfrm>
          <a:prstGeom prst="rect">
            <a:avLst/>
          </a:prstGeom>
        </p:spPr>
      </p:pic>
      <p:sp>
        <p:nvSpPr>
          <p:cNvPr id="17" name="Text 9"/>
          <p:cNvSpPr/>
          <p:nvPr/>
        </p:nvSpPr>
        <p:spPr>
          <a:xfrm>
            <a:off x="4797447" y="2914650"/>
            <a:ext cx="1885392" cy="214313"/>
          </a:xfrm>
          <a:prstGeom prst="rect">
            <a:avLst/>
          </a:prstGeom>
          <a:noFill/>
          <a:ln/>
        </p:spPr>
        <p:txBody>
          <a:bodyPr wrap="none" lIns="0" tIns="0" rIns="0" bIns="0" rtlCol="0" anchor="ctr">
            <a:spAutoFit/>
          </a:bodyPr>
          <a:lstStyle/>
          <a:p>
            <a:pPr indent="0" marL="0">
              <a:buNone/>
            </a:pPr>
            <a:r>
              <a:rPr lang="en-US" sz="1046" dirty="0">
                <a:solidFill>
                  <a:srgbClr val="333333"/>
                </a:solidFill>
                <a:latin typeface="Noto Sans" pitchFamily="34" charset="0"/>
                <a:ea typeface="Noto Sans" pitchFamily="34" charset="-122"/>
                <a:cs typeface="Noto Sans" pitchFamily="34" charset="-120"/>
              </a:rPr>
              <a:t> Record/Generate First Video</a:t>
            </a:r>
            <a:endParaRPr lang="en-US" sz="1046" dirty="0"/>
          </a:p>
        </p:txBody>
      </p:sp>
      <p:pic>
        <p:nvPicPr>
          <p:cNvPr id="18" name="Image 6" descr="preencoded.png">    </p:cNvPr>
          <p:cNvPicPr>
            <a:picLocks noChangeAspect="1"/>
          </p:cNvPicPr>
          <p:nvPr/>
        </p:nvPicPr>
        <p:blipFill>
          <a:blip r:embed="rId7"/>
          <a:stretch>
            <a:fillRect/>
          </a:stretch>
        </p:blipFill>
        <p:spPr>
          <a:xfrm>
            <a:off x="4572000" y="3278981"/>
            <a:ext cx="111147" cy="142875"/>
          </a:xfrm>
          <a:prstGeom prst="rect">
            <a:avLst/>
          </a:prstGeom>
        </p:spPr>
      </p:pic>
      <p:sp>
        <p:nvSpPr>
          <p:cNvPr id="19" name="Text 10"/>
          <p:cNvSpPr/>
          <p:nvPr/>
        </p:nvSpPr>
        <p:spPr>
          <a:xfrm>
            <a:off x="4797447" y="3243263"/>
            <a:ext cx="1196160" cy="214313"/>
          </a:xfrm>
          <a:prstGeom prst="rect">
            <a:avLst/>
          </a:prstGeom>
          <a:noFill/>
          <a:ln/>
        </p:spPr>
        <p:txBody>
          <a:bodyPr wrap="none" lIns="0" tIns="0" rIns="0" bIns="0" rtlCol="0" anchor="ctr">
            <a:spAutoFit/>
          </a:bodyPr>
          <a:lstStyle/>
          <a:p>
            <a:pPr indent="0" marL="0">
              <a:buNone/>
            </a:pPr>
            <a:r>
              <a:rPr lang="en-US" sz="1046" dirty="0">
                <a:solidFill>
                  <a:srgbClr val="333333"/>
                </a:solidFill>
                <a:latin typeface="Noto Sans" pitchFamily="34" charset="0"/>
                <a:ea typeface="Noto Sans" pitchFamily="34" charset="-122"/>
                <a:cs typeface="Noto Sans" pitchFamily="34" charset="-120"/>
              </a:rPr>
              <a:t> Create Thumbnail</a:t>
            </a:r>
            <a:endParaRPr lang="en-US" sz="1046" dirty="0"/>
          </a:p>
        </p:txBody>
      </p:sp>
      <p:pic>
        <p:nvPicPr>
          <p:cNvPr id="20" name="Image 7" descr="preencoded.png">    </p:cNvPr>
          <p:cNvPicPr>
            <a:picLocks noChangeAspect="1"/>
          </p:cNvPicPr>
          <p:nvPr/>
        </p:nvPicPr>
        <p:blipFill>
          <a:blip r:embed="rId8"/>
          <a:stretch>
            <a:fillRect/>
          </a:stretch>
        </p:blipFill>
        <p:spPr>
          <a:xfrm>
            <a:off x="4572000" y="3607594"/>
            <a:ext cx="111147" cy="142875"/>
          </a:xfrm>
          <a:prstGeom prst="rect">
            <a:avLst/>
          </a:prstGeom>
        </p:spPr>
      </p:pic>
      <p:sp>
        <p:nvSpPr>
          <p:cNvPr id="21" name="Text 11"/>
          <p:cNvSpPr/>
          <p:nvPr/>
        </p:nvSpPr>
        <p:spPr>
          <a:xfrm>
            <a:off x="4797447" y="3571875"/>
            <a:ext cx="2013840" cy="214313"/>
          </a:xfrm>
          <a:prstGeom prst="rect">
            <a:avLst/>
          </a:prstGeom>
          <a:noFill/>
          <a:ln/>
        </p:spPr>
        <p:txBody>
          <a:bodyPr wrap="none" lIns="0" tIns="0" rIns="0" bIns="0" rtlCol="0" anchor="ctr">
            <a:spAutoFit/>
          </a:bodyPr>
          <a:lstStyle/>
          <a:p>
            <a:pPr indent="0" marL="0">
              <a:buNone/>
            </a:pPr>
            <a:r>
              <a:rPr lang="en-US" sz="1046" dirty="0">
                <a:solidFill>
                  <a:srgbClr val="333333"/>
                </a:solidFill>
                <a:latin typeface="Noto Sans" pitchFamily="34" charset="0"/>
                <a:ea typeface="Noto Sans" pitchFamily="34" charset="-122"/>
                <a:cs typeface="Noto Sans" pitchFamily="34" charset="-120"/>
              </a:rPr>
              <a:t> Upload &amp; Schedule First Video</a:t>
            </a:r>
            <a:endParaRPr lang="en-US" sz="1046" dirty="0"/>
          </a:p>
        </p:txBody>
      </p:sp>
      <p:pic>
        <p:nvPicPr>
          <p:cNvPr id="22" name="Image 8" descr="preencoded.png">    </p:cNvPr>
          <p:cNvPicPr>
            <a:picLocks noChangeAspect="1"/>
          </p:cNvPicPr>
          <p:nvPr/>
        </p:nvPicPr>
        <p:blipFill>
          <a:blip r:embed="rId9"/>
          <a:stretch>
            <a:fillRect/>
          </a:stretch>
        </p:blipFill>
        <p:spPr>
          <a:xfrm>
            <a:off x="4572000" y="3936206"/>
            <a:ext cx="111147" cy="142875"/>
          </a:xfrm>
          <a:prstGeom prst="rect">
            <a:avLst/>
          </a:prstGeom>
        </p:spPr>
      </p:pic>
      <p:sp>
        <p:nvSpPr>
          <p:cNvPr id="23" name="Text 12"/>
          <p:cNvSpPr/>
          <p:nvPr/>
        </p:nvSpPr>
        <p:spPr>
          <a:xfrm>
            <a:off x="4797447" y="3900488"/>
            <a:ext cx="1795676" cy="214313"/>
          </a:xfrm>
          <a:prstGeom prst="rect">
            <a:avLst/>
          </a:prstGeom>
          <a:noFill/>
          <a:ln/>
        </p:spPr>
        <p:txBody>
          <a:bodyPr wrap="none" lIns="0" tIns="0" rIns="0" bIns="0" rtlCol="0" anchor="ctr">
            <a:spAutoFit/>
          </a:bodyPr>
          <a:lstStyle/>
          <a:p>
            <a:pPr indent="0" marL="0">
              <a:buNone/>
            </a:pPr>
            <a:r>
              <a:rPr lang="en-US" sz="1046" dirty="0">
                <a:solidFill>
                  <a:srgbClr val="333333"/>
                </a:solidFill>
                <a:latin typeface="Noto Sans" pitchFamily="34" charset="0"/>
                <a:ea typeface="Noto Sans" pitchFamily="34" charset="-122"/>
                <a:cs typeface="Noto Sans" pitchFamily="34" charset="-120"/>
              </a:rPr>
              <a:t> Announce Channel Launch</a:t>
            </a:r>
            <a:endParaRPr lang="en-US" sz="1046"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143500"/>
          </a:xfrm>
          <a:prstGeom prst="rect">
            <a:avLst/>
          </a:prstGeom>
        </p:spPr>
      </p:pic>
      <p:sp>
        <p:nvSpPr>
          <p:cNvPr id="3" name="Text 0"/>
          <p:cNvSpPr/>
          <p:nvPr/>
        </p:nvSpPr>
        <p:spPr>
          <a:xfrm>
            <a:off x="342900" y="342900"/>
            <a:ext cx="8458200" cy="285750"/>
          </a:xfrm>
          <a:prstGeom prst="rect">
            <a:avLst/>
          </a:prstGeom>
          <a:noFill/>
          <a:ln/>
        </p:spPr>
        <p:txBody>
          <a:bodyPr wrap="none" lIns="0" tIns="0" rIns="0" bIns="0" rtlCol="0" anchor="ctr">
            <a:spAutoFit/>
          </a:bodyPr>
          <a:lstStyle/>
          <a:p>
            <a:pPr algn="ctr" indent="0" marL="0">
              <a:buNone/>
            </a:pPr>
            <a:r>
              <a:rPr lang="en-US" sz="2025" b="1" dirty="0">
                <a:solidFill>
                  <a:srgbClr val="1A365D"/>
                </a:solidFill>
                <a:latin typeface="Noto Sans" pitchFamily="34" charset="0"/>
                <a:ea typeface="Noto Sans" pitchFamily="34" charset="-122"/>
                <a:cs typeface="Noto Sans" pitchFamily="34" charset="-120"/>
              </a:rPr>
              <a:t>Next Steps &amp; Growth Strategy</a:t>
            </a:r>
            <a:endParaRPr lang="en-US" sz="2025" dirty="0"/>
          </a:p>
        </p:txBody>
      </p:sp>
      <p:sp>
        <p:nvSpPr>
          <p:cNvPr id="4" name="Text 1"/>
          <p:cNvSpPr/>
          <p:nvPr/>
        </p:nvSpPr>
        <p:spPr>
          <a:xfrm>
            <a:off x="342900" y="857250"/>
            <a:ext cx="4000500" cy="228600"/>
          </a:xfrm>
          <a:prstGeom prst="rect">
            <a:avLst/>
          </a:prstGeom>
          <a:noFill/>
          <a:ln/>
        </p:spPr>
        <p:txBody>
          <a:bodyPr wrap="none" lIns="0" tIns="0" rIns="0" bIns="0" rtlCol="0" anchor="ctr">
            <a:spAutoFit/>
          </a:bodyPr>
          <a:lstStyle/>
          <a:p>
            <a:pPr indent="0" marL="0">
              <a:buNone/>
            </a:pPr>
            <a:r>
              <a:rPr lang="en-US" sz="1350" b="1" dirty="0">
                <a:solidFill>
                  <a:srgbClr val="1A365D"/>
                </a:solidFill>
                <a:latin typeface="Noto Sans" pitchFamily="34" charset="0"/>
                <a:ea typeface="Noto Sans" pitchFamily="34" charset="-122"/>
                <a:cs typeface="Noto Sans" pitchFamily="34" charset="-120"/>
              </a:rPr>
              <a:t>Immediate Next Steps</a:t>
            </a:r>
            <a:endParaRPr lang="en-US" sz="1350" dirty="0"/>
          </a:p>
        </p:txBody>
      </p:sp>
      <p:sp>
        <p:nvSpPr>
          <p:cNvPr id="5" name="Text 2"/>
          <p:cNvSpPr/>
          <p:nvPr/>
        </p:nvSpPr>
        <p:spPr>
          <a:xfrm>
            <a:off x="342900" y="1200150"/>
            <a:ext cx="4000500" cy="200025"/>
          </a:xfrm>
          <a:prstGeom prst="rect">
            <a:avLst/>
          </a:prstGeom>
          <a:noFill/>
          <a:ln/>
        </p:spPr>
        <p:txBody>
          <a:bodyPr wrap="none" lIns="0" tIns="0" rIns="0" bIns="0" rtlCol="0" anchor="ctr">
            <a:spAutoFit/>
          </a:bodyPr>
          <a:lstStyle/>
          <a:p>
            <a:pPr algn="l" indent="0" marL="0">
              <a:buNone/>
            </a:pPr>
            <a:r>
              <a:rPr lang="en-US" sz="942" dirty="0">
                <a:solidFill>
                  <a:srgbClr val="333333"/>
                </a:solidFill>
                <a:latin typeface="Noto Sans" pitchFamily="34" charset="0"/>
                <a:ea typeface="Noto Sans" pitchFamily="34" charset="-122"/>
                <a:cs typeface="Noto Sans" pitchFamily="34" charset="-120"/>
              </a:rPr>
              <a:t>Execute the weekend launch checklist.</a:t>
            </a:r>
            <a:endParaRPr lang="en-US" sz="942" dirty="0"/>
          </a:p>
        </p:txBody>
      </p:sp>
      <p:sp>
        <p:nvSpPr>
          <p:cNvPr id="6" name="Text 3"/>
          <p:cNvSpPr/>
          <p:nvPr/>
        </p:nvSpPr>
        <p:spPr>
          <a:xfrm>
            <a:off x="342900" y="1457325"/>
            <a:ext cx="4000500" cy="200025"/>
          </a:xfrm>
          <a:prstGeom prst="rect">
            <a:avLst/>
          </a:prstGeom>
          <a:noFill/>
          <a:ln/>
        </p:spPr>
        <p:txBody>
          <a:bodyPr wrap="none" lIns="0" tIns="0" rIns="0" bIns="0" rtlCol="0" anchor="ctr">
            <a:spAutoFit/>
          </a:bodyPr>
          <a:lstStyle/>
          <a:p>
            <a:pPr algn="l" indent="0" marL="0">
              <a:buNone/>
            </a:pPr>
            <a:r>
              <a:rPr lang="en-US" sz="942" dirty="0">
                <a:solidFill>
                  <a:srgbClr val="333333"/>
                </a:solidFill>
                <a:latin typeface="Noto Sans" pitchFamily="34" charset="0"/>
                <a:ea typeface="Noto Sans" pitchFamily="34" charset="-122"/>
                <a:cs typeface="Noto Sans" pitchFamily="34" charset="-120"/>
              </a:rPr>
              <a:t>Publish your first video and announce the channel.</a:t>
            </a:r>
            <a:endParaRPr lang="en-US" sz="942" dirty="0"/>
          </a:p>
        </p:txBody>
      </p:sp>
      <p:sp>
        <p:nvSpPr>
          <p:cNvPr id="7" name="Text 4"/>
          <p:cNvSpPr/>
          <p:nvPr/>
        </p:nvSpPr>
        <p:spPr>
          <a:xfrm>
            <a:off x="342900" y="1714500"/>
            <a:ext cx="4000500" cy="200025"/>
          </a:xfrm>
          <a:prstGeom prst="rect">
            <a:avLst/>
          </a:prstGeom>
          <a:noFill/>
          <a:ln/>
        </p:spPr>
        <p:txBody>
          <a:bodyPr wrap="none" lIns="0" tIns="0" rIns="0" bIns="0" rtlCol="0" anchor="ctr">
            <a:spAutoFit/>
          </a:bodyPr>
          <a:lstStyle/>
          <a:p>
            <a:pPr algn="l" indent="0" marL="0">
              <a:buNone/>
            </a:pPr>
            <a:r>
              <a:rPr lang="en-US" sz="942" dirty="0">
                <a:solidFill>
                  <a:srgbClr val="333333"/>
                </a:solidFill>
                <a:latin typeface="Noto Sans" pitchFamily="34" charset="0"/>
                <a:ea typeface="Noto Sans" pitchFamily="34" charset="-122"/>
                <a:cs typeface="Noto Sans" pitchFamily="34" charset="-120"/>
              </a:rPr>
              <a:t>Engage with your first viewers and build a community.</a:t>
            </a:r>
            <a:endParaRPr lang="en-US" sz="942" dirty="0"/>
          </a:p>
        </p:txBody>
      </p:sp>
      <p:sp>
        <p:nvSpPr>
          <p:cNvPr id="8" name="Text 5"/>
          <p:cNvSpPr/>
          <p:nvPr/>
        </p:nvSpPr>
        <p:spPr>
          <a:xfrm>
            <a:off x="342900" y="1971675"/>
            <a:ext cx="4000500" cy="200025"/>
          </a:xfrm>
          <a:prstGeom prst="rect">
            <a:avLst/>
          </a:prstGeom>
          <a:noFill/>
          <a:ln/>
        </p:spPr>
        <p:txBody>
          <a:bodyPr wrap="none" lIns="0" tIns="0" rIns="0" bIns="0" rtlCol="0" anchor="ctr">
            <a:spAutoFit/>
          </a:bodyPr>
          <a:lstStyle/>
          <a:p>
            <a:pPr algn="l" indent="0" marL="0">
              <a:buNone/>
            </a:pPr>
            <a:r>
              <a:rPr lang="en-US" sz="942" dirty="0">
                <a:solidFill>
                  <a:srgbClr val="333333"/>
                </a:solidFill>
                <a:latin typeface="Noto Sans" pitchFamily="34" charset="0"/>
                <a:ea typeface="Noto Sans" pitchFamily="34" charset="-122"/>
                <a:cs typeface="Noto Sans" pitchFamily="34" charset="-120"/>
              </a:rPr>
              <a:t>Monitor analytics to see what's working.</a:t>
            </a:r>
            <a:endParaRPr lang="en-US" sz="942" dirty="0"/>
          </a:p>
        </p:txBody>
      </p:sp>
      <p:sp>
        <p:nvSpPr>
          <p:cNvPr id="9" name="Text 6"/>
          <p:cNvSpPr/>
          <p:nvPr/>
        </p:nvSpPr>
        <p:spPr>
          <a:xfrm>
            <a:off x="342900" y="2343150"/>
            <a:ext cx="4000500" cy="228600"/>
          </a:xfrm>
          <a:prstGeom prst="rect">
            <a:avLst/>
          </a:prstGeom>
          <a:noFill/>
          <a:ln/>
        </p:spPr>
        <p:txBody>
          <a:bodyPr wrap="none" lIns="0" tIns="0" rIns="0" bIns="0" rtlCol="0" anchor="ctr">
            <a:spAutoFit/>
          </a:bodyPr>
          <a:lstStyle/>
          <a:p>
            <a:pPr indent="0" marL="0">
              <a:buNone/>
            </a:pPr>
            <a:r>
              <a:rPr lang="en-US" sz="1350" b="1" dirty="0">
                <a:solidFill>
                  <a:srgbClr val="1A365D"/>
                </a:solidFill>
                <a:latin typeface="Noto Sans" pitchFamily="34" charset="0"/>
                <a:ea typeface="Noto Sans" pitchFamily="34" charset="-122"/>
                <a:cs typeface="Noto Sans" pitchFamily="34" charset="-120"/>
              </a:rPr>
              <a:t>Long-Term Growth Strategy</a:t>
            </a:r>
            <a:endParaRPr lang="en-US" sz="1350" dirty="0"/>
          </a:p>
        </p:txBody>
      </p:sp>
      <p:sp>
        <p:nvSpPr>
          <p:cNvPr id="10" name="Text 7"/>
          <p:cNvSpPr/>
          <p:nvPr/>
        </p:nvSpPr>
        <p:spPr>
          <a:xfrm>
            <a:off x="342900" y="2686050"/>
            <a:ext cx="4000500" cy="200025"/>
          </a:xfrm>
          <a:prstGeom prst="rect">
            <a:avLst/>
          </a:prstGeom>
          <a:noFill/>
          <a:ln/>
        </p:spPr>
        <p:txBody>
          <a:bodyPr wrap="none" lIns="0" tIns="0" rIns="0" bIns="0" rtlCol="0" anchor="ctr">
            <a:spAutoFit/>
          </a:bodyPr>
          <a:lstStyle/>
          <a:p>
            <a:pPr algn="l" indent="0" marL="0">
              <a:buNone/>
            </a:pPr>
            <a:r>
              <a:rPr lang="en-US" sz="942" dirty="0">
                <a:solidFill>
                  <a:srgbClr val="333333"/>
                </a:solidFill>
                <a:latin typeface="Noto Sans" pitchFamily="34" charset="0"/>
                <a:ea typeface="Noto Sans" pitchFamily="34" charset="-122"/>
                <a:cs typeface="Noto Sans" pitchFamily="34" charset="-120"/>
              </a:rPr>
              <a:t>Consistently publish high-quality daily content.</a:t>
            </a:r>
            <a:endParaRPr lang="en-US" sz="942" dirty="0"/>
          </a:p>
        </p:txBody>
      </p:sp>
      <p:sp>
        <p:nvSpPr>
          <p:cNvPr id="11" name="Text 8"/>
          <p:cNvSpPr/>
          <p:nvPr/>
        </p:nvSpPr>
        <p:spPr>
          <a:xfrm>
            <a:off x="342900" y="2943225"/>
            <a:ext cx="4000500" cy="200025"/>
          </a:xfrm>
          <a:prstGeom prst="rect">
            <a:avLst/>
          </a:prstGeom>
          <a:noFill/>
          <a:ln/>
        </p:spPr>
        <p:txBody>
          <a:bodyPr wrap="none" lIns="0" tIns="0" rIns="0" bIns="0" rtlCol="0" anchor="ctr">
            <a:spAutoFit/>
          </a:bodyPr>
          <a:lstStyle/>
          <a:p>
            <a:pPr algn="l" indent="0" marL="0">
              <a:buNone/>
            </a:pPr>
            <a:r>
              <a:rPr lang="en-US" sz="942" dirty="0">
                <a:solidFill>
                  <a:srgbClr val="333333"/>
                </a:solidFill>
                <a:latin typeface="Noto Sans" pitchFamily="34" charset="0"/>
                <a:ea typeface="Noto Sans" pitchFamily="34" charset="-122"/>
                <a:cs typeface="Noto Sans" pitchFamily="34" charset="-120"/>
              </a:rPr>
              <a:t>Collaborate with other creators in your niche.</a:t>
            </a:r>
            <a:endParaRPr lang="en-US" sz="942" dirty="0"/>
          </a:p>
        </p:txBody>
      </p:sp>
      <p:sp>
        <p:nvSpPr>
          <p:cNvPr id="12" name="Text 9"/>
          <p:cNvSpPr/>
          <p:nvPr/>
        </p:nvSpPr>
        <p:spPr>
          <a:xfrm>
            <a:off x="342900" y="3200400"/>
            <a:ext cx="4000500" cy="200025"/>
          </a:xfrm>
          <a:prstGeom prst="rect">
            <a:avLst/>
          </a:prstGeom>
          <a:noFill/>
          <a:ln/>
        </p:spPr>
        <p:txBody>
          <a:bodyPr wrap="none" lIns="0" tIns="0" rIns="0" bIns="0" rtlCol="0" anchor="ctr">
            <a:spAutoFit/>
          </a:bodyPr>
          <a:lstStyle/>
          <a:p>
            <a:pPr algn="l" indent="0" marL="0">
              <a:buNone/>
            </a:pPr>
            <a:r>
              <a:rPr lang="en-US" sz="942" dirty="0">
                <a:solidFill>
                  <a:srgbClr val="333333"/>
                </a:solidFill>
                <a:latin typeface="Noto Sans" pitchFamily="34" charset="0"/>
                <a:ea typeface="Noto Sans" pitchFamily="34" charset="-122"/>
                <a:cs typeface="Noto Sans" pitchFamily="34" charset="-120"/>
              </a:rPr>
              <a:t>Expand to other social media platforms.</a:t>
            </a:r>
            <a:endParaRPr lang="en-US" sz="942" dirty="0"/>
          </a:p>
        </p:txBody>
      </p:sp>
      <p:sp>
        <p:nvSpPr>
          <p:cNvPr id="13" name="Text 10"/>
          <p:cNvSpPr/>
          <p:nvPr/>
        </p:nvSpPr>
        <p:spPr>
          <a:xfrm>
            <a:off x="342900" y="3457575"/>
            <a:ext cx="4000500" cy="200025"/>
          </a:xfrm>
          <a:prstGeom prst="rect">
            <a:avLst/>
          </a:prstGeom>
          <a:noFill/>
          <a:ln/>
        </p:spPr>
        <p:txBody>
          <a:bodyPr wrap="none" lIns="0" tIns="0" rIns="0" bIns="0" rtlCol="0" anchor="ctr">
            <a:spAutoFit/>
          </a:bodyPr>
          <a:lstStyle/>
          <a:p>
            <a:pPr algn="l" indent="0" marL="0">
              <a:buNone/>
            </a:pPr>
            <a:r>
              <a:rPr lang="en-US" sz="942" dirty="0">
                <a:solidFill>
                  <a:srgbClr val="333333"/>
                </a:solidFill>
                <a:latin typeface="Noto Sans" pitchFamily="34" charset="0"/>
                <a:ea typeface="Noto Sans" pitchFamily="34" charset="-122"/>
                <a:cs typeface="Noto Sans" pitchFamily="34" charset="-120"/>
              </a:rPr>
              <a:t>Explore new monetization opportunities.</a:t>
            </a:r>
            <a:endParaRPr lang="en-US" sz="942" dirty="0"/>
          </a:p>
        </p:txBody>
      </p:sp>
      <p:pic>
        <p:nvPicPr>
          <p:cNvPr id="14" name="Image 1" descr="preencoded.png">    </p:cNvPr>
          <p:cNvPicPr>
            <a:picLocks noChangeAspect="1"/>
          </p:cNvPicPr>
          <p:nvPr/>
        </p:nvPicPr>
        <p:blipFill>
          <a:blip r:embed="rId2"/>
          <a:stretch>
            <a:fillRect/>
          </a:stretch>
        </p:blipFill>
        <p:spPr>
          <a:xfrm>
            <a:off x="4900613" y="1400175"/>
            <a:ext cx="3571875" cy="2857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2025-10-13T09:10:23Z</dcterms:created>
  <dcterms:modified xsi:type="dcterms:W3CDTF">2025-10-13T09:10:23Z</dcterms:modified>
</cp:coreProperties>
</file>