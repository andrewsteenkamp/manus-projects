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428625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5756" y="2071688"/>
            <a:ext cx="6952459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TRENDING DAILY INSIGHTS</a:t>
            </a:r>
            <a:endParaRPr lang="en-US" sz="4050" dirty="0"/>
          </a:p>
        </p:txBody>
      </p:sp>
      <p:sp>
        <p:nvSpPr>
          <p:cNvPr id="5" name="Text 1"/>
          <p:cNvSpPr/>
          <p:nvPr/>
        </p:nvSpPr>
        <p:spPr>
          <a:xfrm>
            <a:off x="2318231" y="2986088"/>
            <a:ext cx="450751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3F4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Sponsorship Opportunities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1850231" y="3943350"/>
            <a:ext cx="54435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3F4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AI-Powered Geopolitical Analysis • Premium Audience • Proven Results 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Overview &amp; Unique Value Proposition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Geopolitical Analysis with Premium Audience Engagement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47797"/>
            <a:ext cx="3929063" cy="26193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110028"/>
            <a:ext cx="4143375" cy="5786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3"/>
          <p:cNvSpPr/>
          <p:nvPr/>
        </p:nvSpPr>
        <p:spPr>
          <a:xfrm>
            <a:off x="573844" y="4217184"/>
            <a:ext cx="4700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2,255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573844" y="4452928"/>
            <a:ext cx="47003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Subscribers</a:t>
            </a:r>
            <a:endParaRPr lang="en-US" sz="628" dirty="0"/>
          </a:p>
        </p:txBody>
      </p:sp>
      <p:sp>
        <p:nvSpPr>
          <p:cNvPr id="9" name="Text 5"/>
          <p:cNvSpPr/>
          <p:nvPr/>
        </p:nvSpPr>
        <p:spPr>
          <a:xfrm>
            <a:off x="1405756" y="4217184"/>
            <a:ext cx="5832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75K+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1405756" y="4452928"/>
            <a:ext cx="5832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Views</a:t>
            </a:r>
            <a:endParaRPr lang="en-US" sz="628" dirty="0"/>
          </a:p>
        </p:txBody>
      </p:sp>
      <p:sp>
        <p:nvSpPr>
          <p:cNvPr id="11" name="Text 7"/>
          <p:cNvSpPr/>
          <p:nvPr/>
        </p:nvSpPr>
        <p:spPr>
          <a:xfrm>
            <a:off x="2350908" y="4217184"/>
            <a:ext cx="7179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8.2%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2350908" y="4452928"/>
            <a:ext cx="7179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Engagement Rate</a:t>
            </a:r>
            <a:endParaRPr lang="en-US" sz="628" dirty="0"/>
          </a:p>
        </p:txBody>
      </p:sp>
      <p:sp>
        <p:nvSpPr>
          <p:cNvPr id="13" name="Text 9"/>
          <p:cNvSpPr/>
          <p:nvPr/>
        </p:nvSpPr>
        <p:spPr>
          <a:xfrm>
            <a:off x="3430758" y="4217184"/>
            <a:ext cx="7102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</a:t>
            </a:r>
            <a:endParaRPr lang="en-US" sz="1046" dirty="0"/>
          </a:p>
        </p:txBody>
      </p:sp>
      <p:sp>
        <p:nvSpPr>
          <p:cNvPr id="14" name="Text 10"/>
          <p:cNvSpPr/>
          <p:nvPr/>
        </p:nvSpPr>
        <p:spPr>
          <a:xfrm>
            <a:off x="3430758" y="4452928"/>
            <a:ext cx="710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 Schedule</a:t>
            </a:r>
            <a:endParaRPr lang="en-US" sz="628" dirty="0"/>
          </a:p>
        </p:txBody>
      </p:sp>
      <p:sp>
        <p:nvSpPr>
          <p:cNvPr id="15" name="Shape 11"/>
          <p:cNvSpPr/>
          <p:nvPr/>
        </p:nvSpPr>
        <p:spPr>
          <a:xfrm>
            <a:off x="4714875" y="1263774"/>
            <a:ext cx="4143375" cy="770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822031" y="1470217"/>
            <a:ext cx="221345" cy="357188"/>
          </a:xfrm>
          <a:prstGeom prst="roundRect">
            <a:avLst/>
          </a:prstGeom>
          <a:solidFill>
            <a:srgbClr val="3B82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07" y="1577373"/>
            <a:ext cx="178594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50532" y="1370930"/>
            <a:ext cx="360056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AI-Generated Consistency</a:t>
            </a:r>
            <a:endParaRPr lang="en-US" sz="1046" dirty="0"/>
          </a:p>
        </p:txBody>
      </p:sp>
      <p:sp>
        <p:nvSpPr>
          <p:cNvPr id="19" name="Text 14"/>
          <p:cNvSpPr/>
          <p:nvPr/>
        </p:nvSpPr>
        <p:spPr>
          <a:xfrm>
            <a:off x="5150532" y="1606674"/>
            <a:ext cx="3600562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content with 100% reliability. No delays, no gaps. Your brand message delivered consistently every day.</a:t>
            </a:r>
            <a:endParaRPr lang="en-US" sz="837" dirty="0"/>
          </a:p>
        </p:txBody>
      </p:sp>
      <p:sp>
        <p:nvSpPr>
          <p:cNvPr id="20" name="Shape 15"/>
          <p:cNvSpPr/>
          <p:nvPr/>
        </p:nvSpPr>
        <p:spPr>
          <a:xfrm>
            <a:off x="4714875" y="2176723"/>
            <a:ext cx="4143375" cy="770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4822031" y="2383166"/>
            <a:ext cx="210629" cy="357188"/>
          </a:xfrm>
          <a:prstGeom prst="roundRect">
            <a:avLst/>
          </a:prstGeom>
          <a:solidFill>
            <a:srgbClr val="3B82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908" y="2490322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39817" y="2283879"/>
            <a:ext cx="36112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Geopolitical Expertise</a:t>
            </a:r>
            <a:endParaRPr lang="en-US" sz="1046" dirty="0"/>
          </a:p>
        </p:txBody>
      </p:sp>
      <p:sp>
        <p:nvSpPr>
          <p:cNvPr id="24" name="Text 18"/>
          <p:cNvSpPr/>
          <p:nvPr/>
        </p:nvSpPr>
        <p:spPr>
          <a:xfrm>
            <a:off x="5139817" y="2519623"/>
            <a:ext cx="361127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analysis of global events and economic implications. Perfect alignment with finance and business audiences.</a:t>
            </a:r>
            <a:endParaRPr lang="en-US" sz="837" dirty="0"/>
          </a:p>
        </p:txBody>
      </p:sp>
      <p:sp>
        <p:nvSpPr>
          <p:cNvPr id="25" name="Shape 19"/>
          <p:cNvSpPr/>
          <p:nvPr/>
        </p:nvSpPr>
        <p:spPr>
          <a:xfrm>
            <a:off x="4714875" y="3089672"/>
            <a:ext cx="4143375" cy="770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822031" y="3296115"/>
            <a:ext cx="207559" cy="357188"/>
          </a:xfrm>
          <a:prstGeom prst="roundRect">
            <a:avLst/>
          </a:prstGeom>
          <a:solidFill>
            <a:srgbClr val="3B82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73" y="3403271"/>
            <a:ext cx="142875" cy="1428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36747" y="3196828"/>
            <a:ext cx="36143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Audience Quality</a:t>
            </a:r>
            <a:endParaRPr lang="en-US" sz="1046" dirty="0"/>
          </a:p>
        </p:txBody>
      </p:sp>
      <p:sp>
        <p:nvSpPr>
          <p:cNvPr id="29" name="Text 22"/>
          <p:cNvSpPr/>
          <p:nvPr/>
        </p:nvSpPr>
        <p:spPr>
          <a:xfrm>
            <a:off x="5136747" y="3432572"/>
            <a:ext cx="361434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High-income, educated professionals in finance and business sectors. Perfect target demographic for B2B sponsors.</a:t>
            </a:r>
            <a:endParaRPr lang="en-US" sz="837" dirty="0"/>
          </a:p>
        </p:txBody>
      </p:sp>
      <p:sp>
        <p:nvSpPr>
          <p:cNvPr id="30" name="Shape 23"/>
          <p:cNvSpPr/>
          <p:nvPr/>
        </p:nvSpPr>
        <p:spPr>
          <a:xfrm>
            <a:off x="4714875" y="4002621"/>
            <a:ext cx="4143375" cy="770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4"/>
          <p:cNvSpPr/>
          <p:nvPr/>
        </p:nvSpPr>
        <p:spPr>
          <a:xfrm>
            <a:off x="4822031" y="4209064"/>
            <a:ext cx="209708" cy="357188"/>
          </a:xfrm>
          <a:prstGeom prst="roundRect">
            <a:avLst/>
          </a:prstGeom>
          <a:solidFill>
            <a:srgbClr val="3B82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574" y="4316220"/>
            <a:ext cx="178594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38896" y="4109777"/>
            <a:ext cx="36121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Scalable Integration</a:t>
            </a:r>
            <a:endParaRPr lang="en-US" sz="1046" dirty="0"/>
          </a:p>
        </p:txBody>
      </p:sp>
      <p:sp>
        <p:nvSpPr>
          <p:cNvPr id="34" name="Text 26"/>
          <p:cNvSpPr/>
          <p:nvPr/>
        </p:nvSpPr>
        <p:spPr>
          <a:xfrm>
            <a:off x="5138896" y="4345521"/>
            <a:ext cx="361219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sponsor integration through AI optimization. Natural placement and performance optimization included.</a:t>
            </a:r>
            <a:endParaRPr lang="en-US" sz="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745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Audience Demographics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High-Value Audience Profile for Maximum Sponsor ROI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107281"/>
            <a:ext cx="5715000" cy="380999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5060147"/>
            <a:ext cx="2762259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285750" y="5060147"/>
            <a:ext cx="35719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4"/>
          <p:cNvSpPr/>
          <p:nvPr/>
        </p:nvSpPr>
        <p:spPr>
          <a:xfrm>
            <a:off x="392906" y="5167303"/>
            <a:ext cx="200025" cy="200025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65" y="5217309"/>
            <a:ext cx="62508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4369" y="5170875"/>
            <a:ext cx="17066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High Income Professionals </a:t>
            </a:r>
            <a:endParaRPr lang="en-US" sz="942" dirty="0"/>
          </a:p>
        </p:txBody>
      </p:sp>
      <p:sp>
        <p:nvSpPr>
          <p:cNvPr id="11" name="Text 6"/>
          <p:cNvSpPr/>
          <p:nvPr/>
        </p:nvSpPr>
        <p:spPr>
          <a:xfrm>
            <a:off x="392906" y="5424478"/>
            <a:ext cx="25241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58% of our audience earns $100K+ annually, with 32% earning over $150K. This high-income demographic has significant purchasing power. </a:t>
            </a:r>
            <a:endParaRPr lang="en-US" sz="785" dirty="0"/>
          </a:p>
        </p:txBody>
      </p:sp>
      <p:sp>
        <p:nvSpPr>
          <p:cNvPr id="12" name="Shape 7"/>
          <p:cNvSpPr/>
          <p:nvPr/>
        </p:nvSpPr>
        <p:spPr>
          <a:xfrm>
            <a:off x="3167053" y="5060147"/>
            <a:ext cx="2774147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3167053" y="5060147"/>
            <a:ext cx="35719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9"/>
          <p:cNvSpPr/>
          <p:nvPr/>
        </p:nvSpPr>
        <p:spPr>
          <a:xfrm>
            <a:off x="3286125" y="5167303"/>
            <a:ext cx="200025" cy="200025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630" y="5217309"/>
            <a:ext cx="125016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57588" y="5170875"/>
            <a:ext cx="15821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Highly Educated Viewers </a:t>
            </a:r>
            <a:endParaRPr lang="en-US" sz="942" dirty="0"/>
          </a:p>
        </p:txBody>
      </p:sp>
      <p:sp>
        <p:nvSpPr>
          <p:cNvPr id="17" name="Text 11"/>
          <p:cNvSpPr/>
          <p:nvPr/>
        </p:nvSpPr>
        <p:spPr>
          <a:xfrm>
            <a:off x="3286125" y="5424478"/>
            <a:ext cx="253603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65% hold bachelor's degrees or higher, with 25% having postgraduate education. This educated audience values in-depth analysis. </a:t>
            </a:r>
            <a:endParaRPr lang="en-US" sz="785" dirty="0"/>
          </a:p>
        </p:txBody>
      </p:sp>
      <p:sp>
        <p:nvSpPr>
          <p:cNvPr id="18" name="Shape 12"/>
          <p:cNvSpPr/>
          <p:nvPr/>
        </p:nvSpPr>
        <p:spPr>
          <a:xfrm>
            <a:off x="6072188" y="5060147"/>
            <a:ext cx="2786063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6072188" y="5060147"/>
            <a:ext cx="35719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203175" y="5167303"/>
            <a:ext cx="200025" cy="200025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181" y="5217309"/>
            <a:ext cx="100013" cy="1000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74637" y="5170875"/>
            <a:ext cx="10540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Decision Makers 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6203175" y="5424478"/>
            <a:ext cx="254794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42% hold management positions or higher, with 18% at executive level. Your brand message reaches professionals with decision-making authority. </a:t>
            </a:r>
            <a:endParaRPr lang="en-US" sz="7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106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AI-Generated Content Advantage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Our Technology Creates Superior Sponsorship Value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74177"/>
            <a:ext cx="3929063" cy="26193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436408"/>
            <a:ext cx="4143375" cy="109299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3"/>
          <p:cNvSpPr/>
          <p:nvPr/>
        </p:nvSpPr>
        <p:spPr>
          <a:xfrm>
            <a:off x="392906" y="4543565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 Benefits</a:t>
            </a:r>
            <a:endParaRPr lang="en-US" sz="104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88" y="4872177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2751" y="5122208"/>
            <a:ext cx="8075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Precise Targeting</a:t>
            </a:r>
            <a:endParaRPr lang="en-US" sz="73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864" y="4872177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9964" y="5122208"/>
            <a:ext cx="857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Consistent Delivery</a:t>
            </a:r>
            <a:endParaRPr lang="en-US" sz="73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9804" y="4872177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56904" y="5122208"/>
            <a:ext cx="857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Tracking</a:t>
            </a:r>
            <a:endParaRPr lang="en-US" sz="732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203" y="4872177"/>
            <a:ext cx="171450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613845" y="5122208"/>
            <a:ext cx="60819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Optimization</a:t>
            </a:r>
            <a:endParaRPr lang="en-US" sz="732" dirty="0"/>
          </a:p>
        </p:txBody>
      </p:sp>
      <p:sp>
        <p:nvSpPr>
          <p:cNvPr id="16" name="Shape 8"/>
          <p:cNvSpPr/>
          <p:nvPr/>
        </p:nvSpPr>
        <p:spPr>
          <a:xfrm>
            <a:off x="4714875" y="1178719"/>
            <a:ext cx="4143375" cy="1104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9"/>
          <p:cNvSpPr/>
          <p:nvPr/>
        </p:nvSpPr>
        <p:spPr>
          <a:xfrm>
            <a:off x="4822031" y="1285875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8117" y="1393031"/>
            <a:ext cx="125016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86375" y="1285875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Unmatched Consistency</a:t>
            </a:r>
            <a:endParaRPr lang="en-US" sz="1046" dirty="0"/>
          </a:p>
        </p:txBody>
      </p:sp>
      <p:sp>
        <p:nvSpPr>
          <p:cNvPr id="20" name="Text 11"/>
          <p:cNvSpPr/>
          <p:nvPr/>
        </p:nvSpPr>
        <p:spPr>
          <a:xfrm>
            <a:off x="5286375" y="1535906"/>
            <a:ext cx="346471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content delivery with 100% reliability. Our AI system ensures your sponsorship message reaches audiences every single day without fail, maximizing exposure and brand recognition.</a:t>
            </a:r>
            <a:endParaRPr lang="en-US" sz="837" dirty="0"/>
          </a:p>
        </p:txBody>
      </p:sp>
      <p:sp>
        <p:nvSpPr>
          <p:cNvPr id="21" name="Shape 12"/>
          <p:cNvSpPr/>
          <p:nvPr/>
        </p:nvSpPr>
        <p:spPr>
          <a:xfrm>
            <a:off x="4714875" y="2425973"/>
            <a:ext cx="4143375" cy="1104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3"/>
          <p:cNvSpPr/>
          <p:nvPr/>
        </p:nvSpPr>
        <p:spPr>
          <a:xfrm>
            <a:off x="4822031" y="2533129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8117" y="2640285"/>
            <a:ext cx="125016" cy="14287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86375" y="2533129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Analysis</a:t>
            </a:r>
            <a:endParaRPr lang="en-US" sz="1046" dirty="0"/>
          </a:p>
        </p:txBody>
      </p:sp>
      <p:sp>
        <p:nvSpPr>
          <p:cNvPr id="25" name="Text 15"/>
          <p:cNvSpPr/>
          <p:nvPr/>
        </p:nvSpPr>
        <p:spPr>
          <a:xfrm>
            <a:off x="5286375" y="2783160"/>
            <a:ext cx="346471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 created using real-time data from thousands of sources. Our AI analyzes geopolitical events with unprecedented depth, attracting highly engaged viewers seeking quality insights.</a:t>
            </a:r>
            <a:endParaRPr lang="en-US" sz="837" dirty="0"/>
          </a:p>
        </p:txBody>
      </p:sp>
      <p:sp>
        <p:nvSpPr>
          <p:cNvPr id="26" name="Shape 16"/>
          <p:cNvSpPr/>
          <p:nvPr/>
        </p:nvSpPr>
        <p:spPr>
          <a:xfrm>
            <a:off x="4714875" y="3673227"/>
            <a:ext cx="4143375" cy="1104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7"/>
          <p:cNvSpPr/>
          <p:nvPr/>
        </p:nvSpPr>
        <p:spPr>
          <a:xfrm>
            <a:off x="4822031" y="3780383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887539"/>
            <a:ext cx="142875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86375" y="3780383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Optimization</a:t>
            </a:r>
            <a:endParaRPr lang="en-US" sz="1046" dirty="0"/>
          </a:p>
        </p:txBody>
      </p:sp>
      <p:sp>
        <p:nvSpPr>
          <p:cNvPr id="30" name="Text 19"/>
          <p:cNvSpPr/>
          <p:nvPr/>
        </p:nvSpPr>
        <p:spPr>
          <a:xfrm>
            <a:off x="5286375" y="4030414"/>
            <a:ext cx="346471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improvement through machine learning. Our system analyzes viewer engagement and optimizes content in real-time, ensuring your sponsorship receives maximum visibility.</a:t>
            </a:r>
            <a:endParaRPr lang="en-US" sz="837" dirty="0"/>
          </a:p>
        </p:txBody>
      </p:sp>
      <p:sp>
        <p:nvSpPr>
          <p:cNvPr id="31" name="Shape 20"/>
          <p:cNvSpPr/>
          <p:nvPr/>
        </p:nvSpPr>
        <p:spPr>
          <a:xfrm>
            <a:off x="4714875" y="4920481"/>
            <a:ext cx="4143375" cy="1104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1"/>
          <p:cNvSpPr/>
          <p:nvPr/>
        </p:nvSpPr>
        <p:spPr>
          <a:xfrm>
            <a:off x="4822031" y="5027637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5134794"/>
            <a:ext cx="142875" cy="14287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286375" y="5027637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Integration</a:t>
            </a:r>
            <a:endParaRPr lang="en-US" sz="1046" dirty="0"/>
          </a:p>
        </p:txBody>
      </p:sp>
      <p:sp>
        <p:nvSpPr>
          <p:cNvPr id="35" name="Text 23"/>
          <p:cNvSpPr/>
          <p:nvPr/>
        </p:nvSpPr>
        <p:spPr>
          <a:xfrm>
            <a:off x="5286375" y="5277669"/>
            <a:ext cx="346471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sponsor integration feels natural and contextual. Your brand message becomes part of the content narrative, increasing audience receptivity and engagement with your offerings.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36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Sponsorship Packages &amp; Pricing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Partnership Opportunities with Premium ROI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321594"/>
            <a:ext cx="2762259" cy="4014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321594"/>
            <a:ext cx="2762259" cy="1135856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464469"/>
            <a:ext cx="247650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BRONZE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28625" y="1800225"/>
            <a:ext cx="24765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$1,500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8625" y="2143125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month</a:t>
            </a:r>
            <a:endParaRPr lang="en-US" sz="837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621756"/>
            <a:ext cx="128588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8650" y="2600325"/>
            <a:ext cx="1480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30-second mid-roll mention</a:t>
            </a:r>
            <a:endParaRPr lang="en-US" sz="837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878931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8650" y="2857500"/>
            <a:ext cx="13511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Logo in video description</a:t>
            </a:r>
            <a:endParaRPr lang="en-US" sz="83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136106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8650" y="3114675"/>
            <a:ext cx="15863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dedicated social media post</a:t>
            </a:r>
            <a:endParaRPr lang="en-US" sz="83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393281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8650" y="3371850"/>
            <a:ext cx="15932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performance reports</a:t>
            </a:r>
            <a:endParaRPr lang="en-US" sz="837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650456"/>
            <a:ext cx="128588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8650" y="3629025"/>
            <a:ext cx="11066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videos per month</a:t>
            </a:r>
            <a:endParaRPr lang="en-US" sz="837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907631"/>
            <a:ext cx="128588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28650" y="3886200"/>
            <a:ext cx="12472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Basic audience insights</a:t>
            </a:r>
            <a:endParaRPr lang="en-US" sz="837" dirty="0"/>
          </a:p>
        </p:txBody>
      </p:sp>
      <p:sp>
        <p:nvSpPr>
          <p:cNvPr id="22" name="Shape 13"/>
          <p:cNvSpPr/>
          <p:nvPr/>
        </p:nvSpPr>
        <p:spPr>
          <a:xfrm>
            <a:off x="285750" y="4800600"/>
            <a:ext cx="2762259" cy="535781"/>
          </a:xfrm>
          <a:prstGeom prst="rect">
            <a:avLst/>
          </a:prstGeom>
          <a:solidFill>
            <a:srgbClr val="F9FAFB"/>
          </a:solidFill>
          <a:ln w="99">
            <a:solidFill>
              <a:srgbClr val="E5E7EB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1140684" y="4914900"/>
            <a:ext cx="1052364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15"/>
          <p:cNvSpPr/>
          <p:nvPr/>
        </p:nvSpPr>
        <p:spPr>
          <a:xfrm>
            <a:off x="1140684" y="4914900"/>
            <a:ext cx="1052364" cy="314325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Bronze</a:t>
            </a:r>
            <a:endParaRPr lang="en-US" sz="837" dirty="0"/>
          </a:p>
        </p:txBody>
      </p:sp>
      <p:sp>
        <p:nvSpPr>
          <p:cNvPr id="25" name="Shape 16"/>
          <p:cNvSpPr/>
          <p:nvPr/>
        </p:nvSpPr>
        <p:spPr>
          <a:xfrm>
            <a:off x="3190884" y="1321594"/>
            <a:ext cx="2762259" cy="4014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7"/>
          <p:cNvSpPr/>
          <p:nvPr/>
        </p:nvSpPr>
        <p:spPr>
          <a:xfrm>
            <a:off x="3190884" y="1321594"/>
            <a:ext cx="2762259" cy="1135856"/>
          </a:xfrm>
          <a:prstGeom prst="rect">
            <a:avLst/>
          </a:prstGeom>
          <a:solidFill>
            <a:srgbClr val="A7A9AC"/>
          </a:solidFill>
          <a:ln/>
        </p:spPr>
      </p:sp>
      <p:sp>
        <p:nvSpPr>
          <p:cNvPr id="27" name="Text 18"/>
          <p:cNvSpPr/>
          <p:nvPr/>
        </p:nvSpPr>
        <p:spPr>
          <a:xfrm>
            <a:off x="3333759" y="1464469"/>
            <a:ext cx="247650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SILVER</a:t>
            </a:r>
            <a:endParaRPr lang="en-US" sz="1575" dirty="0"/>
          </a:p>
        </p:txBody>
      </p:sp>
      <p:sp>
        <p:nvSpPr>
          <p:cNvPr id="28" name="Text 19"/>
          <p:cNvSpPr/>
          <p:nvPr/>
        </p:nvSpPr>
        <p:spPr>
          <a:xfrm>
            <a:off x="3333759" y="1800225"/>
            <a:ext cx="24765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$3,500</a:t>
            </a:r>
            <a:endParaRPr lang="en-US" sz="1800" dirty="0"/>
          </a:p>
        </p:txBody>
      </p:sp>
      <p:sp>
        <p:nvSpPr>
          <p:cNvPr id="29" name="Text 20"/>
          <p:cNvSpPr/>
          <p:nvPr/>
        </p:nvSpPr>
        <p:spPr>
          <a:xfrm>
            <a:off x="3333759" y="2143125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month</a:t>
            </a:r>
            <a:endParaRPr lang="en-US" sz="837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59" y="2621756"/>
            <a:ext cx="128588" cy="1285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533784" y="2600325"/>
            <a:ext cx="16134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60-second dedicated segment</a:t>
            </a:r>
            <a:endParaRPr lang="en-US" sz="837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9" y="2878931"/>
            <a:ext cx="128588" cy="12858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533784" y="2857500"/>
            <a:ext cx="13027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Logo in video thumbnail</a:t>
            </a:r>
            <a:endParaRPr lang="en-US" sz="837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9" y="3136106"/>
            <a:ext cx="128588" cy="12858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533784" y="3114675"/>
            <a:ext cx="16411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dedicated social media posts</a:t>
            </a:r>
            <a:endParaRPr lang="en-US" sz="837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3759" y="3393281"/>
            <a:ext cx="128588" cy="1285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533784" y="3371850"/>
            <a:ext cx="15318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Weekly performance reports</a:t>
            </a:r>
            <a:endParaRPr lang="en-US" sz="837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3759" y="3650456"/>
            <a:ext cx="128588" cy="12858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3533784" y="3629025"/>
            <a:ext cx="11066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videos per month</a:t>
            </a:r>
            <a:endParaRPr lang="en-US" sz="837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3759" y="3907631"/>
            <a:ext cx="128588" cy="12858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3533784" y="3886200"/>
            <a:ext cx="14954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audience insights</a:t>
            </a:r>
            <a:endParaRPr lang="en-US" sz="837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3759" y="4164806"/>
            <a:ext cx="128588" cy="12858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3533784" y="4143375"/>
            <a:ext cx="10640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Newsletter mention</a:t>
            </a:r>
            <a:endParaRPr lang="en-US" sz="837" dirty="0"/>
          </a:p>
        </p:txBody>
      </p:sp>
      <p:sp>
        <p:nvSpPr>
          <p:cNvPr id="44" name="Shape 28"/>
          <p:cNvSpPr/>
          <p:nvPr/>
        </p:nvSpPr>
        <p:spPr>
          <a:xfrm>
            <a:off x="3190884" y="4800600"/>
            <a:ext cx="2762259" cy="535781"/>
          </a:xfrm>
          <a:prstGeom prst="rect">
            <a:avLst/>
          </a:prstGeom>
          <a:solidFill>
            <a:srgbClr val="F9FAFB"/>
          </a:solidFill>
          <a:ln w="99">
            <a:solidFill>
              <a:srgbClr val="E5E7EB"/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4085025" y="4914900"/>
            <a:ext cx="973950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30"/>
          <p:cNvSpPr/>
          <p:nvPr/>
        </p:nvSpPr>
        <p:spPr>
          <a:xfrm>
            <a:off x="4085025" y="4914900"/>
            <a:ext cx="973950" cy="314325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Silver</a:t>
            </a:r>
            <a:endParaRPr lang="en-US" sz="837" dirty="0"/>
          </a:p>
        </p:txBody>
      </p:sp>
      <p:sp>
        <p:nvSpPr>
          <p:cNvPr id="47" name="Shape 31"/>
          <p:cNvSpPr/>
          <p:nvPr/>
        </p:nvSpPr>
        <p:spPr>
          <a:xfrm>
            <a:off x="6096019" y="1321594"/>
            <a:ext cx="2762259" cy="4014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32"/>
          <p:cNvSpPr/>
          <p:nvPr/>
        </p:nvSpPr>
        <p:spPr>
          <a:xfrm>
            <a:off x="6096019" y="1321594"/>
            <a:ext cx="2762259" cy="113585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9" name="Text 33"/>
          <p:cNvSpPr/>
          <p:nvPr/>
        </p:nvSpPr>
        <p:spPr>
          <a:xfrm>
            <a:off x="6238894" y="1464469"/>
            <a:ext cx="247650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GOLD</a:t>
            </a:r>
            <a:endParaRPr lang="en-US" sz="1575" dirty="0"/>
          </a:p>
        </p:txBody>
      </p:sp>
      <p:sp>
        <p:nvSpPr>
          <p:cNvPr id="50" name="Text 34"/>
          <p:cNvSpPr/>
          <p:nvPr/>
        </p:nvSpPr>
        <p:spPr>
          <a:xfrm>
            <a:off x="6238894" y="1800225"/>
            <a:ext cx="24765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$7,000</a:t>
            </a:r>
            <a:endParaRPr lang="en-US" sz="1800" dirty="0"/>
          </a:p>
        </p:txBody>
      </p:sp>
      <p:sp>
        <p:nvSpPr>
          <p:cNvPr id="51" name="Text 35"/>
          <p:cNvSpPr/>
          <p:nvPr/>
        </p:nvSpPr>
        <p:spPr>
          <a:xfrm>
            <a:off x="6238894" y="2143125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month</a:t>
            </a:r>
            <a:endParaRPr lang="en-US" sz="837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94" y="2621756"/>
            <a:ext cx="128588" cy="128588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6438919" y="2600325"/>
            <a:ext cx="15774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90-second premium segment</a:t>
            </a:r>
            <a:endParaRPr lang="en-US" sz="837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8894" y="2878931"/>
            <a:ext cx="128588" cy="128588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6438919" y="2857500"/>
            <a:ext cx="13416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branded content</a:t>
            </a:r>
            <a:endParaRPr lang="en-US" sz="837" dirty="0"/>
          </a:p>
        </p:txBody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8894" y="3136106"/>
            <a:ext cx="128588" cy="128588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6438919" y="3114675"/>
            <a:ext cx="16411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dedicated social media posts</a:t>
            </a:r>
            <a:endParaRPr lang="en-US" sz="837" dirty="0"/>
          </a:p>
        </p:txBody>
      </p:sp>
      <p:pic>
        <p:nvPicPr>
          <p:cNvPr id="5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8894" y="3393281"/>
            <a:ext cx="128588" cy="128588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6438919" y="3371850"/>
            <a:ext cx="18447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performance dashboard</a:t>
            </a:r>
            <a:endParaRPr lang="en-US" sz="837" dirty="0"/>
          </a:p>
        </p:txBody>
      </p:sp>
      <p:pic>
        <p:nvPicPr>
          <p:cNvPr id="6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8894" y="3650456"/>
            <a:ext cx="128588" cy="128588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6438919" y="3629025"/>
            <a:ext cx="11066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videos per month</a:t>
            </a:r>
            <a:endParaRPr lang="en-US" sz="837" dirty="0"/>
          </a:p>
        </p:txBody>
      </p:sp>
      <p:pic>
        <p:nvPicPr>
          <p:cNvPr id="6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38894" y="3907631"/>
            <a:ext cx="128588" cy="128588"/>
          </a:xfrm>
          <a:prstGeom prst="rect">
            <a:avLst/>
          </a:prstGeom>
        </p:spPr>
      </p:pic>
      <p:sp>
        <p:nvSpPr>
          <p:cNvPr id="63" name="Text 41"/>
          <p:cNvSpPr/>
          <p:nvPr/>
        </p:nvSpPr>
        <p:spPr>
          <a:xfrm>
            <a:off x="6438919" y="3886200"/>
            <a:ext cx="1462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audience insights</a:t>
            </a:r>
            <a:endParaRPr lang="en-US" sz="837" dirty="0"/>
          </a:p>
        </p:txBody>
      </p:sp>
      <p:pic>
        <p:nvPicPr>
          <p:cNvPr id="6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8894" y="4164806"/>
            <a:ext cx="128588" cy="128588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6438919" y="4143375"/>
            <a:ext cx="1670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Featured newsletter placement</a:t>
            </a:r>
            <a:endParaRPr lang="en-US" sz="837" dirty="0"/>
          </a:p>
        </p:txBody>
      </p:sp>
      <p:pic>
        <p:nvPicPr>
          <p:cNvPr id="6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38894" y="4421981"/>
            <a:ext cx="128588" cy="128588"/>
          </a:xfrm>
          <a:prstGeom prst="rect">
            <a:avLst/>
          </a:prstGeom>
        </p:spPr>
      </p:pic>
      <p:sp>
        <p:nvSpPr>
          <p:cNvPr id="67" name="Text 43"/>
          <p:cNvSpPr/>
          <p:nvPr/>
        </p:nvSpPr>
        <p:spPr>
          <a:xfrm>
            <a:off x="6438919" y="4400550"/>
            <a:ext cx="16762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Quarterly strategy consultation</a:t>
            </a:r>
            <a:endParaRPr lang="en-US" sz="837" dirty="0"/>
          </a:p>
        </p:txBody>
      </p:sp>
      <p:sp>
        <p:nvSpPr>
          <p:cNvPr id="68" name="Shape 44"/>
          <p:cNvSpPr/>
          <p:nvPr/>
        </p:nvSpPr>
        <p:spPr>
          <a:xfrm>
            <a:off x="6096019" y="4800600"/>
            <a:ext cx="2762259" cy="535781"/>
          </a:xfrm>
          <a:prstGeom prst="rect">
            <a:avLst/>
          </a:prstGeom>
          <a:solidFill>
            <a:srgbClr val="F9FAFB"/>
          </a:solidFill>
          <a:ln w="99">
            <a:solidFill>
              <a:srgbClr val="E5E7EB"/>
            </a:solidFill>
            <a:prstDash val="solid"/>
          </a:ln>
        </p:spPr>
      </p:sp>
      <p:sp>
        <p:nvSpPr>
          <p:cNvPr id="69" name="Shape 45"/>
          <p:cNvSpPr/>
          <p:nvPr/>
        </p:nvSpPr>
        <p:spPr>
          <a:xfrm>
            <a:off x="7018400" y="4907756"/>
            <a:ext cx="917497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46"/>
          <p:cNvSpPr/>
          <p:nvPr/>
        </p:nvSpPr>
        <p:spPr>
          <a:xfrm>
            <a:off x="7018400" y="4907756"/>
            <a:ext cx="917497" cy="314325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Gold</a:t>
            </a:r>
            <a:endParaRPr lang="en-US" sz="837" dirty="0"/>
          </a:p>
        </p:txBody>
      </p:sp>
      <p:sp>
        <p:nvSpPr>
          <p:cNvPr id="71" name="Text 47"/>
          <p:cNvSpPr/>
          <p:nvPr/>
        </p:nvSpPr>
        <p:spPr>
          <a:xfrm>
            <a:off x="285750" y="5472113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i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All packages include AI-optimized placement and performance tracking. Custom packages available upon request. </a:t>
            </a:r>
            <a:endParaRPr lang="en-US" sz="83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821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 Integration Examples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14313" y="635794"/>
            <a:ext cx="8715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Brand Integration with AI-Generated Content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14313" y="1035844"/>
            <a:ext cx="4286250" cy="2044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14313" y="1035844"/>
            <a:ext cx="4286250" cy="335756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1139428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494" y="1107281"/>
            <a:ext cx="145163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Intro Sponsor Mention 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321469" y="1478756"/>
            <a:ext cx="4071938" cy="10715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6"/>
          <p:cNvSpPr/>
          <p:nvPr/>
        </p:nvSpPr>
        <p:spPr>
          <a:xfrm>
            <a:off x="321469" y="1478756"/>
            <a:ext cx="4071938" cy="1071563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321469" y="1478756"/>
            <a:ext cx="4071938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"Today's geopolitical analysis of the Ukraine situation..." 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660182" y="1621631"/>
            <a:ext cx="1590349" cy="264319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338" y="1703784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24501" y="1678781"/>
            <a:ext cx="12188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Presented by SecureVPN </a:t>
            </a:r>
            <a:endParaRPr lang="en-US" sz="732" dirty="0"/>
          </a:p>
        </p:txBody>
      </p:sp>
      <p:sp>
        <p:nvSpPr>
          <p:cNvPr id="15" name="Text 10"/>
          <p:cNvSpPr/>
          <p:nvPr/>
        </p:nvSpPr>
        <p:spPr>
          <a:xfrm>
            <a:off x="321469" y="2694980"/>
            <a:ext cx="10154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 Integration:</a:t>
            </a:r>
            <a:endParaRPr lang="en-US" sz="732" dirty="0"/>
          </a:p>
        </p:txBody>
      </p:sp>
      <p:sp>
        <p:nvSpPr>
          <p:cNvPr id="16" name="Text 11"/>
          <p:cNvSpPr/>
          <p:nvPr/>
        </p:nvSpPr>
        <p:spPr>
          <a:xfrm>
            <a:off x="1336914" y="2694980"/>
            <a:ext cx="2774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Brief 5-10 second sponsor mention at the beginning of the </a:t>
            </a:r>
            <a:endParaRPr lang="en-US" sz="732" dirty="0"/>
          </a:p>
        </p:txBody>
      </p:sp>
      <p:sp>
        <p:nvSpPr>
          <p:cNvPr id="17" name="Text 12"/>
          <p:cNvSpPr/>
          <p:nvPr/>
        </p:nvSpPr>
        <p:spPr>
          <a:xfrm>
            <a:off x="321469" y="2834980"/>
            <a:ext cx="29668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video, positioned as the presenting sponsor of today's analysis. </a:t>
            </a:r>
            <a:endParaRPr lang="en-US" sz="732" dirty="0"/>
          </a:p>
        </p:txBody>
      </p:sp>
      <p:sp>
        <p:nvSpPr>
          <p:cNvPr id="18" name="Shape 13"/>
          <p:cNvSpPr/>
          <p:nvPr/>
        </p:nvSpPr>
        <p:spPr>
          <a:xfrm>
            <a:off x="4643438" y="1035844"/>
            <a:ext cx="4286250" cy="2044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4643438" y="1035844"/>
            <a:ext cx="4286250" cy="335756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94" y="1139428"/>
            <a:ext cx="128588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50619" y="1107281"/>
            <a:ext cx="11304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Mid-Roll Segment 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4750594" y="1478756"/>
            <a:ext cx="4071938" cy="10715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Shape 17"/>
          <p:cNvSpPr/>
          <p:nvPr/>
        </p:nvSpPr>
        <p:spPr>
          <a:xfrm>
            <a:off x="4750594" y="1478756"/>
            <a:ext cx="4071938" cy="1071563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4750594" y="1478756"/>
            <a:ext cx="4071938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"...which brings us to the financial implications..." </a:t>
            </a:r>
            <a:endParaRPr lang="en-US" sz="732" dirty="0"/>
          </a:p>
        </p:txBody>
      </p:sp>
      <p:sp>
        <p:nvSpPr>
          <p:cNvPr id="25" name="Shape 19"/>
          <p:cNvSpPr/>
          <p:nvPr/>
        </p:nvSpPr>
        <p:spPr>
          <a:xfrm>
            <a:off x="5768578" y="1682353"/>
            <a:ext cx="2035969" cy="664369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172" y="1964531"/>
            <a:ext cx="100013" cy="10001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04334" y="1789509"/>
            <a:ext cx="58640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Financial analysis powered by</a:t>
            </a:r>
            <a:endParaRPr lang="en-US" sz="732" dirty="0"/>
          </a:p>
        </p:txBody>
      </p:sp>
      <p:sp>
        <p:nvSpPr>
          <p:cNvPr id="28" name="Text 21"/>
          <p:cNvSpPr/>
          <p:nvPr/>
        </p:nvSpPr>
        <p:spPr>
          <a:xfrm>
            <a:off x="6805036" y="1939528"/>
            <a:ext cx="8209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TradingPlatform </a:t>
            </a:r>
            <a:endParaRPr lang="en-US" sz="732" dirty="0"/>
          </a:p>
        </p:txBody>
      </p:sp>
      <p:sp>
        <p:nvSpPr>
          <p:cNvPr id="29" name="Text 22"/>
          <p:cNvSpPr/>
          <p:nvPr/>
        </p:nvSpPr>
        <p:spPr>
          <a:xfrm>
            <a:off x="4750594" y="2694980"/>
            <a:ext cx="11348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Contextual Placement:</a:t>
            </a:r>
            <a:endParaRPr lang="en-US" sz="732" dirty="0"/>
          </a:p>
        </p:txBody>
      </p:sp>
      <p:sp>
        <p:nvSpPr>
          <p:cNvPr id="30" name="Text 23"/>
          <p:cNvSpPr/>
          <p:nvPr/>
        </p:nvSpPr>
        <p:spPr>
          <a:xfrm>
            <a:off x="5885445" y="2694980"/>
            <a:ext cx="27354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30-60 second dedicated segment naturally integrated at a </a:t>
            </a:r>
            <a:endParaRPr lang="en-US" sz="732" dirty="0"/>
          </a:p>
        </p:txBody>
      </p:sp>
      <p:sp>
        <p:nvSpPr>
          <p:cNvPr id="31" name="Text 24"/>
          <p:cNvSpPr/>
          <p:nvPr/>
        </p:nvSpPr>
        <p:spPr>
          <a:xfrm>
            <a:off x="4750594" y="2834980"/>
            <a:ext cx="18372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relevant transition point in the content. </a:t>
            </a:r>
            <a:endParaRPr lang="en-US" sz="732" dirty="0"/>
          </a:p>
        </p:txBody>
      </p:sp>
      <p:sp>
        <p:nvSpPr>
          <p:cNvPr id="32" name="Shape 25"/>
          <p:cNvSpPr/>
          <p:nvPr/>
        </p:nvSpPr>
        <p:spPr>
          <a:xfrm>
            <a:off x="214313" y="3223227"/>
            <a:ext cx="4286250" cy="20587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6"/>
          <p:cNvSpPr/>
          <p:nvPr/>
        </p:nvSpPr>
        <p:spPr>
          <a:xfrm>
            <a:off x="214313" y="3223227"/>
            <a:ext cx="4286250" cy="335756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9" y="3326811"/>
            <a:ext cx="128588" cy="128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1494" y="3294664"/>
            <a:ext cx="153663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Lower Third Integration </a:t>
            </a:r>
            <a:endParaRPr lang="en-US" sz="942" dirty="0"/>
          </a:p>
        </p:txBody>
      </p:sp>
      <p:sp>
        <p:nvSpPr>
          <p:cNvPr id="36" name="Shape 28"/>
          <p:cNvSpPr/>
          <p:nvPr/>
        </p:nvSpPr>
        <p:spPr>
          <a:xfrm>
            <a:off x="321469" y="3666139"/>
            <a:ext cx="4071938" cy="10715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Shape 29"/>
          <p:cNvSpPr/>
          <p:nvPr/>
        </p:nvSpPr>
        <p:spPr>
          <a:xfrm>
            <a:off x="321469" y="3666139"/>
            <a:ext cx="4071938" cy="1071563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8" name="Text 30"/>
          <p:cNvSpPr/>
          <p:nvPr/>
        </p:nvSpPr>
        <p:spPr>
          <a:xfrm>
            <a:off x="321469" y="3666139"/>
            <a:ext cx="4071938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"The economic sanctions are expected to impact global markets..." </a:t>
            </a:r>
            <a:endParaRPr lang="en-US" sz="732" dirty="0"/>
          </a:p>
        </p:txBody>
      </p:sp>
      <p:sp>
        <p:nvSpPr>
          <p:cNvPr id="39" name="Shape 31"/>
          <p:cNvSpPr/>
          <p:nvPr/>
        </p:nvSpPr>
        <p:spPr>
          <a:xfrm>
            <a:off x="464344" y="4180489"/>
            <a:ext cx="3786188" cy="414338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37652"/>
            <a:ext cx="100013" cy="10001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28663" y="4237639"/>
            <a:ext cx="34147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investment insights on these developments, visit InvestCorp.com </a:t>
            </a:r>
            <a:endParaRPr lang="en-US" sz="732" dirty="0"/>
          </a:p>
        </p:txBody>
      </p:sp>
      <p:sp>
        <p:nvSpPr>
          <p:cNvPr id="42" name="Text 33"/>
          <p:cNvSpPr/>
          <p:nvPr/>
        </p:nvSpPr>
        <p:spPr>
          <a:xfrm>
            <a:off x="321469" y="4882362"/>
            <a:ext cx="8312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Subtle Branding:</a:t>
            </a:r>
            <a:endParaRPr lang="en-US" sz="732" dirty="0"/>
          </a:p>
        </p:txBody>
      </p:sp>
      <p:sp>
        <p:nvSpPr>
          <p:cNvPr id="43" name="Text 34"/>
          <p:cNvSpPr/>
          <p:nvPr/>
        </p:nvSpPr>
        <p:spPr>
          <a:xfrm>
            <a:off x="1152683" y="4882362"/>
            <a:ext cx="32228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Non-intrusive lower third graphic appearing during relevant content </a:t>
            </a:r>
            <a:endParaRPr lang="en-US" sz="732" dirty="0"/>
          </a:p>
        </p:txBody>
      </p:sp>
      <p:sp>
        <p:nvSpPr>
          <p:cNvPr id="44" name="Text 35"/>
          <p:cNvSpPr/>
          <p:nvPr/>
        </p:nvSpPr>
        <p:spPr>
          <a:xfrm>
            <a:off x="321469" y="5022363"/>
            <a:ext cx="12705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sections for 15-20 seconds. </a:t>
            </a:r>
            <a:endParaRPr lang="en-US" sz="732" dirty="0"/>
          </a:p>
        </p:txBody>
      </p:sp>
      <p:sp>
        <p:nvSpPr>
          <p:cNvPr id="45" name="Shape 36"/>
          <p:cNvSpPr/>
          <p:nvPr/>
        </p:nvSpPr>
        <p:spPr>
          <a:xfrm>
            <a:off x="4643438" y="3223227"/>
            <a:ext cx="4286250" cy="20587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7"/>
          <p:cNvSpPr/>
          <p:nvPr/>
        </p:nvSpPr>
        <p:spPr>
          <a:xfrm>
            <a:off x="4643438" y="3223227"/>
            <a:ext cx="4286250" cy="335756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594" y="3326811"/>
            <a:ext cx="160734" cy="1285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982766" y="3294664"/>
            <a:ext cx="18627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Description &amp; Resource Links </a:t>
            </a:r>
            <a:endParaRPr lang="en-US" sz="942" dirty="0"/>
          </a:p>
        </p:txBody>
      </p:sp>
      <p:sp>
        <p:nvSpPr>
          <p:cNvPr id="49" name="Shape 39"/>
          <p:cNvSpPr/>
          <p:nvPr/>
        </p:nvSpPr>
        <p:spPr>
          <a:xfrm>
            <a:off x="4750594" y="3737577"/>
            <a:ext cx="4071938" cy="1085850"/>
          </a:xfrm>
          <a:prstGeom prst="rect">
            <a:avLst/>
          </a:prstGeom>
          <a:solidFill>
            <a:srgbClr val="F9FAFB"/>
          </a:solidFill>
          <a:ln w="99">
            <a:solidFill>
              <a:srgbClr val="E5E7EB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4857750" y="3844733"/>
            <a:ext cx="3857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Today's analysis covers the latest developments in the Ukraine conflict and potential economic impacts.</a:t>
            </a:r>
            <a:endParaRPr lang="en-US" sz="732" dirty="0"/>
          </a:p>
        </p:txBody>
      </p:sp>
      <p:sp>
        <p:nvSpPr>
          <p:cNvPr id="51" name="Text 41"/>
          <p:cNvSpPr/>
          <p:nvPr/>
        </p:nvSpPr>
        <p:spPr>
          <a:xfrm>
            <a:off x="4857750" y="4223352"/>
            <a:ext cx="5345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Resources:</a:t>
            </a:r>
            <a:endParaRPr lang="en-US" sz="732" dirty="0"/>
          </a:p>
        </p:txBody>
      </p:sp>
      <p:sp>
        <p:nvSpPr>
          <p:cNvPr id="52" name="Text 42"/>
          <p:cNvSpPr/>
          <p:nvPr/>
        </p:nvSpPr>
        <p:spPr>
          <a:xfrm>
            <a:off x="4857750" y="4409089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53" name="Text 43"/>
          <p:cNvSpPr/>
          <p:nvPr/>
        </p:nvSpPr>
        <p:spPr>
          <a:xfrm>
            <a:off x="4921374" y="4409089"/>
            <a:ext cx="20779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TradingPlatform: Special offer for viewers</a:t>
            </a:r>
            <a:endParaRPr lang="en-US" sz="732" dirty="0"/>
          </a:p>
        </p:txBody>
      </p:sp>
      <p:sp>
        <p:nvSpPr>
          <p:cNvPr id="54" name="Text 44"/>
          <p:cNvSpPr/>
          <p:nvPr/>
        </p:nvSpPr>
        <p:spPr>
          <a:xfrm>
            <a:off x="4857750" y="4559108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55" name="Text 45"/>
          <p:cNvSpPr/>
          <p:nvPr/>
        </p:nvSpPr>
        <p:spPr>
          <a:xfrm>
            <a:off x="4921374" y="4559108"/>
            <a:ext cx="23876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SecureVPN: Protect your data while researching</a:t>
            </a:r>
            <a:endParaRPr lang="en-US" sz="732" dirty="0"/>
          </a:p>
        </p:txBody>
      </p:sp>
      <p:sp>
        <p:nvSpPr>
          <p:cNvPr id="56" name="Text 46"/>
          <p:cNvSpPr/>
          <p:nvPr/>
        </p:nvSpPr>
        <p:spPr>
          <a:xfrm>
            <a:off x="4750594" y="4882362"/>
            <a:ext cx="11565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Extended Engagement:</a:t>
            </a:r>
            <a:endParaRPr lang="en-US" sz="732" dirty="0"/>
          </a:p>
        </p:txBody>
      </p:sp>
      <p:sp>
        <p:nvSpPr>
          <p:cNvPr id="57" name="Text 47"/>
          <p:cNvSpPr/>
          <p:nvPr/>
        </p:nvSpPr>
        <p:spPr>
          <a:xfrm>
            <a:off x="5907156" y="4882362"/>
            <a:ext cx="25929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Prominent placement in video description with custom </a:t>
            </a:r>
            <a:endParaRPr lang="en-US" sz="732" dirty="0"/>
          </a:p>
        </p:txBody>
      </p:sp>
      <p:sp>
        <p:nvSpPr>
          <p:cNvPr id="58" name="Text 48"/>
          <p:cNvSpPr/>
          <p:nvPr/>
        </p:nvSpPr>
        <p:spPr>
          <a:xfrm>
            <a:off x="4750594" y="5022363"/>
            <a:ext cx="6496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tracking links. </a:t>
            </a:r>
            <a:endParaRPr lang="en-US" sz="732" dirty="0"/>
          </a:p>
        </p:txBody>
      </p:sp>
      <p:sp>
        <p:nvSpPr>
          <p:cNvPr id="59" name="Shape 49"/>
          <p:cNvSpPr/>
          <p:nvPr/>
        </p:nvSpPr>
        <p:spPr>
          <a:xfrm>
            <a:off x="1594117" y="541060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2698" y="5489191"/>
            <a:ext cx="128588" cy="128588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1201210" y="5753509"/>
            <a:ext cx="1071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 Content Integration</a:t>
            </a:r>
            <a:endParaRPr lang="en-US" sz="732" dirty="0"/>
          </a:p>
        </p:txBody>
      </p:sp>
      <p:sp>
        <p:nvSpPr>
          <p:cNvPr id="62" name="Shape 51"/>
          <p:cNvSpPr/>
          <p:nvPr/>
        </p:nvSpPr>
        <p:spPr>
          <a:xfrm>
            <a:off x="3652577" y="541060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1158" y="5489191"/>
            <a:ext cx="128588" cy="128588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3259671" y="5753509"/>
            <a:ext cx="1071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AI-Optimized Placement</a:t>
            </a:r>
            <a:endParaRPr lang="en-US" sz="732" dirty="0"/>
          </a:p>
        </p:txBody>
      </p:sp>
      <p:sp>
        <p:nvSpPr>
          <p:cNvPr id="65" name="Shape 53"/>
          <p:cNvSpPr/>
          <p:nvPr/>
        </p:nvSpPr>
        <p:spPr>
          <a:xfrm>
            <a:off x="5711037" y="541060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1582" y="5489191"/>
            <a:ext cx="144661" cy="128588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5318131" y="5753509"/>
            <a:ext cx="1071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Tracking</a:t>
            </a:r>
            <a:endParaRPr lang="en-US" sz="732" dirty="0"/>
          </a:p>
        </p:txBody>
      </p:sp>
      <p:sp>
        <p:nvSpPr>
          <p:cNvPr id="68" name="Shape 55"/>
          <p:cNvSpPr/>
          <p:nvPr/>
        </p:nvSpPr>
        <p:spPr>
          <a:xfrm>
            <a:off x="7516816" y="541060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5397" y="5489191"/>
            <a:ext cx="128588" cy="128588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7376592" y="5753509"/>
            <a:ext cx="56619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A/B Testing</a:t>
            </a:r>
            <a:endParaRPr lang="en-US" sz="7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Metrics &amp; ROI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14313" y="635794"/>
            <a:ext cx="8715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Measurable Results and Return on Investment for Sponsors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14313" y="1035844"/>
            <a:ext cx="4357688" cy="38933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1178719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344" y="1151930"/>
            <a:ext cx="21472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Sponsor Performance Metrics </a:t>
            </a:r>
            <a:endParaRPr lang="en-US" sz="104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9" y="1428750"/>
            <a:ext cx="4143375" cy="17859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1469" y="3321844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Benchmark Comparison </a:t>
            </a:r>
            <a:endParaRPr lang="en-US" sz="837" dirty="0"/>
          </a:p>
        </p:txBody>
      </p:sp>
      <p:sp>
        <p:nvSpPr>
          <p:cNvPr id="10" name="Text 5"/>
          <p:cNvSpPr/>
          <p:nvPr/>
        </p:nvSpPr>
        <p:spPr>
          <a:xfrm>
            <a:off x="321469" y="3550444"/>
            <a:ext cx="8376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Engagement Rate</a:t>
            </a:r>
            <a:endParaRPr lang="en-US" sz="732" dirty="0"/>
          </a:p>
        </p:txBody>
      </p:sp>
      <p:sp>
        <p:nvSpPr>
          <p:cNvPr id="11" name="Text 6"/>
          <p:cNvSpPr/>
          <p:nvPr/>
        </p:nvSpPr>
        <p:spPr>
          <a:xfrm>
            <a:off x="3169872" y="3550444"/>
            <a:ext cx="12949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8.2% vs 4.1% Industry Avg</a:t>
            </a:r>
            <a:endParaRPr lang="en-US" sz="732" dirty="0"/>
          </a:p>
        </p:txBody>
      </p:sp>
      <p:sp>
        <p:nvSpPr>
          <p:cNvPr id="12" name="Shape 7"/>
          <p:cNvSpPr/>
          <p:nvPr/>
        </p:nvSpPr>
        <p:spPr>
          <a:xfrm>
            <a:off x="321469" y="3736181"/>
            <a:ext cx="4143375" cy="57150"/>
          </a:xfrm>
          <a:prstGeom prst="roundRect">
            <a:avLst/>
          </a:prstGeom>
          <a:solidFill>
            <a:srgbClr val="E5E7EB"/>
          </a:solidFill>
          <a:ln/>
        </p:spPr>
      </p:sp>
      <p:sp>
        <p:nvSpPr>
          <p:cNvPr id="13" name="Shape 8"/>
          <p:cNvSpPr/>
          <p:nvPr/>
        </p:nvSpPr>
        <p:spPr>
          <a:xfrm>
            <a:off x="321469" y="3736181"/>
            <a:ext cx="3397551" cy="5715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4" name="Shape 9"/>
          <p:cNvSpPr/>
          <p:nvPr/>
        </p:nvSpPr>
        <p:spPr>
          <a:xfrm>
            <a:off x="2020230" y="3736181"/>
            <a:ext cx="14288" cy="571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0"/>
          <p:cNvSpPr/>
          <p:nvPr/>
        </p:nvSpPr>
        <p:spPr>
          <a:xfrm>
            <a:off x="321469" y="3864769"/>
            <a:ext cx="8836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Click-Through Rate</a:t>
            </a:r>
            <a:endParaRPr lang="en-US" sz="732" dirty="0"/>
          </a:p>
        </p:txBody>
      </p:sp>
      <p:sp>
        <p:nvSpPr>
          <p:cNvPr id="16" name="Text 11"/>
          <p:cNvSpPr/>
          <p:nvPr/>
        </p:nvSpPr>
        <p:spPr>
          <a:xfrm>
            <a:off x="3169872" y="3864769"/>
            <a:ext cx="12949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5.7% vs 2.8% Industry Avg</a:t>
            </a:r>
            <a:endParaRPr lang="en-US" sz="732" dirty="0"/>
          </a:p>
        </p:txBody>
      </p:sp>
      <p:sp>
        <p:nvSpPr>
          <p:cNvPr id="17" name="Shape 12"/>
          <p:cNvSpPr/>
          <p:nvPr/>
        </p:nvSpPr>
        <p:spPr>
          <a:xfrm>
            <a:off x="321469" y="4050506"/>
            <a:ext cx="4143375" cy="57150"/>
          </a:xfrm>
          <a:prstGeom prst="roundRect">
            <a:avLst/>
          </a:prstGeom>
          <a:solidFill>
            <a:srgbClr val="E5E7EB"/>
          </a:solidFill>
          <a:ln/>
        </p:spPr>
      </p:sp>
      <p:sp>
        <p:nvSpPr>
          <p:cNvPr id="18" name="Shape 13"/>
          <p:cNvSpPr/>
          <p:nvPr/>
        </p:nvSpPr>
        <p:spPr>
          <a:xfrm>
            <a:off x="321469" y="4050506"/>
            <a:ext cx="2361707" cy="5715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9" name="Shape 14"/>
          <p:cNvSpPr/>
          <p:nvPr/>
        </p:nvSpPr>
        <p:spPr>
          <a:xfrm>
            <a:off x="1481603" y="4050506"/>
            <a:ext cx="14288" cy="571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5"/>
          <p:cNvSpPr/>
          <p:nvPr/>
        </p:nvSpPr>
        <p:spPr>
          <a:xfrm>
            <a:off x="321469" y="4179094"/>
            <a:ext cx="7669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Conversion Rate</a:t>
            </a:r>
            <a:endParaRPr lang="en-US" sz="732" dirty="0"/>
          </a:p>
        </p:txBody>
      </p:sp>
      <p:sp>
        <p:nvSpPr>
          <p:cNvPr id="21" name="Text 16"/>
          <p:cNvSpPr/>
          <p:nvPr/>
        </p:nvSpPr>
        <p:spPr>
          <a:xfrm>
            <a:off x="3169872" y="4179094"/>
            <a:ext cx="12949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3.2% vs 1.5% Industry Avg</a:t>
            </a:r>
            <a:endParaRPr lang="en-US" sz="732" dirty="0"/>
          </a:p>
        </p:txBody>
      </p:sp>
      <p:sp>
        <p:nvSpPr>
          <p:cNvPr id="22" name="Shape 17"/>
          <p:cNvSpPr/>
          <p:nvPr/>
        </p:nvSpPr>
        <p:spPr>
          <a:xfrm>
            <a:off x="321469" y="4364831"/>
            <a:ext cx="4143375" cy="57150"/>
          </a:xfrm>
          <a:prstGeom prst="roundRect">
            <a:avLst/>
          </a:prstGeom>
          <a:solidFill>
            <a:srgbClr val="E5E7EB"/>
          </a:solidFill>
          <a:ln/>
        </p:spPr>
      </p:sp>
      <p:sp>
        <p:nvSpPr>
          <p:cNvPr id="23" name="Shape 18"/>
          <p:cNvSpPr/>
          <p:nvPr/>
        </p:nvSpPr>
        <p:spPr>
          <a:xfrm>
            <a:off x="321469" y="4364831"/>
            <a:ext cx="1325863" cy="5715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24" name="Shape 19"/>
          <p:cNvSpPr/>
          <p:nvPr/>
        </p:nvSpPr>
        <p:spPr>
          <a:xfrm>
            <a:off x="942975" y="4364831"/>
            <a:ext cx="14288" cy="571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Shape 20"/>
          <p:cNvSpPr/>
          <p:nvPr/>
        </p:nvSpPr>
        <p:spPr>
          <a:xfrm>
            <a:off x="4786313" y="1035844"/>
            <a:ext cx="4143375" cy="22002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178719"/>
            <a:ext cx="107156" cy="1428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72063" y="1143000"/>
            <a:ext cx="11067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ROI Calculation</a:t>
            </a:r>
            <a:endParaRPr lang="en-US" sz="1046" dirty="0"/>
          </a:p>
        </p:txBody>
      </p:sp>
      <p:sp>
        <p:nvSpPr>
          <p:cNvPr id="28" name="Shape 22"/>
          <p:cNvSpPr/>
          <p:nvPr/>
        </p:nvSpPr>
        <p:spPr>
          <a:xfrm>
            <a:off x="4893469" y="1428750"/>
            <a:ext cx="1928813" cy="55006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3"/>
          <p:cNvSpPr/>
          <p:nvPr/>
        </p:nvSpPr>
        <p:spPr>
          <a:xfrm>
            <a:off x="4964906" y="1500188"/>
            <a:ext cx="1785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2.1x</a:t>
            </a:r>
            <a:endParaRPr lang="en-US" sz="1238" dirty="0"/>
          </a:p>
        </p:txBody>
      </p:sp>
      <p:sp>
        <p:nvSpPr>
          <p:cNvPr id="30" name="Text 24"/>
          <p:cNvSpPr/>
          <p:nvPr/>
        </p:nvSpPr>
        <p:spPr>
          <a:xfrm>
            <a:off x="4964906" y="1757363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ROI</a:t>
            </a:r>
            <a:endParaRPr lang="en-US" sz="732" dirty="0"/>
          </a:p>
        </p:txBody>
      </p:sp>
      <p:sp>
        <p:nvSpPr>
          <p:cNvPr id="31" name="Shape 25"/>
          <p:cNvSpPr/>
          <p:nvPr/>
        </p:nvSpPr>
        <p:spPr>
          <a:xfrm>
            <a:off x="6893719" y="1428750"/>
            <a:ext cx="1928813" cy="55006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2" name="Text 26"/>
          <p:cNvSpPr/>
          <p:nvPr/>
        </p:nvSpPr>
        <p:spPr>
          <a:xfrm>
            <a:off x="6965156" y="1500188"/>
            <a:ext cx="1785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Days</a:t>
            </a:r>
            <a:endParaRPr lang="en-US" sz="1238" dirty="0"/>
          </a:p>
        </p:txBody>
      </p:sp>
      <p:sp>
        <p:nvSpPr>
          <p:cNvPr id="33" name="Text 27"/>
          <p:cNvSpPr/>
          <p:nvPr/>
        </p:nvSpPr>
        <p:spPr>
          <a:xfrm>
            <a:off x="6965156" y="1757363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Breakeven</a:t>
            </a:r>
            <a:endParaRPr lang="en-US" sz="732" dirty="0"/>
          </a:p>
        </p:txBody>
      </p:sp>
      <p:sp>
        <p:nvSpPr>
          <p:cNvPr id="34" name="Shape 28"/>
          <p:cNvSpPr/>
          <p:nvPr/>
        </p:nvSpPr>
        <p:spPr>
          <a:xfrm>
            <a:off x="4893469" y="2050256"/>
            <a:ext cx="1928813" cy="55006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Text 29"/>
          <p:cNvSpPr/>
          <p:nvPr/>
        </p:nvSpPr>
        <p:spPr>
          <a:xfrm>
            <a:off x="4964906" y="2121694"/>
            <a:ext cx="1785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$42</a:t>
            </a:r>
            <a:endParaRPr lang="en-US" sz="1238" dirty="0"/>
          </a:p>
        </p:txBody>
      </p:sp>
      <p:sp>
        <p:nvSpPr>
          <p:cNvPr id="36" name="Text 30"/>
          <p:cNvSpPr/>
          <p:nvPr/>
        </p:nvSpPr>
        <p:spPr>
          <a:xfrm>
            <a:off x="4964906" y="2378869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Per Acquisition</a:t>
            </a:r>
            <a:endParaRPr lang="en-US" sz="732" dirty="0"/>
          </a:p>
        </p:txBody>
      </p:sp>
      <p:sp>
        <p:nvSpPr>
          <p:cNvPr id="37" name="Shape 31"/>
          <p:cNvSpPr/>
          <p:nvPr/>
        </p:nvSpPr>
        <p:spPr>
          <a:xfrm>
            <a:off x="6893719" y="2050256"/>
            <a:ext cx="1928813" cy="55006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8" name="Text 32"/>
          <p:cNvSpPr/>
          <p:nvPr/>
        </p:nvSpPr>
        <p:spPr>
          <a:xfrm>
            <a:off x="6965156" y="2121694"/>
            <a:ext cx="1785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$89</a:t>
            </a:r>
            <a:endParaRPr lang="en-US" sz="1238" dirty="0"/>
          </a:p>
        </p:txBody>
      </p:sp>
      <p:sp>
        <p:nvSpPr>
          <p:cNvPr id="39" name="Text 33"/>
          <p:cNvSpPr/>
          <p:nvPr/>
        </p:nvSpPr>
        <p:spPr>
          <a:xfrm>
            <a:off x="6965156" y="2378869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Customer Value</a:t>
            </a:r>
            <a:endParaRPr lang="en-US" sz="732" dirty="0"/>
          </a:p>
        </p:txBody>
      </p:sp>
      <p:sp>
        <p:nvSpPr>
          <p:cNvPr id="40" name="Shape 34"/>
          <p:cNvSpPr/>
          <p:nvPr/>
        </p:nvSpPr>
        <p:spPr>
          <a:xfrm>
            <a:off x="4893469" y="2671763"/>
            <a:ext cx="1262072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5"/>
          <p:cNvSpPr/>
          <p:nvPr/>
        </p:nvSpPr>
        <p:spPr>
          <a:xfrm>
            <a:off x="4950619" y="272891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Bronze</a:t>
            </a:r>
            <a:endParaRPr lang="en-US" sz="837" dirty="0"/>
          </a:p>
        </p:txBody>
      </p:sp>
      <p:sp>
        <p:nvSpPr>
          <p:cNvPr id="42" name="Text 36"/>
          <p:cNvSpPr/>
          <p:nvPr/>
        </p:nvSpPr>
        <p:spPr>
          <a:xfrm>
            <a:off x="4950619" y="290036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1.8x ROI</a:t>
            </a:r>
            <a:endParaRPr lang="en-US" sz="837" dirty="0"/>
          </a:p>
        </p:txBody>
      </p:sp>
      <p:sp>
        <p:nvSpPr>
          <p:cNvPr id="43" name="Shape 37"/>
          <p:cNvSpPr/>
          <p:nvPr/>
        </p:nvSpPr>
        <p:spPr>
          <a:xfrm>
            <a:off x="6226978" y="2671763"/>
            <a:ext cx="1262072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4" name="Text 38"/>
          <p:cNvSpPr/>
          <p:nvPr/>
        </p:nvSpPr>
        <p:spPr>
          <a:xfrm>
            <a:off x="6284128" y="272891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Silver</a:t>
            </a:r>
            <a:endParaRPr lang="en-US" sz="837" dirty="0"/>
          </a:p>
        </p:txBody>
      </p:sp>
      <p:sp>
        <p:nvSpPr>
          <p:cNvPr id="45" name="Text 39"/>
          <p:cNvSpPr/>
          <p:nvPr/>
        </p:nvSpPr>
        <p:spPr>
          <a:xfrm>
            <a:off x="6284128" y="290036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2.3x ROI</a:t>
            </a:r>
            <a:endParaRPr lang="en-US" sz="837" dirty="0"/>
          </a:p>
        </p:txBody>
      </p:sp>
      <p:sp>
        <p:nvSpPr>
          <p:cNvPr id="46" name="Shape 40"/>
          <p:cNvSpPr/>
          <p:nvPr/>
        </p:nvSpPr>
        <p:spPr>
          <a:xfrm>
            <a:off x="7560487" y="2671763"/>
            <a:ext cx="126207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1"/>
          <p:cNvSpPr/>
          <p:nvPr/>
        </p:nvSpPr>
        <p:spPr>
          <a:xfrm>
            <a:off x="7617637" y="272891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Gold</a:t>
            </a:r>
            <a:endParaRPr lang="en-US" sz="837" dirty="0"/>
          </a:p>
        </p:txBody>
      </p:sp>
      <p:sp>
        <p:nvSpPr>
          <p:cNvPr id="48" name="Text 42"/>
          <p:cNvSpPr/>
          <p:nvPr/>
        </p:nvSpPr>
        <p:spPr>
          <a:xfrm>
            <a:off x="7617637" y="290036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2.7x ROI</a:t>
            </a:r>
            <a:endParaRPr lang="en-US" sz="837" dirty="0"/>
          </a:p>
        </p:txBody>
      </p:sp>
      <p:sp>
        <p:nvSpPr>
          <p:cNvPr id="49" name="Shape 43"/>
          <p:cNvSpPr/>
          <p:nvPr/>
        </p:nvSpPr>
        <p:spPr>
          <a:xfrm>
            <a:off x="4786313" y="3343275"/>
            <a:ext cx="4143375" cy="15573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486150"/>
            <a:ext cx="142875" cy="142875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107781" y="3450431"/>
            <a:ext cx="17908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Performance Guarantees</a:t>
            </a:r>
            <a:endParaRPr lang="en-US" sz="1046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3754041"/>
            <a:ext cx="114300" cy="11430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5064919" y="3736181"/>
            <a:ext cx="11123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Engagement guarantee</a:t>
            </a:r>
            <a:endParaRPr lang="en-US" sz="732" dirty="0"/>
          </a:p>
        </p:txBody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3719" y="3754041"/>
            <a:ext cx="114300" cy="11430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7065169" y="3736181"/>
            <a:ext cx="7568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reports</a:t>
            </a:r>
            <a:endParaRPr lang="en-US" sz="732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3975497"/>
            <a:ext cx="114300" cy="11430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064919" y="3957638"/>
            <a:ext cx="51778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A/B testing</a:t>
            </a:r>
            <a:endParaRPr lang="en-US" sz="732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3719" y="3975497"/>
            <a:ext cx="114300" cy="11430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7065169" y="3957638"/>
            <a:ext cx="9487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Analytics dashboard</a:t>
            </a:r>
            <a:endParaRPr lang="en-US" sz="732" dirty="0"/>
          </a:p>
        </p:txBody>
      </p:sp>
      <p:sp>
        <p:nvSpPr>
          <p:cNvPr id="60" name="Shape 49"/>
          <p:cNvSpPr/>
          <p:nvPr/>
        </p:nvSpPr>
        <p:spPr>
          <a:xfrm>
            <a:off x="4893469" y="4179094"/>
            <a:ext cx="3929063" cy="614363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1" name="Shape 50"/>
          <p:cNvSpPr/>
          <p:nvPr/>
        </p:nvSpPr>
        <p:spPr>
          <a:xfrm>
            <a:off x="4893469" y="4179094"/>
            <a:ext cx="28575" cy="6143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2" name="Text 51"/>
          <p:cNvSpPr/>
          <p:nvPr/>
        </p:nvSpPr>
        <p:spPr>
          <a:xfrm>
            <a:off x="4964906" y="4257675"/>
            <a:ext cx="37202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"Our sponsorship with Trending Daily Insights delivered a 2.4x return within the first </a:t>
            </a:r>
            <a:endParaRPr lang="en-US" sz="732" dirty="0"/>
          </a:p>
        </p:txBody>
      </p:sp>
      <p:sp>
        <p:nvSpPr>
          <p:cNvPr id="63" name="Text 52"/>
          <p:cNvSpPr/>
          <p:nvPr/>
        </p:nvSpPr>
        <p:spPr>
          <a:xfrm>
            <a:off x="4964906" y="4407694"/>
            <a:ext cx="25696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days. The audience quality exceeded our expectations." </a:t>
            </a:r>
            <a:endParaRPr lang="en-US" sz="732" dirty="0"/>
          </a:p>
        </p:txBody>
      </p:sp>
      <p:sp>
        <p:nvSpPr>
          <p:cNvPr id="64" name="Text 53"/>
          <p:cNvSpPr/>
          <p:nvPr/>
        </p:nvSpPr>
        <p:spPr>
          <a:xfrm>
            <a:off x="4964906" y="4572000"/>
            <a:ext cx="3786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Financial Services Sponsor 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Competitive Advantage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14313" y="635794"/>
            <a:ext cx="8715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Trending Daily Insights Outperforms Traditional Content Creators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14313" y="1035844"/>
            <a:ext cx="4357688" cy="3893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321469" y="1151930"/>
            <a:ext cx="20962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Competitive Landscape Analysis 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1407319"/>
            <a:ext cx="4143375" cy="17859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1469" y="3300413"/>
            <a:ext cx="979726" cy="41433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5"/>
          <p:cNvSpPr/>
          <p:nvPr/>
        </p:nvSpPr>
        <p:spPr>
          <a:xfrm>
            <a:off x="321469" y="3300413"/>
            <a:ext cx="979726" cy="4143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</a:t>
            </a:r>
            <a:endParaRPr lang="en-US" sz="732" dirty="0"/>
          </a:p>
        </p:txBody>
      </p:sp>
      <p:sp>
        <p:nvSpPr>
          <p:cNvPr id="10" name="Shape 6"/>
          <p:cNvSpPr/>
          <p:nvPr/>
        </p:nvSpPr>
        <p:spPr>
          <a:xfrm>
            <a:off x="1301195" y="3300413"/>
            <a:ext cx="1134991" cy="41433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7"/>
          <p:cNvSpPr/>
          <p:nvPr/>
        </p:nvSpPr>
        <p:spPr>
          <a:xfrm>
            <a:off x="1301195" y="3300413"/>
            <a:ext cx="1134991" cy="4143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Trending Daily Insights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436186" y="3300413"/>
            <a:ext cx="900308" cy="41433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9"/>
          <p:cNvSpPr/>
          <p:nvPr/>
        </p:nvSpPr>
        <p:spPr>
          <a:xfrm>
            <a:off x="2436186" y="3300413"/>
            <a:ext cx="900308" cy="4143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News</a:t>
            </a:r>
            <a:endParaRPr lang="en-US" sz="732" dirty="0"/>
          </a:p>
        </p:txBody>
      </p:sp>
      <p:sp>
        <p:nvSpPr>
          <p:cNvPr id="14" name="Shape 10"/>
          <p:cNvSpPr/>
          <p:nvPr/>
        </p:nvSpPr>
        <p:spPr>
          <a:xfrm>
            <a:off x="3336494" y="3300413"/>
            <a:ext cx="1128350" cy="41433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1"/>
          <p:cNvSpPr/>
          <p:nvPr/>
        </p:nvSpPr>
        <p:spPr>
          <a:xfrm>
            <a:off x="3336494" y="3300413"/>
            <a:ext cx="1128350" cy="4143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 Creators</a:t>
            </a:r>
            <a:endParaRPr lang="en-US" sz="732" dirty="0"/>
          </a:p>
        </p:txBody>
      </p:sp>
      <p:sp>
        <p:nvSpPr>
          <p:cNvPr id="16" name="Text 12"/>
          <p:cNvSpPr/>
          <p:nvPr/>
        </p:nvSpPr>
        <p:spPr>
          <a:xfrm>
            <a:off x="321469" y="3714750"/>
            <a:ext cx="979726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Content</a:t>
            </a:r>
            <a:endParaRPr lang="en-US" sz="732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670" y="3796903"/>
            <a:ext cx="100013" cy="100013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320" y="3796903"/>
            <a:ext cx="100013" cy="100013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401" y="3796903"/>
            <a:ext cx="62508" cy="1000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1469" y="3982641"/>
            <a:ext cx="979726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Analysis</a:t>
            </a:r>
            <a:endParaRPr lang="en-US" sz="732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670" y="4068366"/>
            <a:ext cx="100013" cy="100013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5072" y="4068366"/>
            <a:ext cx="62508" cy="100013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0649" y="4068366"/>
            <a:ext cx="100013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21469" y="4254103"/>
            <a:ext cx="979726" cy="41790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 Integration</a:t>
            </a:r>
            <a:endParaRPr lang="en-US" sz="732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8670" y="4414838"/>
            <a:ext cx="100013" cy="100013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5072" y="4414838"/>
            <a:ext cx="62508" cy="100013"/>
          </a:xfrm>
          <a:prstGeom prst="rect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0649" y="4414838"/>
            <a:ext cx="100013" cy="100013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4786313" y="1035844"/>
            <a:ext cx="4143375" cy="818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16"/>
          <p:cNvSpPr/>
          <p:nvPr/>
        </p:nvSpPr>
        <p:spPr>
          <a:xfrm>
            <a:off x="4893469" y="1143000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5977" y="1221581"/>
            <a:ext cx="160734" cy="12858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264944" y="1143000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Consistency</a:t>
            </a:r>
            <a:endParaRPr lang="en-US" sz="942" dirty="0"/>
          </a:p>
        </p:txBody>
      </p:sp>
      <p:sp>
        <p:nvSpPr>
          <p:cNvPr id="32" name="Text 18"/>
          <p:cNvSpPr/>
          <p:nvPr/>
        </p:nvSpPr>
        <p:spPr>
          <a:xfrm>
            <a:off x="5264944" y="1357313"/>
            <a:ext cx="355758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Unlike human creators who face burnout and inconsistent schedules, our AI system delivers premium content every single day without fail, ensuring your sponsorship message reaches audiences consistently.</a:t>
            </a:r>
            <a:endParaRPr lang="en-US" sz="732" dirty="0"/>
          </a:p>
        </p:txBody>
      </p:sp>
      <p:sp>
        <p:nvSpPr>
          <p:cNvPr id="33" name="Shape 19"/>
          <p:cNvSpPr/>
          <p:nvPr/>
        </p:nvSpPr>
        <p:spPr>
          <a:xfrm>
            <a:off x="4786313" y="1961657"/>
            <a:ext cx="4143375" cy="818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0"/>
          <p:cNvSpPr/>
          <p:nvPr/>
        </p:nvSpPr>
        <p:spPr>
          <a:xfrm>
            <a:off x="4893469" y="2068813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4013" y="2147395"/>
            <a:ext cx="144661" cy="12858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64944" y="2068813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Optimization</a:t>
            </a:r>
            <a:endParaRPr lang="en-US" sz="942" dirty="0"/>
          </a:p>
        </p:txBody>
      </p:sp>
      <p:sp>
        <p:nvSpPr>
          <p:cNvPr id="37" name="Text 22"/>
          <p:cNvSpPr/>
          <p:nvPr/>
        </p:nvSpPr>
        <p:spPr>
          <a:xfrm>
            <a:off x="5264944" y="2283126"/>
            <a:ext cx="355758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creators rely on intuition; we use advanced analytics to continuously optimize sponsor placements, messaging, and timing for maximum engagement and conversion rates.</a:t>
            </a:r>
            <a:endParaRPr lang="en-US" sz="732" dirty="0"/>
          </a:p>
        </p:txBody>
      </p:sp>
      <p:sp>
        <p:nvSpPr>
          <p:cNvPr id="38" name="Shape 23"/>
          <p:cNvSpPr/>
          <p:nvPr/>
        </p:nvSpPr>
        <p:spPr>
          <a:xfrm>
            <a:off x="4786313" y="2887470"/>
            <a:ext cx="4143375" cy="818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24"/>
          <p:cNvSpPr/>
          <p:nvPr/>
        </p:nvSpPr>
        <p:spPr>
          <a:xfrm>
            <a:off x="4893469" y="2994627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5977" y="3073208"/>
            <a:ext cx="160734" cy="12858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264944" y="2994627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Audience Quality</a:t>
            </a:r>
            <a:endParaRPr lang="en-US" sz="942" dirty="0"/>
          </a:p>
        </p:txBody>
      </p:sp>
      <p:sp>
        <p:nvSpPr>
          <p:cNvPr id="42" name="Text 26"/>
          <p:cNvSpPr/>
          <p:nvPr/>
        </p:nvSpPr>
        <p:spPr>
          <a:xfrm>
            <a:off x="5264944" y="3208939"/>
            <a:ext cx="355758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geopolitical focus attracts high-income, educated professionals with significant purchasing power, unlike general news channels with broader but less valuable demographics.</a:t>
            </a:r>
            <a:endParaRPr lang="en-US" sz="732" dirty="0"/>
          </a:p>
        </p:txBody>
      </p:sp>
      <p:sp>
        <p:nvSpPr>
          <p:cNvPr id="43" name="Shape 27"/>
          <p:cNvSpPr/>
          <p:nvPr/>
        </p:nvSpPr>
        <p:spPr>
          <a:xfrm>
            <a:off x="4786313" y="3813284"/>
            <a:ext cx="4143375" cy="818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28"/>
          <p:cNvSpPr/>
          <p:nvPr/>
        </p:nvSpPr>
        <p:spPr>
          <a:xfrm>
            <a:off x="4893469" y="3920440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4013" y="3999021"/>
            <a:ext cx="144661" cy="128588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5264944" y="3920440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Scaling Capability</a:t>
            </a:r>
            <a:endParaRPr lang="en-US" sz="942" dirty="0"/>
          </a:p>
        </p:txBody>
      </p:sp>
      <p:sp>
        <p:nvSpPr>
          <p:cNvPr id="47" name="Text 30"/>
          <p:cNvSpPr/>
          <p:nvPr/>
        </p:nvSpPr>
        <p:spPr>
          <a:xfrm>
            <a:off x="5264944" y="4134752"/>
            <a:ext cx="355758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While traditional creators are limited by human capacity, our AI system can rapidly scale content production and sponsor integrations to meet any campaign requirements.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163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Growth Projections &amp; Future Opportunities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Channel Expansion and Long-Term Partnership Value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178719"/>
            <a:ext cx="4286250" cy="465186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57313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330523"/>
            <a:ext cx="20411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Projected Growth Trajectory </a:t>
            </a:r>
            <a:endParaRPr lang="en-US" sz="104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643063"/>
            <a:ext cx="4000500" cy="21431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8625" y="3929063"/>
            <a:ext cx="4000500" cy="9715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5"/>
          <p:cNvSpPr/>
          <p:nvPr/>
        </p:nvSpPr>
        <p:spPr>
          <a:xfrm>
            <a:off x="535781" y="4036219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Growth Milestones</a:t>
            </a:r>
            <a:endParaRPr lang="en-US" sz="942" dirty="0"/>
          </a:p>
        </p:txBody>
      </p:sp>
      <p:sp>
        <p:nvSpPr>
          <p:cNvPr id="11" name="Shape 6"/>
          <p:cNvSpPr/>
          <p:nvPr/>
        </p:nvSpPr>
        <p:spPr>
          <a:xfrm>
            <a:off x="814639" y="4371975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7"/>
          <p:cNvSpPr/>
          <p:nvPr/>
        </p:nvSpPr>
        <p:spPr>
          <a:xfrm>
            <a:off x="535781" y="4514850"/>
            <a:ext cx="6434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Q4 2025</a:t>
            </a:r>
            <a:endParaRPr lang="en-US" sz="732" dirty="0"/>
          </a:p>
        </p:txBody>
      </p:sp>
      <p:sp>
        <p:nvSpPr>
          <p:cNvPr id="13" name="Text 8"/>
          <p:cNvSpPr/>
          <p:nvPr/>
        </p:nvSpPr>
        <p:spPr>
          <a:xfrm>
            <a:off x="535781" y="4664869"/>
            <a:ext cx="6434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10K Subscribers</a:t>
            </a:r>
            <a:endParaRPr lang="en-US" sz="628" dirty="0"/>
          </a:p>
        </p:txBody>
      </p:sp>
      <p:sp>
        <p:nvSpPr>
          <p:cNvPr id="14" name="Shape 9"/>
          <p:cNvSpPr/>
          <p:nvPr/>
        </p:nvSpPr>
        <p:spPr>
          <a:xfrm>
            <a:off x="1845850" y="4371975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1566993" y="4514850"/>
            <a:ext cx="6434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Q2 2026</a:t>
            </a:r>
            <a:endParaRPr lang="en-US" sz="732" dirty="0"/>
          </a:p>
        </p:txBody>
      </p:sp>
      <p:sp>
        <p:nvSpPr>
          <p:cNvPr id="16" name="Text 11"/>
          <p:cNvSpPr/>
          <p:nvPr/>
        </p:nvSpPr>
        <p:spPr>
          <a:xfrm>
            <a:off x="1566993" y="4664869"/>
            <a:ext cx="6434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25K Subscribers</a:t>
            </a:r>
            <a:endParaRPr lang="en-US" sz="628" dirty="0"/>
          </a:p>
        </p:txBody>
      </p:sp>
      <p:sp>
        <p:nvSpPr>
          <p:cNvPr id="17" name="Shape 12"/>
          <p:cNvSpPr/>
          <p:nvPr/>
        </p:nvSpPr>
        <p:spPr>
          <a:xfrm>
            <a:off x="2877062" y="4371975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2598204" y="4514850"/>
            <a:ext cx="6434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Q4 2026</a:t>
            </a:r>
            <a:endParaRPr lang="en-US" sz="732" dirty="0"/>
          </a:p>
        </p:txBody>
      </p:sp>
      <p:sp>
        <p:nvSpPr>
          <p:cNvPr id="19" name="Text 14"/>
          <p:cNvSpPr/>
          <p:nvPr/>
        </p:nvSpPr>
        <p:spPr>
          <a:xfrm>
            <a:off x="2598204" y="4664869"/>
            <a:ext cx="6434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50K Subscribers</a:t>
            </a:r>
            <a:endParaRPr lang="en-US" sz="628" dirty="0"/>
          </a:p>
        </p:txBody>
      </p:sp>
      <p:sp>
        <p:nvSpPr>
          <p:cNvPr id="20" name="Shape 15"/>
          <p:cNvSpPr/>
          <p:nvPr/>
        </p:nvSpPr>
        <p:spPr>
          <a:xfrm>
            <a:off x="3932802" y="4371975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6"/>
          <p:cNvSpPr/>
          <p:nvPr/>
        </p:nvSpPr>
        <p:spPr>
          <a:xfrm>
            <a:off x="3629416" y="4514850"/>
            <a:ext cx="6924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Q2 2027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3629416" y="4664869"/>
            <a:ext cx="692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100K Subscribers</a:t>
            </a:r>
            <a:endParaRPr lang="en-US" sz="628" dirty="0"/>
          </a:p>
        </p:txBody>
      </p:sp>
      <p:sp>
        <p:nvSpPr>
          <p:cNvPr id="23" name="Shape 18"/>
          <p:cNvSpPr/>
          <p:nvPr/>
        </p:nvSpPr>
        <p:spPr>
          <a:xfrm>
            <a:off x="4857750" y="1178719"/>
            <a:ext cx="4000500" cy="11758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5000625" y="1321594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711" y="1428750"/>
            <a:ext cx="125016" cy="1428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64969" y="1321594"/>
            <a:ext cx="3250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 Expansion</a:t>
            </a:r>
            <a:endParaRPr lang="en-US" sz="1046" dirty="0"/>
          </a:p>
        </p:txBody>
      </p:sp>
      <p:sp>
        <p:nvSpPr>
          <p:cNvPr id="27" name="Text 21"/>
          <p:cNvSpPr/>
          <p:nvPr/>
        </p:nvSpPr>
        <p:spPr>
          <a:xfrm>
            <a:off x="5464969" y="1571625"/>
            <a:ext cx="325040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Expanding from daily briefings to include weekly deep dives, expert interviews, and special reports. Sponsors will gain additional integration opportunities across diverse content formats.</a:t>
            </a:r>
            <a:endParaRPr lang="en-US" sz="837" dirty="0"/>
          </a:p>
        </p:txBody>
      </p:sp>
      <p:sp>
        <p:nvSpPr>
          <p:cNvPr id="28" name="Shape 22"/>
          <p:cNvSpPr/>
          <p:nvPr/>
        </p:nvSpPr>
        <p:spPr>
          <a:xfrm>
            <a:off x="4857750" y="2497410"/>
            <a:ext cx="4000500" cy="1015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5000625" y="2640285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781" y="2747442"/>
            <a:ext cx="142875" cy="1428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64969" y="2640285"/>
            <a:ext cx="3250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Regional Focus Series</a:t>
            </a:r>
            <a:endParaRPr lang="en-US" sz="1046" dirty="0"/>
          </a:p>
        </p:txBody>
      </p:sp>
      <p:sp>
        <p:nvSpPr>
          <p:cNvPr id="32" name="Text 25"/>
          <p:cNvSpPr/>
          <p:nvPr/>
        </p:nvSpPr>
        <p:spPr>
          <a:xfrm>
            <a:off x="5464969" y="2890317"/>
            <a:ext cx="32504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Launching dedicated regional analysis series covering APAC, EMEA, and Americas. Perfect for sponsors targeting specific geographic markets with regional business interests.</a:t>
            </a:r>
            <a:endParaRPr lang="en-US" sz="837" dirty="0"/>
          </a:p>
        </p:txBody>
      </p:sp>
      <p:sp>
        <p:nvSpPr>
          <p:cNvPr id="33" name="Shape 26"/>
          <p:cNvSpPr/>
          <p:nvPr/>
        </p:nvSpPr>
        <p:spPr>
          <a:xfrm>
            <a:off x="4857750" y="3656093"/>
            <a:ext cx="4000500" cy="1015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5000625" y="3798968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711" y="3906124"/>
            <a:ext cx="125016" cy="14287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64969" y="3798968"/>
            <a:ext cx="3250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Multi-Platform Expansion</a:t>
            </a:r>
            <a:endParaRPr lang="en-US" sz="1046" dirty="0"/>
          </a:p>
        </p:txBody>
      </p:sp>
      <p:sp>
        <p:nvSpPr>
          <p:cNvPr id="37" name="Text 29"/>
          <p:cNvSpPr/>
          <p:nvPr/>
        </p:nvSpPr>
        <p:spPr>
          <a:xfrm>
            <a:off x="5464969" y="4048999"/>
            <a:ext cx="32504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Extending content to podcast and newsletter formats. Early sponsors will receive preferential placement and cross-platform integration at no additional cost.</a:t>
            </a:r>
            <a:endParaRPr lang="en-US" sz="837" dirty="0"/>
          </a:p>
        </p:txBody>
      </p:sp>
      <p:sp>
        <p:nvSpPr>
          <p:cNvPr id="38" name="Shape 30"/>
          <p:cNvSpPr/>
          <p:nvPr/>
        </p:nvSpPr>
        <p:spPr>
          <a:xfrm>
            <a:off x="4857750" y="4814776"/>
            <a:ext cx="4000500" cy="1015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1"/>
          <p:cNvSpPr/>
          <p:nvPr/>
        </p:nvSpPr>
        <p:spPr>
          <a:xfrm>
            <a:off x="5000625" y="4957651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922" y="5064807"/>
            <a:ext cx="178594" cy="14287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464969" y="4957651"/>
            <a:ext cx="3250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Exclusive Partnership Opportunities</a:t>
            </a:r>
            <a:endParaRPr lang="en-US" sz="1046" dirty="0"/>
          </a:p>
        </p:txBody>
      </p:sp>
      <p:sp>
        <p:nvSpPr>
          <p:cNvPr id="42" name="Text 33"/>
          <p:cNvSpPr/>
          <p:nvPr/>
        </p:nvSpPr>
        <p:spPr>
          <a:xfrm>
            <a:off x="5464969" y="5207682"/>
            <a:ext cx="32504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 exclusivity and custom content creation for long-term partners. Lock in preferred rates now before premium tier pricing increases with audience growth.</a:t>
            </a:r>
            <a:endParaRPr lang="en-US" sz="83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22233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428625"/>
            <a:ext cx="85725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52008" y="1428750"/>
            <a:ext cx="423998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Partnership Opportunity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1714500" y="2085975"/>
            <a:ext cx="571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Join the premium sponsors reaching high-value decision makers through AI-powered geopolitical analysis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1714500" y="2886075"/>
            <a:ext cx="5715000" cy="305038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583638" y="3243263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2583638" y="324326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071688" y="3707606"/>
            <a:ext cx="13811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Schedule Consultation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2071688" y="4164806"/>
            <a:ext cx="138111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 a 30-minute strategy call to discuss your specific marketing objectives and target audience</a:t>
            </a:r>
            <a:endParaRPr lang="en-US" sz="732" dirty="0"/>
          </a:p>
        </p:txBody>
      </p:sp>
      <p:sp>
        <p:nvSpPr>
          <p:cNvPr id="11" name="Shape 7"/>
          <p:cNvSpPr/>
          <p:nvPr/>
        </p:nvSpPr>
        <p:spPr>
          <a:xfrm>
            <a:off x="4393378" y="3243263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4393378" y="324326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881428" y="3707606"/>
            <a:ext cx="13811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Proposal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3881428" y="3971925"/>
            <a:ext cx="1381116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Receive a tailored sponsorship package designed to meet your specific KPIs and budget requirements</a:t>
            </a:r>
            <a:endParaRPr lang="en-US" sz="732" dirty="0"/>
          </a:p>
        </p:txBody>
      </p:sp>
      <p:sp>
        <p:nvSpPr>
          <p:cNvPr id="15" name="Shape 11"/>
          <p:cNvSpPr/>
          <p:nvPr/>
        </p:nvSpPr>
        <p:spPr>
          <a:xfrm>
            <a:off x="6203119" y="3243263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6203119" y="324326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691169" y="3707606"/>
            <a:ext cx="13811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 &amp; Optimize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5691169" y="3971925"/>
            <a:ext cx="138111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Begin your campaign with AI-optimized placement and receive real-time performance analytics</a:t>
            </a:r>
            <a:endParaRPr lang="en-US" sz="732" dirty="0"/>
          </a:p>
        </p:txBody>
      </p:sp>
      <p:sp>
        <p:nvSpPr>
          <p:cNvPr id="19" name="Shape 15"/>
          <p:cNvSpPr/>
          <p:nvPr/>
        </p:nvSpPr>
        <p:spPr>
          <a:xfrm>
            <a:off x="3500438" y="5122069"/>
            <a:ext cx="2143125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3500438" y="5122069"/>
            <a:ext cx="2143125" cy="600075"/>
          </a:xfrm>
          <a:prstGeom prst="rect">
            <a:avLst/>
          </a:prstGeom>
          <a:noFill/>
          <a:ln/>
        </p:spPr>
        <p:txBody>
          <a:bodyPr wrap="square" lIns="340233" tIns="127508" rIns="34023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Schedule Your Consultation </a:t>
            </a:r>
            <a:endParaRPr lang="en-US" sz="942" dirty="0"/>
          </a:p>
        </p:txBody>
      </p:sp>
      <p:sp>
        <p:nvSpPr>
          <p:cNvPr id="21" name="Shape 17"/>
          <p:cNvSpPr/>
          <p:nvPr/>
        </p:nvSpPr>
        <p:spPr>
          <a:xfrm>
            <a:off x="1239552" y="6507956"/>
            <a:ext cx="285750" cy="28575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33" y="6586538"/>
            <a:ext cx="128588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96740" y="6565106"/>
            <a:ext cx="19899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sponsors@trendingdailyinsights.com</a:t>
            </a:r>
            <a:endParaRPr lang="en-US" sz="837" dirty="0"/>
          </a:p>
        </p:txBody>
      </p:sp>
      <p:sp>
        <p:nvSpPr>
          <p:cNvPr id="24" name="Shape 19"/>
          <p:cNvSpPr/>
          <p:nvPr/>
        </p:nvSpPr>
        <p:spPr>
          <a:xfrm>
            <a:off x="3801033" y="6507956"/>
            <a:ext cx="285750" cy="28575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614" y="6586538"/>
            <a:ext cx="128588" cy="128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58221" y="6565106"/>
            <a:ext cx="9493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 (555) 123-4567</a:t>
            </a:r>
            <a:endParaRPr lang="en-US" sz="837" dirty="0"/>
          </a:p>
        </p:txBody>
      </p:sp>
      <p:sp>
        <p:nvSpPr>
          <p:cNvPr id="27" name="Shape 21"/>
          <p:cNvSpPr/>
          <p:nvPr/>
        </p:nvSpPr>
        <p:spPr>
          <a:xfrm>
            <a:off x="5321926" y="6507956"/>
            <a:ext cx="285750" cy="28575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508" y="6586538"/>
            <a:ext cx="128588" cy="128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79114" y="6565106"/>
            <a:ext cx="22253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www.trendingdailyinsights.com/sponsors</a:t>
            </a:r>
            <a:endParaRPr lang="en-US" sz="83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2025-09-22T17:26:22Z</dcterms:created>
  <dcterms:modified xsi:type="dcterms:W3CDTF">2025-09-22T17:26:22Z</dcterms:modified>
</cp:coreProperties>
</file>