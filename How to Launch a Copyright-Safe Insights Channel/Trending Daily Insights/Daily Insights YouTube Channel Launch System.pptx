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3886200" y="1428750"/>
            <a:ext cx="1371600" cy="1371600"/>
          </a:xfrm>
          <a:prstGeom prst="rect">
            <a:avLst/>
          </a:prstGeom>
        </p:spPr>
      </p:pic>
      <p:sp>
        <p:nvSpPr>
          <p:cNvPr id="4" name="Text 0"/>
          <p:cNvSpPr/>
          <p:nvPr/>
        </p:nvSpPr>
        <p:spPr>
          <a:xfrm>
            <a:off x="775906" y="3028950"/>
            <a:ext cx="7592160" cy="342900"/>
          </a:xfrm>
          <a:prstGeom prst="rect">
            <a:avLst/>
          </a:prstGeom>
          <a:noFill/>
          <a:ln/>
        </p:spPr>
        <p:txBody>
          <a:bodyPr wrap="none" lIns="0" tIns="0" rIns="0" bIns="0" rtlCol="0" anchor="ctr">
            <a:spAutoFit/>
          </a:bodyPr>
          <a:lstStyle/>
          <a:p>
            <a:pPr algn="ctr" indent="0" marL="0">
              <a:buNone/>
            </a:pPr>
            <a:r>
              <a:rPr lang="en-US" sz="2700" b="1" dirty="0">
                <a:solidFill>
                  <a:srgbClr val="1A365D"/>
                </a:solidFill>
                <a:latin typeface="Noto Sans" pitchFamily="34" charset="0"/>
                <a:ea typeface="Noto Sans" pitchFamily="34" charset="-122"/>
                <a:cs typeface="Noto Sans" pitchFamily="34" charset="-120"/>
              </a:rPr>
              <a:t>Complete Business System for Daily Insights</a:t>
            </a:r>
            <a:endParaRPr lang="en-US" sz="2700" dirty="0"/>
          </a:p>
        </p:txBody>
      </p:sp>
      <p:sp>
        <p:nvSpPr>
          <p:cNvPr id="5" name="Text 1"/>
          <p:cNvSpPr/>
          <p:nvPr/>
        </p:nvSpPr>
        <p:spPr>
          <a:xfrm>
            <a:off x="872347" y="3486150"/>
            <a:ext cx="7399279" cy="228600"/>
          </a:xfrm>
          <a:prstGeom prst="rect">
            <a:avLst/>
          </a:prstGeom>
          <a:noFill/>
          <a:ln/>
        </p:spPr>
        <p:txBody>
          <a:bodyPr wrap="none" lIns="0" tIns="0" rIns="0" bIns="0" rtlCol="0" anchor="ctr">
            <a:spAutoFit/>
          </a:bodyPr>
          <a:lstStyle/>
          <a:p>
            <a:pPr algn="ctr" indent="0" marL="0">
              <a:buNone/>
            </a:pPr>
            <a:r>
              <a:rPr lang="en-US" sz="1350" dirty="0">
                <a:solidFill>
                  <a:srgbClr val="333333"/>
                </a:solidFill>
                <a:latin typeface="Noto Sans" pitchFamily="34" charset="0"/>
                <a:ea typeface="Noto Sans" pitchFamily="34" charset="-122"/>
                <a:cs typeface="Noto Sans" pitchFamily="34" charset="-120"/>
              </a:rPr>
              <a:t>Your turnkey solution for launching a trending daily insights YouTube channel this weekend.</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Business Framework &amp; Process Flow</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Business Model</a:t>
            </a:r>
            <a:endParaRPr lang="en-US" sz="1350" dirty="0"/>
          </a:p>
        </p:txBody>
      </p:sp>
      <p:sp>
        <p:nvSpPr>
          <p:cNvPr id="5" name="Text 2"/>
          <p:cNvSpPr/>
          <p:nvPr/>
        </p:nvSpPr>
        <p:spPr>
          <a:xfrm>
            <a:off x="342900" y="1200150"/>
            <a:ext cx="4000500" cy="600075"/>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The primary revenue stream is ad-supported, leveraging YouTube AdSense. As the channel grows, we will introduce sponsorships, brand deals, and affiliate marketing for diversified income.</a:t>
            </a:r>
            <a:endParaRPr lang="en-US" sz="942" dirty="0"/>
          </a:p>
        </p:txBody>
      </p:sp>
      <p:sp>
        <p:nvSpPr>
          <p:cNvPr id="6" name="Text 3"/>
          <p:cNvSpPr/>
          <p:nvPr/>
        </p:nvSpPr>
        <p:spPr>
          <a:xfrm>
            <a:off x="342900" y="1971675"/>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Content Workflow</a:t>
            </a:r>
            <a:endParaRPr lang="en-US" sz="1350" dirty="0"/>
          </a:p>
        </p:txBody>
      </p:sp>
      <p:sp>
        <p:nvSpPr>
          <p:cNvPr id="7" name="Text 4"/>
          <p:cNvSpPr/>
          <p:nvPr/>
        </p:nvSpPr>
        <p:spPr>
          <a:xfrm>
            <a:off x="342900" y="2314575"/>
            <a:ext cx="4000500" cy="800100"/>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Our daily content pipeline is designed for maximum efficiency and quality. The process is streamlined to allow for a quick turnaround from idea to publication, making a daily upload schedule feasible.</a:t>
            </a:r>
            <a:endParaRPr lang="en-US" sz="942" dirty="0"/>
          </a:p>
        </p:txBody>
      </p:sp>
      <p:sp>
        <p:nvSpPr>
          <p:cNvPr id="8" name="Text 5"/>
          <p:cNvSpPr/>
          <p:nvPr/>
        </p:nvSpPr>
        <p:spPr>
          <a:xfrm>
            <a:off x="342900" y="3286125"/>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Monetization Strategy</a:t>
            </a:r>
            <a:endParaRPr lang="en-US" sz="1350" dirty="0"/>
          </a:p>
        </p:txBody>
      </p:sp>
      <p:sp>
        <p:nvSpPr>
          <p:cNvPr id="9" name="Text 6"/>
          <p:cNvSpPr/>
          <p:nvPr/>
        </p:nvSpPr>
        <p:spPr>
          <a:xfrm>
            <a:off x="342900" y="3629025"/>
            <a:ext cx="4000500" cy="800100"/>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Monetization will be phased in to ensure audience trust and channel integrity. We will start with AdSense, then actively seek out relevant brand partnerships and affiliate opportunities that provide value to our audience.</a:t>
            </a:r>
            <a:endParaRPr lang="en-US" sz="942" dirty="0"/>
          </a:p>
        </p:txBody>
      </p:sp>
      <p:pic>
        <p:nvPicPr>
          <p:cNvPr id="10" name="Image 1" descr="preencoded.png">    </p:cNvPr>
          <p:cNvPicPr>
            <a:picLocks noChangeAspect="1"/>
          </p:cNvPicPr>
          <p:nvPr/>
        </p:nvPicPr>
        <p:blipFill>
          <a:blip r:embed="rId2"/>
          <a:stretch>
            <a:fillRect/>
          </a:stretch>
        </p:blipFill>
        <p:spPr>
          <a:xfrm>
            <a:off x="4900613" y="1042988"/>
            <a:ext cx="3571875" cy="35718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Automation Tools &amp; Scripts</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Streamlined Workflow</a:t>
            </a:r>
            <a:endParaRPr lang="en-US" sz="1350" dirty="0"/>
          </a:p>
        </p:txBody>
      </p:sp>
      <p:sp>
        <p:nvSpPr>
          <p:cNvPr id="5" name="Text 2"/>
          <p:cNvSpPr/>
          <p:nvPr/>
        </p:nvSpPr>
        <p:spPr>
          <a:xfrm>
            <a:off x="342900" y="1200150"/>
            <a:ext cx="4000500" cy="600075"/>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A suite of powerful Python scripts automates the entire daily workflow, from initial research to final upload preparation. This system is designed to save you hours of manual work every day.</a:t>
            </a:r>
            <a:endParaRPr lang="en-US" sz="942" dirty="0"/>
          </a:p>
        </p:txBody>
      </p:sp>
      <p:sp>
        <p:nvSpPr>
          <p:cNvPr id="6" name="Text 3"/>
          <p:cNvSpPr/>
          <p:nvPr/>
        </p:nvSpPr>
        <p:spPr>
          <a:xfrm>
            <a:off x="342900" y="1971675"/>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Core Components</a:t>
            </a:r>
            <a:endParaRPr lang="en-US" sz="1350" dirty="0"/>
          </a:p>
        </p:txBody>
      </p:sp>
      <p:sp>
        <p:nvSpPr>
          <p:cNvPr id="7" name="Text 4"/>
          <p:cNvSpPr/>
          <p:nvPr/>
        </p:nvSpPr>
        <p:spPr>
          <a:xfrm>
            <a:off x="517922" y="2327077"/>
            <a:ext cx="621478"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Research:</a:t>
            </a:r>
            <a:endParaRPr lang="en-US" sz="942" dirty="0"/>
          </a:p>
        </p:txBody>
      </p:sp>
      <p:sp>
        <p:nvSpPr>
          <p:cNvPr id="8" name="Text 5"/>
          <p:cNvSpPr/>
          <p:nvPr/>
        </p:nvSpPr>
        <p:spPr>
          <a:xfrm>
            <a:off x="342900" y="2327077"/>
            <a:ext cx="3702221"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Automatically scrapes trending topics and news from multiple sources.</a:t>
            </a:r>
            <a:endParaRPr lang="en-US" sz="942" dirty="0"/>
          </a:p>
        </p:txBody>
      </p:sp>
      <p:sp>
        <p:nvSpPr>
          <p:cNvPr id="9" name="Text 6"/>
          <p:cNvSpPr/>
          <p:nvPr/>
        </p:nvSpPr>
        <p:spPr>
          <a:xfrm>
            <a:off x="517922" y="2784277"/>
            <a:ext cx="1310320"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Content Generation:</a:t>
            </a:r>
            <a:endParaRPr lang="en-US" sz="942" dirty="0"/>
          </a:p>
        </p:txBody>
      </p:sp>
      <p:sp>
        <p:nvSpPr>
          <p:cNvPr id="10" name="Text 7"/>
          <p:cNvSpPr/>
          <p:nvPr/>
        </p:nvSpPr>
        <p:spPr>
          <a:xfrm>
            <a:off x="342900" y="2784277"/>
            <a:ext cx="3522957"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Converts research into engaging, NotebookLM-optimized video scripts.</a:t>
            </a:r>
            <a:endParaRPr lang="en-US" sz="942" dirty="0"/>
          </a:p>
        </p:txBody>
      </p:sp>
      <p:sp>
        <p:nvSpPr>
          <p:cNvPr id="11" name="Text 8"/>
          <p:cNvSpPr/>
          <p:nvPr/>
        </p:nvSpPr>
        <p:spPr>
          <a:xfrm>
            <a:off x="517922" y="3241477"/>
            <a:ext cx="1478896"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YouTube Management:</a:t>
            </a:r>
            <a:endParaRPr lang="en-US" sz="942" dirty="0"/>
          </a:p>
        </p:txBody>
      </p:sp>
      <p:sp>
        <p:nvSpPr>
          <p:cNvPr id="12" name="Text 9"/>
          <p:cNvSpPr/>
          <p:nvPr/>
        </p:nvSpPr>
        <p:spPr>
          <a:xfrm>
            <a:off x="342900" y="3241477"/>
            <a:ext cx="3504567"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Prepares SEO-optimized titles, descriptions, and tags for upload.</a:t>
            </a:r>
            <a:endParaRPr lang="en-US" sz="942" dirty="0"/>
          </a:p>
        </p:txBody>
      </p:sp>
      <p:sp>
        <p:nvSpPr>
          <p:cNvPr id="13" name="Text 10"/>
          <p:cNvSpPr/>
          <p:nvPr/>
        </p:nvSpPr>
        <p:spPr>
          <a:xfrm>
            <a:off x="517922" y="3698677"/>
            <a:ext cx="624939"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Analytics:</a:t>
            </a:r>
            <a:endParaRPr lang="en-US" sz="942" dirty="0"/>
          </a:p>
        </p:txBody>
      </p:sp>
      <p:sp>
        <p:nvSpPr>
          <p:cNvPr id="14" name="Text 11"/>
          <p:cNvSpPr/>
          <p:nvPr/>
        </p:nvSpPr>
        <p:spPr>
          <a:xfrm>
            <a:off x="342900" y="3698677"/>
            <a:ext cx="3357953"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Tracks channel performance and provides actionable insights for growth.</a:t>
            </a:r>
            <a:endParaRPr lang="en-US" sz="942" dirty="0"/>
          </a:p>
        </p:txBody>
      </p:sp>
      <p:sp>
        <p:nvSpPr>
          <p:cNvPr id="15" name="Shape 12"/>
          <p:cNvSpPr/>
          <p:nvPr/>
        </p:nvSpPr>
        <p:spPr>
          <a:xfrm>
            <a:off x="4572000" y="1471613"/>
            <a:ext cx="4229100" cy="2714625"/>
          </a:xfrm>
          <a:prstGeom prst="rect">
            <a:avLst/>
          </a:prstGeom>
          <a:solidFill>
            <a:srgbClr val="F0F4F8"/>
          </a:solidFill>
          <a:ln/>
        </p:spPr>
      </p:sp>
      <p:sp>
        <p:nvSpPr>
          <p:cNvPr id="16" name="Shape 13"/>
          <p:cNvSpPr/>
          <p:nvPr/>
        </p:nvSpPr>
        <p:spPr>
          <a:xfrm>
            <a:off x="4572000" y="1471613"/>
            <a:ext cx="14288" cy="2714625"/>
          </a:xfrm>
          <a:prstGeom prst="rect">
            <a:avLst/>
          </a:prstGeom>
          <a:solidFill>
            <a:srgbClr val="1A365D"/>
          </a:solidFill>
          <a:ln/>
        </p:spPr>
      </p:sp>
      <p:pic>
        <p:nvPicPr>
          <p:cNvPr id="17" name="Image 1" descr="preencoded.png">    </p:cNvPr>
          <p:cNvPicPr>
            <a:picLocks noChangeAspect="1"/>
          </p:cNvPicPr>
          <p:nvPr/>
        </p:nvPicPr>
        <p:blipFill>
          <a:blip r:embed="rId2"/>
          <a:stretch>
            <a:fillRect/>
          </a:stretch>
        </p:blipFill>
        <p:spPr>
          <a:xfrm>
            <a:off x="4714875" y="1643063"/>
            <a:ext cx="128588" cy="114300"/>
          </a:xfrm>
          <a:prstGeom prst="rect">
            <a:avLst/>
          </a:prstGeom>
        </p:spPr>
      </p:pic>
      <p:sp>
        <p:nvSpPr>
          <p:cNvPr id="18" name="Text 14"/>
          <p:cNvSpPr/>
          <p:nvPr/>
        </p:nvSpPr>
        <p:spPr>
          <a:xfrm>
            <a:off x="4843463" y="1621631"/>
            <a:ext cx="1013520"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automation_tools/</a:t>
            </a:r>
            <a:endParaRPr lang="en-US" sz="837" dirty="0"/>
          </a:p>
        </p:txBody>
      </p:sp>
      <p:pic>
        <p:nvPicPr>
          <p:cNvPr id="19" name="Image 2" descr="preencoded.png">    </p:cNvPr>
          <p:cNvPicPr>
            <a:picLocks noChangeAspect="1"/>
          </p:cNvPicPr>
          <p:nvPr/>
        </p:nvPicPr>
        <p:blipFill>
          <a:blip r:embed="rId3"/>
          <a:stretch>
            <a:fillRect/>
          </a:stretch>
        </p:blipFill>
        <p:spPr>
          <a:xfrm>
            <a:off x="4829175" y="1885950"/>
            <a:ext cx="114300" cy="114300"/>
          </a:xfrm>
          <a:prstGeom prst="rect">
            <a:avLst/>
          </a:prstGeom>
        </p:spPr>
      </p:pic>
      <p:sp>
        <p:nvSpPr>
          <p:cNvPr id="20" name="Text 15"/>
          <p:cNvSpPr/>
          <p:nvPr/>
        </p:nvSpPr>
        <p:spPr>
          <a:xfrm>
            <a:off x="4943475" y="1864519"/>
            <a:ext cx="535391"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research/</a:t>
            </a:r>
            <a:endParaRPr lang="en-US" sz="837" dirty="0"/>
          </a:p>
        </p:txBody>
      </p:sp>
      <p:pic>
        <p:nvPicPr>
          <p:cNvPr id="21" name="Image 3" descr="preencoded.png">    </p:cNvPr>
          <p:cNvPicPr>
            <a:picLocks noChangeAspect="1"/>
          </p:cNvPicPr>
          <p:nvPr/>
        </p:nvPicPr>
        <p:blipFill>
          <a:blip r:embed="rId4"/>
          <a:stretch>
            <a:fillRect/>
          </a:stretch>
        </p:blipFill>
        <p:spPr>
          <a:xfrm>
            <a:off x="4943475" y="2128838"/>
            <a:ext cx="85725" cy="114300"/>
          </a:xfrm>
          <a:prstGeom prst="rect">
            <a:avLst/>
          </a:prstGeom>
        </p:spPr>
      </p:pic>
      <p:sp>
        <p:nvSpPr>
          <p:cNvPr id="22" name="Text 16"/>
          <p:cNvSpPr/>
          <p:nvPr/>
        </p:nvSpPr>
        <p:spPr>
          <a:xfrm>
            <a:off x="5029200" y="2107406"/>
            <a:ext cx="1385329"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daily_research_scraper.py</a:t>
            </a:r>
            <a:endParaRPr lang="en-US" sz="837" dirty="0"/>
          </a:p>
        </p:txBody>
      </p:sp>
      <p:pic>
        <p:nvPicPr>
          <p:cNvPr id="23" name="Image 4" descr="preencoded.png">    </p:cNvPr>
          <p:cNvPicPr>
            <a:picLocks noChangeAspect="1"/>
          </p:cNvPicPr>
          <p:nvPr/>
        </p:nvPicPr>
        <p:blipFill>
          <a:blip r:embed="rId5"/>
          <a:stretch>
            <a:fillRect/>
          </a:stretch>
        </p:blipFill>
        <p:spPr>
          <a:xfrm>
            <a:off x="4829175" y="2371725"/>
            <a:ext cx="114300" cy="114300"/>
          </a:xfrm>
          <a:prstGeom prst="rect">
            <a:avLst/>
          </a:prstGeom>
        </p:spPr>
      </p:pic>
      <p:sp>
        <p:nvSpPr>
          <p:cNvPr id="24" name="Text 17"/>
          <p:cNvSpPr/>
          <p:nvPr/>
        </p:nvSpPr>
        <p:spPr>
          <a:xfrm>
            <a:off x="4943475" y="2350294"/>
            <a:ext cx="1124722"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content_generation/</a:t>
            </a:r>
            <a:endParaRPr lang="en-US" sz="837" dirty="0"/>
          </a:p>
        </p:txBody>
      </p:sp>
      <p:pic>
        <p:nvPicPr>
          <p:cNvPr id="25" name="Image 5" descr="preencoded.png">    </p:cNvPr>
          <p:cNvPicPr>
            <a:picLocks noChangeAspect="1"/>
          </p:cNvPicPr>
          <p:nvPr/>
        </p:nvPicPr>
        <p:blipFill>
          <a:blip r:embed="rId6"/>
          <a:stretch>
            <a:fillRect/>
          </a:stretch>
        </p:blipFill>
        <p:spPr>
          <a:xfrm>
            <a:off x="4943475" y="2614613"/>
            <a:ext cx="85725" cy="114300"/>
          </a:xfrm>
          <a:prstGeom prst="rect">
            <a:avLst/>
          </a:prstGeom>
        </p:spPr>
      </p:pic>
      <p:sp>
        <p:nvSpPr>
          <p:cNvPr id="26" name="Text 18"/>
          <p:cNvSpPr/>
          <p:nvPr/>
        </p:nvSpPr>
        <p:spPr>
          <a:xfrm>
            <a:off x="5029200" y="2593181"/>
            <a:ext cx="1400175"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notebooklm_processor.py</a:t>
            </a:r>
            <a:endParaRPr lang="en-US" sz="837" dirty="0"/>
          </a:p>
        </p:txBody>
      </p:sp>
      <p:pic>
        <p:nvPicPr>
          <p:cNvPr id="27" name="Image 6" descr="preencoded.png">    </p:cNvPr>
          <p:cNvPicPr>
            <a:picLocks noChangeAspect="1"/>
          </p:cNvPicPr>
          <p:nvPr/>
        </p:nvPicPr>
        <p:blipFill>
          <a:blip r:embed="rId7"/>
          <a:stretch>
            <a:fillRect/>
          </a:stretch>
        </p:blipFill>
        <p:spPr>
          <a:xfrm>
            <a:off x="4829175" y="2857500"/>
            <a:ext cx="114300" cy="114300"/>
          </a:xfrm>
          <a:prstGeom prst="rect">
            <a:avLst/>
          </a:prstGeom>
        </p:spPr>
      </p:pic>
      <p:sp>
        <p:nvSpPr>
          <p:cNvPr id="28" name="Text 19"/>
          <p:cNvSpPr/>
          <p:nvPr/>
        </p:nvSpPr>
        <p:spPr>
          <a:xfrm>
            <a:off x="4943475" y="2836069"/>
            <a:ext cx="1291484"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youtube_management/</a:t>
            </a:r>
            <a:endParaRPr lang="en-US" sz="837" dirty="0"/>
          </a:p>
        </p:txBody>
      </p:sp>
      <p:pic>
        <p:nvPicPr>
          <p:cNvPr id="29" name="Image 7" descr="preencoded.png">    </p:cNvPr>
          <p:cNvPicPr>
            <a:picLocks noChangeAspect="1"/>
          </p:cNvPicPr>
          <p:nvPr/>
        </p:nvPicPr>
        <p:blipFill>
          <a:blip r:embed="rId8"/>
          <a:stretch>
            <a:fillRect/>
          </a:stretch>
        </p:blipFill>
        <p:spPr>
          <a:xfrm>
            <a:off x="4943475" y="3100388"/>
            <a:ext cx="85725" cy="114300"/>
          </a:xfrm>
          <a:prstGeom prst="rect">
            <a:avLst/>
          </a:prstGeom>
        </p:spPr>
      </p:pic>
      <p:sp>
        <p:nvSpPr>
          <p:cNvPr id="30" name="Text 20"/>
          <p:cNvSpPr/>
          <p:nvPr/>
        </p:nvSpPr>
        <p:spPr>
          <a:xfrm>
            <a:off x="5029200" y="3078956"/>
            <a:ext cx="1149530"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youtube_uploader.py</a:t>
            </a:r>
            <a:endParaRPr lang="en-US" sz="837" dirty="0"/>
          </a:p>
        </p:txBody>
      </p:sp>
      <p:pic>
        <p:nvPicPr>
          <p:cNvPr id="31" name="Image 8" descr="preencoded.png">    </p:cNvPr>
          <p:cNvPicPr>
            <a:picLocks noChangeAspect="1"/>
          </p:cNvPicPr>
          <p:nvPr/>
        </p:nvPicPr>
        <p:blipFill>
          <a:blip r:embed="rId9"/>
          <a:stretch>
            <a:fillRect/>
          </a:stretch>
        </p:blipFill>
        <p:spPr>
          <a:xfrm>
            <a:off x="4829175" y="3343275"/>
            <a:ext cx="114300" cy="114300"/>
          </a:xfrm>
          <a:prstGeom prst="rect">
            <a:avLst/>
          </a:prstGeom>
        </p:spPr>
      </p:pic>
      <p:sp>
        <p:nvSpPr>
          <p:cNvPr id="32" name="Text 21"/>
          <p:cNvSpPr/>
          <p:nvPr/>
        </p:nvSpPr>
        <p:spPr>
          <a:xfrm>
            <a:off x="4943475" y="3321844"/>
            <a:ext cx="539269"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analytics/</a:t>
            </a:r>
            <a:endParaRPr lang="en-US" sz="837" dirty="0"/>
          </a:p>
        </p:txBody>
      </p:sp>
      <p:pic>
        <p:nvPicPr>
          <p:cNvPr id="33" name="Image 9" descr="preencoded.png">    </p:cNvPr>
          <p:cNvPicPr>
            <a:picLocks noChangeAspect="1"/>
          </p:cNvPicPr>
          <p:nvPr/>
        </p:nvPicPr>
        <p:blipFill>
          <a:blip r:embed="rId10"/>
          <a:stretch>
            <a:fillRect/>
          </a:stretch>
        </p:blipFill>
        <p:spPr>
          <a:xfrm>
            <a:off x="4943475" y="3586163"/>
            <a:ext cx="85725" cy="114300"/>
          </a:xfrm>
          <a:prstGeom prst="rect">
            <a:avLst/>
          </a:prstGeom>
        </p:spPr>
      </p:pic>
      <p:sp>
        <p:nvSpPr>
          <p:cNvPr id="34" name="Text 22"/>
          <p:cNvSpPr/>
          <p:nvPr/>
        </p:nvSpPr>
        <p:spPr>
          <a:xfrm>
            <a:off x="5029200" y="3564731"/>
            <a:ext cx="1295614"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performance_tracker.py</a:t>
            </a:r>
            <a:endParaRPr lang="en-US" sz="837" dirty="0"/>
          </a:p>
        </p:txBody>
      </p:sp>
      <p:pic>
        <p:nvPicPr>
          <p:cNvPr id="35" name="Image 10" descr="preencoded.png">    </p:cNvPr>
          <p:cNvPicPr>
            <a:picLocks noChangeAspect="1"/>
          </p:cNvPicPr>
          <p:nvPr/>
        </p:nvPicPr>
        <p:blipFill>
          <a:blip r:embed="rId11"/>
          <a:stretch>
            <a:fillRect/>
          </a:stretch>
        </p:blipFill>
        <p:spPr>
          <a:xfrm>
            <a:off x="4829175" y="3829050"/>
            <a:ext cx="142875" cy="114300"/>
          </a:xfrm>
          <a:prstGeom prst="rect">
            <a:avLst/>
          </a:prstGeom>
        </p:spPr>
      </p:pic>
      <p:sp>
        <p:nvSpPr>
          <p:cNvPr id="36" name="Text 23"/>
          <p:cNvSpPr/>
          <p:nvPr/>
        </p:nvSpPr>
        <p:spPr>
          <a:xfrm>
            <a:off x="4972050" y="3807619"/>
            <a:ext cx="1104267"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master_workflow.py</a:t>
            </a:r>
            <a:endParaRPr lang="en-US" sz="83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Content Templates &amp; Guides</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Jumpstart Your Content Creation</a:t>
            </a:r>
            <a:endParaRPr lang="en-US" sz="1350" dirty="0"/>
          </a:p>
        </p:txBody>
      </p:sp>
      <p:sp>
        <p:nvSpPr>
          <p:cNvPr id="5" name="Text 2"/>
          <p:cNvSpPr/>
          <p:nvPr/>
        </p:nvSpPr>
        <p:spPr>
          <a:xfrm>
            <a:off x="342900" y="1200150"/>
            <a:ext cx="4000500" cy="600075"/>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A comprehensive set of templates and guides to ensure brand consistency and high-quality content from day one. These resources are designed to be easy to use, even for beginners.</a:t>
            </a:r>
            <a:endParaRPr lang="en-US" sz="942" dirty="0"/>
          </a:p>
        </p:txBody>
      </p:sp>
      <p:sp>
        <p:nvSpPr>
          <p:cNvPr id="6" name="Text 3"/>
          <p:cNvSpPr/>
          <p:nvPr/>
        </p:nvSpPr>
        <p:spPr>
          <a:xfrm>
            <a:off x="342900" y="1971675"/>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What's Included</a:t>
            </a:r>
            <a:endParaRPr lang="en-US" sz="1350" dirty="0"/>
          </a:p>
        </p:txBody>
      </p:sp>
      <p:sp>
        <p:nvSpPr>
          <p:cNvPr id="7" name="Text 4"/>
          <p:cNvSpPr/>
          <p:nvPr/>
        </p:nvSpPr>
        <p:spPr>
          <a:xfrm>
            <a:off x="517922" y="2327077"/>
            <a:ext cx="1249877"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Content Templates:</a:t>
            </a:r>
            <a:endParaRPr lang="en-US" sz="942" dirty="0"/>
          </a:p>
        </p:txBody>
      </p:sp>
      <p:sp>
        <p:nvSpPr>
          <p:cNvPr id="8" name="Text 5"/>
          <p:cNvSpPr/>
          <p:nvPr/>
        </p:nvSpPr>
        <p:spPr>
          <a:xfrm>
            <a:off x="1767799" y="2327077"/>
            <a:ext cx="2528301" cy="175022"/>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For structuring your daily insights videos.</a:t>
            </a:r>
            <a:endParaRPr lang="en-US" sz="942" dirty="0"/>
          </a:p>
        </p:txBody>
      </p:sp>
      <p:sp>
        <p:nvSpPr>
          <p:cNvPr id="9" name="Text 6"/>
          <p:cNvSpPr/>
          <p:nvPr/>
        </p:nvSpPr>
        <p:spPr>
          <a:xfrm>
            <a:off x="517922" y="2584252"/>
            <a:ext cx="1103542"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Script Templates:</a:t>
            </a:r>
            <a:endParaRPr lang="en-US" sz="942" dirty="0"/>
          </a:p>
        </p:txBody>
      </p:sp>
      <p:sp>
        <p:nvSpPr>
          <p:cNvPr id="10" name="Text 7"/>
          <p:cNvSpPr/>
          <p:nvPr/>
        </p:nvSpPr>
        <p:spPr>
          <a:xfrm>
            <a:off x="342900" y="2584252"/>
            <a:ext cx="3321704"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Optimized for NotebookLM video generation.</a:t>
            </a:r>
            <a:endParaRPr lang="en-US" sz="942" dirty="0"/>
          </a:p>
        </p:txBody>
      </p:sp>
      <p:sp>
        <p:nvSpPr>
          <p:cNvPr id="11" name="Text 8"/>
          <p:cNvSpPr/>
          <p:nvPr/>
        </p:nvSpPr>
        <p:spPr>
          <a:xfrm>
            <a:off x="517922" y="3041452"/>
            <a:ext cx="1199871"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Thumbnail Guides:</a:t>
            </a:r>
            <a:endParaRPr lang="en-US" sz="942" dirty="0"/>
          </a:p>
        </p:txBody>
      </p:sp>
      <p:sp>
        <p:nvSpPr>
          <p:cNvPr id="12" name="Text 9"/>
          <p:cNvSpPr/>
          <p:nvPr/>
        </p:nvSpPr>
        <p:spPr>
          <a:xfrm>
            <a:off x="342900" y="3041452"/>
            <a:ext cx="3560629"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Best practices for creating high-CTR thumbnails.</a:t>
            </a:r>
            <a:endParaRPr lang="en-US" sz="942" dirty="0"/>
          </a:p>
        </p:txBody>
      </p:sp>
      <p:sp>
        <p:nvSpPr>
          <p:cNvPr id="13" name="Text 10"/>
          <p:cNvSpPr/>
          <p:nvPr/>
        </p:nvSpPr>
        <p:spPr>
          <a:xfrm>
            <a:off x="517922" y="3498652"/>
            <a:ext cx="753414"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SEO Guides:</a:t>
            </a:r>
            <a:endParaRPr lang="en-US" sz="942" dirty="0"/>
          </a:p>
        </p:txBody>
      </p:sp>
      <p:sp>
        <p:nvSpPr>
          <p:cNvPr id="14" name="Text 11"/>
          <p:cNvSpPr/>
          <p:nvPr/>
        </p:nvSpPr>
        <p:spPr>
          <a:xfrm>
            <a:off x="342900" y="3498652"/>
            <a:ext cx="3507274"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To help your videos get discovered by new viewers.</a:t>
            </a:r>
            <a:endParaRPr lang="en-US" sz="942" dirty="0"/>
          </a:p>
        </p:txBody>
      </p:sp>
      <p:sp>
        <p:nvSpPr>
          <p:cNvPr id="15" name="Text 12"/>
          <p:cNvSpPr/>
          <p:nvPr/>
        </p:nvSpPr>
        <p:spPr>
          <a:xfrm>
            <a:off x="517922" y="3955852"/>
            <a:ext cx="1164878"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Content Calendar:</a:t>
            </a:r>
            <a:endParaRPr lang="en-US" sz="942" dirty="0"/>
          </a:p>
        </p:txBody>
      </p:sp>
      <p:sp>
        <p:nvSpPr>
          <p:cNvPr id="16" name="Text 13"/>
          <p:cNvSpPr/>
          <p:nvPr/>
        </p:nvSpPr>
        <p:spPr>
          <a:xfrm>
            <a:off x="1682800" y="3955852"/>
            <a:ext cx="2482146" cy="175022"/>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To plan and track your content schedule.</a:t>
            </a:r>
            <a:endParaRPr lang="en-US" sz="942" dirty="0"/>
          </a:p>
        </p:txBody>
      </p:sp>
      <p:sp>
        <p:nvSpPr>
          <p:cNvPr id="17" name="Shape 14"/>
          <p:cNvSpPr/>
          <p:nvPr/>
        </p:nvSpPr>
        <p:spPr>
          <a:xfrm>
            <a:off x="4908845" y="2343150"/>
            <a:ext cx="1720555" cy="428625"/>
          </a:xfrm>
          <a:prstGeom prst="rect">
            <a:avLst/>
          </a:prstGeom>
          <a:solidFill>
            <a:srgbClr val="F0F4F8"/>
          </a:solidFill>
          <a:ln w="198">
            <a:solidFill>
              <a:srgbClr val="1A365D"/>
            </a:solidFill>
            <a:prstDash val="solid"/>
          </a:ln>
        </p:spPr>
      </p:sp>
      <p:sp>
        <p:nvSpPr>
          <p:cNvPr id="18" name="Text 15"/>
          <p:cNvSpPr/>
          <p:nvPr/>
        </p:nvSpPr>
        <p:spPr>
          <a:xfrm>
            <a:off x="4908845" y="2343150"/>
            <a:ext cx="1720555" cy="428625"/>
          </a:xfrm>
          <a:prstGeom prst="rect">
            <a:avLst/>
          </a:prstGeom>
          <a:noFill/>
          <a:ln/>
        </p:spPr>
        <p:txBody>
          <a:bodyPr wrap="square" lIns="136017" tIns="136017" rIns="136017" bIns="136017" rtlCol="0" anchor="ctr">
            <a:spAutoFit/>
          </a:bodyPr>
          <a:lstStyle/>
          <a:p>
            <a:pPr algn="ctr" indent="0" marL="0">
              <a:buNone/>
            </a:pPr>
            <a:r>
              <a:rPr lang="en-US" sz="837" b="1" dirty="0">
                <a:solidFill>
                  <a:srgbClr val="1A365D"/>
                </a:solidFill>
                <a:latin typeface="Noto Sans" pitchFamily="34" charset="0"/>
                <a:ea typeface="Noto Sans" pitchFamily="34" charset="-122"/>
                <a:cs typeface="Noto Sans" pitchFamily="34" charset="-120"/>
              </a:rPr>
              <a:t>General Content Template</a:t>
            </a:r>
            <a:endParaRPr lang="en-US" sz="837" dirty="0"/>
          </a:p>
        </p:txBody>
      </p:sp>
      <p:sp>
        <p:nvSpPr>
          <p:cNvPr id="19" name="Shape 16"/>
          <p:cNvSpPr/>
          <p:nvPr/>
        </p:nvSpPr>
        <p:spPr>
          <a:xfrm>
            <a:off x="6743700" y="2343150"/>
            <a:ext cx="1691980" cy="428625"/>
          </a:xfrm>
          <a:prstGeom prst="rect">
            <a:avLst/>
          </a:prstGeom>
          <a:solidFill>
            <a:srgbClr val="F0F4F8"/>
          </a:solidFill>
          <a:ln w="198">
            <a:solidFill>
              <a:srgbClr val="1A365D"/>
            </a:solidFill>
            <a:prstDash val="solid"/>
          </a:ln>
        </p:spPr>
      </p:sp>
      <p:sp>
        <p:nvSpPr>
          <p:cNvPr id="20" name="Text 17"/>
          <p:cNvSpPr/>
          <p:nvPr/>
        </p:nvSpPr>
        <p:spPr>
          <a:xfrm>
            <a:off x="6743700" y="2343150"/>
            <a:ext cx="1691980" cy="428625"/>
          </a:xfrm>
          <a:prstGeom prst="rect">
            <a:avLst/>
          </a:prstGeom>
          <a:noFill/>
          <a:ln/>
        </p:spPr>
        <p:txBody>
          <a:bodyPr wrap="square" lIns="136017" tIns="136017" rIns="136017" bIns="136017" rtlCol="0" anchor="ctr">
            <a:spAutoFit/>
          </a:bodyPr>
          <a:lstStyle/>
          <a:p>
            <a:pPr algn="ctr" indent="0" marL="0">
              <a:buNone/>
            </a:pPr>
            <a:r>
              <a:rPr lang="en-US" sz="837" b="1" dirty="0">
                <a:solidFill>
                  <a:srgbClr val="1A365D"/>
                </a:solidFill>
                <a:latin typeface="Noto Sans" pitchFamily="34" charset="0"/>
                <a:ea typeface="Noto Sans" pitchFamily="34" charset="-122"/>
                <a:cs typeface="Noto Sans" pitchFamily="34" charset="-120"/>
              </a:rPr>
              <a:t>Script Template</a:t>
            </a:r>
            <a:endParaRPr lang="en-US" sz="837" dirty="0"/>
          </a:p>
        </p:txBody>
      </p:sp>
      <p:sp>
        <p:nvSpPr>
          <p:cNvPr id="21" name="Shape 18"/>
          <p:cNvSpPr/>
          <p:nvPr/>
        </p:nvSpPr>
        <p:spPr>
          <a:xfrm>
            <a:off x="4937420" y="2871788"/>
            <a:ext cx="1691980" cy="428625"/>
          </a:xfrm>
          <a:prstGeom prst="rect">
            <a:avLst/>
          </a:prstGeom>
          <a:solidFill>
            <a:srgbClr val="F0F4F8"/>
          </a:solidFill>
          <a:ln w="198">
            <a:solidFill>
              <a:srgbClr val="1A365D"/>
            </a:solidFill>
            <a:prstDash val="solid"/>
          </a:ln>
        </p:spPr>
      </p:sp>
      <p:sp>
        <p:nvSpPr>
          <p:cNvPr id="22" name="Text 19"/>
          <p:cNvSpPr/>
          <p:nvPr/>
        </p:nvSpPr>
        <p:spPr>
          <a:xfrm>
            <a:off x="4937420" y="2871788"/>
            <a:ext cx="1691980" cy="428625"/>
          </a:xfrm>
          <a:prstGeom prst="rect">
            <a:avLst/>
          </a:prstGeom>
          <a:noFill/>
          <a:ln/>
        </p:spPr>
        <p:txBody>
          <a:bodyPr wrap="square" lIns="136017" tIns="136017" rIns="136017" bIns="136017" rtlCol="0" anchor="ctr">
            <a:spAutoFit/>
          </a:bodyPr>
          <a:lstStyle/>
          <a:p>
            <a:pPr algn="ctr" indent="0" marL="0">
              <a:buNone/>
            </a:pPr>
            <a:r>
              <a:rPr lang="en-US" sz="837" b="1" dirty="0">
                <a:solidFill>
                  <a:srgbClr val="1A365D"/>
                </a:solidFill>
                <a:latin typeface="Noto Sans" pitchFamily="34" charset="0"/>
                <a:ea typeface="Noto Sans" pitchFamily="34" charset="-122"/>
                <a:cs typeface="Noto Sans" pitchFamily="34" charset="-120"/>
              </a:rPr>
              <a:t>Thumbnail Design Guide</a:t>
            </a:r>
            <a:endParaRPr lang="en-US" sz="837" dirty="0"/>
          </a:p>
        </p:txBody>
      </p:sp>
      <p:sp>
        <p:nvSpPr>
          <p:cNvPr id="23" name="Shape 20"/>
          <p:cNvSpPr/>
          <p:nvPr/>
        </p:nvSpPr>
        <p:spPr>
          <a:xfrm>
            <a:off x="6743700" y="2871788"/>
            <a:ext cx="1691980" cy="428625"/>
          </a:xfrm>
          <a:prstGeom prst="rect">
            <a:avLst/>
          </a:prstGeom>
          <a:solidFill>
            <a:srgbClr val="F0F4F8"/>
          </a:solidFill>
          <a:ln w="198">
            <a:solidFill>
              <a:srgbClr val="1A365D"/>
            </a:solidFill>
            <a:prstDash val="solid"/>
          </a:ln>
        </p:spPr>
      </p:sp>
      <p:sp>
        <p:nvSpPr>
          <p:cNvPr id="24" name="Text 21"/>
          <p:cNvSpPr/>
          <p:nvPr/>
        </p:nvSpPr>
        <p:spPr>
          <a:xfrm>
            <a:off x="6743700" y="2871788"/>
            <a:ext cx="1691980" cy="428625"/>
          </a:xfrm>
          <a:prstGeom prst="rect">
            <a:avLst/>
          </a:prstGeom>
          <a:noFill/>
          <a:ln/>
        </p:spPr>
        <p:txBody>
          <a:bodyPr wrap="square" lIns="136017" tIns="136017" rIns="136017" bIns="136017" rtlCol="0" anchor="ctr">
            <a:spAutoFit/>
          </a:bodyPr>
          <a:lstStyle/>
          <a:p>
            <a:pPr algn="ctr" indent="0" marL="0">
              <a:buNone/>
            </a:pPr>
            <a:r>
              <a:rPr lang="en-US" sz="837" b="1" dirty="0">
                <a:solidFill>
                  <a:srgbClr val="1A365D"/>
                </a:solidFill>
                <a:latin typeface="Noto Sans" pitchFamily="34" charset="0"/>
                <a:ea typeface="Noto Sans" pitchFamily="34" charset="-122"/>
                <a:cs typeface="Noto Sans" pitchFamily="34" charset="-120"/>
              </a:rPr>
              <a:t>SEO Optimization Guide</a:t>
            </a:r>
            <a:endParaRPr lang="en-US" sz="83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Visual Assets &amp; Branding</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A Cohesive &amp; Professional Brand</a:t>
            </a:r>
            <a:endParaRPr lang="en-US" sz="1350" dirty="0"/>
          </a:p>
        </p:txBody>
      </p:sp>
      <p:sp>
        <p:nvSpPr>
          <p:cNvPr id="5" name="Text 2"/>
          <p:cNvSpPr/>
          <p:nvPr/>
        </p:nvSpPr>
        <p:spPr>
          <a:xfrm>
            <a:off x="342900" y="1200150"/>
            <a:ext cx="4000500" cy="800100"/>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A complete set of visual assets to ensure your channel has a professional and consistent brand identity from day one. These assets are designed to be modern, authoritative, and visually appealing.</a:t>
            </a:r>
            <a:endParaRPr lang="en-US" sz="942" dirty="0"/>
          </a:p>
        </p:txBody>
      </p:sp>
      <p:sp>
        <p:nvSpPr>
          <p:cNvPr id="6" name="Text 3"/>
          <p:cNvSpPr/>
          <p:nvPr/>
        </p:nvSpPr>
        <p:spPr>
          <a:xfrm>
            <a:off x="342900" y="217170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Key Assets</a:t>
            </a:r>
            <a:endParaRPr lang="en-US" sz="1350" dirty="0"/>
          </a:p>
        </p:txBody>
      </p:sp>
      <p:sp>
        <p:nvSpPr>
          <p:cNvPr id="7" name="Text 4"/>
          <p:cNvSpPr/>
          <p:nvPr/>
        </p:nvSpPr>
        <p:spPr>
          <a:xfrm>
            <a:off x="517922" y="2527102"/>
            <a:ext cx="349904"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Logo:</a:t>
            </a:r>
            <a:endParaRPr lang="en-US" sz="942" dirty="0"/>
          </a:p>
        </p:txBody>
      </p:sp>
      <p:sp>
        <p:nvSpPr>
          <p:cNvPr id="8" name="Text 5"/>
          <p:cNvSpPr/>
          <p:nvPr/>
        </p:nvSpPr>
        <p:spPr>
          <a:xfrm>
            <a:off x="342900" y="2527102"/>
            <a:ext cx="3275800"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A modern and professional logo that is easily recognizable.</a:t>
            </a:r>
            <a:endParaRPr lang="en-US" sz="942" dirty="0"/>
          </a:p>
        </p:txBody>
      </p:sp>
      <p:sp>
        <p:nvSpPr>
          <p:cNvPr id="9" name="Text 6"/>
          <p:cNvSpPr/>
          <p:nvPr/>
        </p:nvSpPr>
        <p:spPr>
          <a:xfrm>
            <a:off x="517922" y="2984302"/>
            <a:ext cx="863473"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Lower Thirds:</a:t>
            </a:r>
            <a:endParaRPr lang="en-US" sz="942" dirty="0"/>
          </a:p>
        </p:txBody>
      </p:sp>
      <p:sp>
        <p:nvSpPr>
          <p:cNvPr id="10" name="Text 7"/>
          <p:cNvSpPr/>
          <p:nvPr/>
        </p:nvSpPr>
        <p:spPr>
          <a:xfrm>
            <a:off x="342900" y="2984302"/>
            <a:ext cx="3840435"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Clean and professional graphics for on-screen text.</a:t>
            </a:r>
            <a:endParaRPr lang="en-US" sz="942" dirty="0"/>
          </a:p>
        </p:txBody>
      </p:sp>
      <p:sp>
        <p:nvSpPr>
          <p:cNvPr id="11" name="Text 8"/>
          <p:cNvSpPr/>
          <p:nvPr/>
        </p:nvSpPr>
        <p:spPr>
          <a:xfrm>
            <a:off x="517922" y="3441502"/>
            <a:ext cx="792231"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Thumbnails:</a:t>
            </a:r>
            <a:endParaRPr lang="en-US" sz="942" dirty="0"/>
          </a:p>
        </p:txBody>
      </p:sp>
      <p:sp>
        <p:nvSpPr>
          <p:cNvPr id="12" name="Text 9"/>
          <p:cNvSpPr/>
          <p:nvPr/>
        </p:nvSpPr>
        <p:spPr>
          <a:xfrm>
            <a:off x="342900" y="3441502"/>
            <a:ext cx="3838873"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Eye-catching templates designed for high click-through rates.</a:t>
            </a:r>
            <a:endParaRPr lang="en-US" sz="942" dirty="0"/>
          </a:p>
        </p:txBody>
      </p:sp>
      <p:sp>
        <p:nvSpPr>
          <p:cNvPr id="13" name="Text 10"/>
          <p:cNvSpPr/>
          <p:nvPr/>
        </p:nvSpPr>
        <p:spPr>
          <a:xfrm>
            <a:off x="517922" y="3898702"/>
            <a:ext cx="877621"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Backgrounds:</a:t>
            </a:r>
            <a:endParaRPr lang="en-US" sz="942" dirty="0"/>
          </a:p>
        </p:txBody>
      </p:sp>
      <p:sp>
        <p:nvSpPr>
          <p:cNvPr id="14" name="Text 11"/>
          <p:cNvSpPr/>
          <p:nvPr/>
        </p:nvSpPr>
        <p:spPr>
          <a:xfrm>
            <a:off x="342900" y="3898702"/>
            <a:ext cx="3868480"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Professional and non-distracting backgrounds for your videos.</a:t>
            </a:r>
            <a:endParaRPr lang="en-US" sz="942" dirty="0"/>
          </a:p>
        </p:txBody>
      </p:sp>
      <p:pic>
        <p:nvPicPr>
          <p:cNvPr id="15" name="Image 1" descr="preencoded.png">    </p:cNvPr>
          <p:cNvPicPr>
            <a:picLocks noChangeAspect="1"/>
          </p:cNvPicPr>
          <p:nvPr/>
        </p:nvPicPr>
        <p:blipFill>
          <a:blip r:embed="rId2"/>
          <a:stretch>
            <a:fillRect/>
          </a:stretch>
        </p:blipFill>
        <p:spPr>
          <a:xfrm>
            <a:off x="4586288" y="1066791"/>
            <a:ext cx="2028825" cy="2028825"/>
          </a:xfrm>
          <a:prstGeom prst="rect">
            <a:avLst/>
          </a:prstGeom>
        </p:spPr>
      </p:pic>
      <p:pic>
        <p:nvPicPr>
          <p:cNvPr id="16" name="Image 2" descr="preencoded.png">    </p:cNvPr>
          <p:cNvPicPr>
            <a:picLocks noChangeAspect="1"/>
          </p:cNvPicPr>
          <p:nvPr/>
        </p:nvPicPr>
        <p:blipFill>
          <a:blip r:embed="rId3"/>
          <a:stretch>
            <a:fillRect/>
          </a:stretch>
        </p:blipFill>
        <p:spPr>
          <a:xfrm>
            <a:off x="6757988" y="1066791"/>
            <a:ext cx="2028825" cy="2028825"/>
          </a:xfrm>
          <a:prstGeom prst="rect">
            <a:avLst/>
          </a:prstGeom>
        </p:spPr>
      </p:pic>
      <p:pic>
        <p:nvPicPr>
          <p:cNvPr id="17" name="Image 3" descr="preencoded.png">    </p:cNvPr>
          <p:cNvPicPr>
            <a:picLocks noChangeAspect="1"/>
          </p:cNvPicPr>
          <p:nvPr/>
        </p:nvPicPr>
        <p:blipFill>
          <a:blip r:embed="rId4"/>
          <a:stretch>
            <a:fillRect/>
          </a:stretch>
        </p:blipFill>
        <p:spPr>
          <a:xfrm>
            <a:off x="4586288" y="3238491"/>
            <a:ext cx="2028825" cy="1352541"/>
          </a:xfrm>
          <a:prstGeom prst="rect">
            <a:avLst/>
          </a:prstGeom>
        </p:spPr>
      </p:pic>
      <p:pic>
        <p:nvPicPr>
          <p:cNvPr id="18" name="Image 4" descr="preencoded.png">    </p:cNvPr>
          <p:cNvPicPr>
            <a:picLocks noChangeAspect="1"/>
          </p:cNvPicPr>
          <p:nvPr/>
        </p:nvPicPr>
        <p:blipFill>
          <a:blip r:embed="rId5"/>
          <a:stretch>
            <a:fillRect/>
          </a:stretch>
        </p:blipFill>
        <p:spPr>
          <a:xfrm>
            <a:off x="6757988" y="3238491"/>
            <a:ext cx="2028825" cy="135254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Weekend Launch Checklist</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Launch Your Channel This Weekend</a:t>
            </a:r>
            <a:endParaRPr lang="en-US" sz="1350" dirty="0"/>
          </a:p>
        </p:txBody>
      </p:sp>
      <p:sp>
        <p:nvSpPr>
          <p:cNvPr id="5" name="Text 2"/>
          <p:cNvSpPr/>
          <p:nvPr/>
        </p:nvSpPr>
        <p:spPr>
          <a:xfrm>
            <a:off x="342900" y="1200150"/>
            <a:ext cx="4000500" cy="600075"/>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Follow this simple checklist to get your Daily Insights channel up and running in just two days. This step-by-step guide is designed for a quick and efficient launch.</a:t>
            </a:r>
            <a:endParaRPr lang="en-US" sz="942" dirty="0"/>
          </a:p>
        </p:txBody>
      </p:sp>
      <p:sp>
        <p:nvSpPr>
          <p:cNvPr id="6" name="Text 3"/>
          <p:cNvSpPr/>
          <p:nvPr/>
        </p:nvSpPr>
        <p:spPr>
          <a:xfrm>
            <a:off x="4572000" y="857250"/>
            <a:ext cx="4229100" cy="200025"/>
          </a:xfrm>
          <a:prstGeom prst="rect">
            <a:avLst/>
          </a:prstGeom>
          <a:noFill/>
          <a:ln/>
        </p:spPr>
        <p:txBody>
          <a:bodyPr wrap="none" lIns="0" tIns="0" rIns="0" bIns="0" rtlCol="0" anchor="ctr">
            <a:spAutoFit/>
          </a:bodyPr>
          <a:lstStyle/>
          <a:p>
            <a:pPr indent="0" marL="0">
              <a:buNone/>
            </a:pPr>
            <a:r>
              <a:rPr lang="en-US" sz="1046" b="1" dirty="0">
                <a:solidFill>
                  <a:srgbClr val="1A365D"/>
                </a:solidFill>
                <a:latin typeface="Noto Sans" pitchFamily="34" charset="0"/>
                <a:ea typeface="Noto Sans" pitchFamily="34" charset="-122"/>
                <a:cs typeface="Noto Sans" pitchFamily="34" charset="-120"/>
              </a:rPr>
              <a:t>Saturday: Setup &amp; Preparation</a:t>
            </a:r>
            <a:endParaRPr lang="en-US" sz="1046" dirty="0"/>
          </a:p>
        </p:txBody>
      </p:sp>
      <p:pic>
        <p:nvPicPr>
          <p:cNvPr id="7" name="Image 1" descr="preencoded.png">    </p:cNvPr>
          <p:cNvPicPr>
            <a:picLocks noChangeAspect="1"/>
          </p:cNvPicPr>
          <p:nvPr/>
        </p:nvPicPr>
        <p:blipFill>
          <a:blip r:embed="rId2"/>
          <a:stretch>
            <a:fillRect/>
          </a:stretch>
        </p:blipFill>
        <p:spPr>
          <a:xfrm>
            <a:off x="4572000" y="1207294"/>
            <a:ext cx="111147" cy="142875"/>
          </a:xfrm>
          <a:prstGeom prst="rect">
            <a:avLst/>
          </a:prstGeom>
        </p:spPr>
      </p:pic>
      <p:sp>
        <p:nvSpPr>
          <p:cNvPr id="8" name="Text 4"/>
          <p:cNvSpPr/>
          <p:nvPr/>
        </p:nvSpPr>
        <p:spPr>
          <a:xfrm>
            <a:off x="4797447" y="1171575"/>
            <a:ext cx="1591354"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Setup YouTube Channel</a:t>
            </a:r>
            <a:endParaRPr lang="en-US" sz="1046" dirty="0"/>
          </a:p>
        </p:txBody>
      </p:sp>
      <p:pic>
        <p:nvPicPr>
          <p:cNvPr id="9" name="Image 2" descr="preencoded.png">    </p:cNvPr>
          <p:cNvPicPr>
            <a:picLocks noChangeAspect="1"/>
          </p:cNvPicPr>
          <p:nvPr/>
        </p:nvPicPr>
        <p:blipFill>
          <a:blip r:embed="rId3"/>
          <a:stretch>
            <a:fillRect/>
          </a:stretch>
        </p:blipFill>
        <p:spPr>
          <a:xfrm>
            <a:off x="4572000" y="1535906"/>
            <a:ext cx="111147" cy="142875"/>
          </a:xfrm>
          <a:prstGeom prst="rect">
            <a:avLst/>
          </a:prstGeom>
        </p:spPr>
      </p:pic>
      <p:sp>
        <p:nvSpPr>
          <p:cNvPr id="10" name="Text 5"/>
          <p:cNvSpPr/>
          <p:nvPr/>
        </p:nvSpPr>
        <p:spPr>
          <a:xfrm>
            <a:off x="4797447" y="1500188"/>
            <a:ext cx="1880397"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Configure Automation Tools</a:t>
            </a:r>
            <a:endParaRPr lang="en-US" sz="1046" dirty="0"/>
          </a:p>
        </p:txBody>
      </p:sp>
      <p:pic>
        <p:nvPicPr>
          <p:cNvPr id="11" name="Image 3" descr="preencoded.png">    </p:cNvPr>
          <p:cNvPicPr>
            <a:picLocks noChangeAspect="1"/>
          </p:cNvPicPr>
          <p:nvPr/>
        </p:nvPicPr>
        <p:blipFill>
          <a:blip r:embed="rId4"/>
          <a:stretch>
            <a:fillRect/>
          </a:stretch>
        </p:blipFill>
        <p:spPr>
          <a:xfrm>
            <a:off x="4572000" y="1864519"/>
            <a:ext cx="111147" cy="142875"/>
          </a:xfrm>
          <a:prstGeom prst="rect">
            <a:avLst/>
          </a:prstGeom>
        </p:spPr>
      </p:pic>
      <p:sp>
        <p:nvSpPr>
          <p:cNvPr id="12" name="Text 6"/>
          <p:cNvSpPr/>
          <p:nvPr/>
        </p:nvSpPr>
        <p:spPr>
          <a:xfrm>
            <a:off x="4797447" y="1828800"/>
            <a:ext cx="1660922"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Run First Research Script</a:t>
            </a:r>
            <a:endParaRPr lang="en-US" sz="1046" dirty="0"/>
          </a:p>
        </p:txBody>
      </p:sp>
      <p:pic>
        <p:nvPicPr>
          <p:cNvPr id="13" name="Image 4" descr="preencoded.png">    </p:cNvPr>
          <p:cNvPicPr>
            <a:picLocks noChangeAspect="1"/>
          </p:cNvPicPr>
          <p:nvPr/>
        </p:nvPicPr>
        <p:blipFill>
          <a:blip r:embed="rId5"/>
          <a:stretch>
            <a:fillRect/>
          </a:stretch>
        </p:blipFill>
        <p:spPr>
          <a:xfrm>
            <a:off x="4572000" y="2193131"/>
            <a:ext cx="111147" cy="142875"/>
          </a:xfrm>
          <a:prstGeom prst="rect">
            <a:avLst/>
          </a:prstGeom>
        </p:spPr>
      </p:pic>
      <p:sp>
        <p:nvSpPr>
          <p:cNvPr id="14" name="Text 7"/>
          <p:cNvSpPr/>
          <p:nvPr/>
        </p:nvSpPr>
        <p:spPr>
          <a:xfrm>
            <a:off x="4797447" y="2157413"/>
            <a:ext cx="1783231"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Generate First Video Script</a:t>
            </a:r>
            <a:endParaRPr lang="en-US" sz="1046" dirty="0"/>
          </a:p>
        </p:txBody>
      </p:sp>
      <p:sp>
        <p:nvSpPr>
          <p:cNvPr id="15" name="Text 8"/>
          <p:cNvSpPr/>
          <p:nvPr/>
        </p:nvSpPr>
        <p:spPr>
          <a:xfrm>
            <a:off x="4572000" y="2600325"/>
            <a:ext cx="4229100" cy="200025"/>
          </a:xfrm>
          <a:prstGeom prst="rect">
            <a:avLst/>
          </a:prstGeom>
          <a:noFill/>
          <a:ln/>
        </p:spPr>
        <p:txBody>
          <a:bodyPr wrap="none" lIns="0" tIns="0" rIns="0" bIns="0" rtlCol="0" anchor="ctr">
            <a:spAutoFit/>
          </a:bodyPr>
          <a:lstStyle/>
          <a:p>
            <a:pPr indent="0" marL="0">
              <a:buNone/>
            </a:pPr>
            <a:r>
              <a:rPr lang="en-US" sz="1046" b="1" dirty="0">
                <a:solidFill>
                  <a:srgbClr val="1A365D"/>
                </a:solidFill>
                <a:latin typeface="Noto Sans" pitchFamily="34" charset="0"/>
                <a:ea typeface="Noto Sans" pitchFamily="34" charset="-122"/>
                <a:cs typeface="Noto Sans" pitchFamily="34" charset="-120"/>
              </a:rPr>
              <a:t>Sunday: Content &amp; Launch</a:t>
            </a:r>
            <a:endParaRPr lang="en-US" sz="1046" dirty="0"/>
          </a:p>
        </p:txBody>
      </p:sp>
      <p:pic>
        <p:nvPicPr>
          <p:cNvPr id="16" name="Image 5" descr="preencoded.png">    </p:cNvPr>
          <p:cNvPicPr>
            <a:picLocks noChangeAspect="1"/>
          </p:cNvPicPr>
          <p:nvPr/>
        </p:nvPicPr>
        <p:blipFill>
          <a:blip r:embed="rId6"/>
          <a:stretch>
            <a:fillRect/>
          </a:stretch>
        </p:blipFill>
        <p:spPr>
          <a:xfrm>
            <a:off x="4572000" y="2950369"/>
            <a:ext cx="111147" cy="142875"/>
          </a:xfrm>
          <a:prstGeom prst="rect">
            <a:avLst/>
          </a:prstGeom>
        </p:spPr>
      </p:pic>
      <p:sp>
        <p:nvSpPr>
          <p:cNvPr id="17" name="Text 9"/>
          <p:cNvSpPr/>
          <p:nvPr/>
        </p:nvSpPr>
        <p:spPr>
          <a:xfrm>
            <a:off x="4797447" y="2914650"/>
            <a:ext cx="1885392"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Record/Generate First Video</a:t>
            </a:r>
            <a:endParaRPr lang="en-US" sz="1046" dirty="0"/>
          </a:p>
        </p:txBody>
      </p:sp>
      <p:pic>
        <p:nvPicPr>
          <p:cNvPr id="18" name="Image 6" descr="preencoded.png">    </p:cNvPr>
          <p:cNvPicPr>
            <a:picLocks noChangeAspect="1"/>
          </p:cNvPicPr>
          <p:nvPr/>
        </p:nvPicPr>
        <p:blipFill>
          <a:blip r:embed="rId7"/>
          <a:stretch>
            <a:fillRect/>
          </a:stretch>
        </p:blipFill>
        <p:spPr>
          <a:xfrm>
            <a:off x="4572000" y="3278981"/>
            <a:ext cx="111147" cy="142875"/>
          </a:xfrm>
          <a:prstGeom prst="rect">
            <a:avLst/>
          </a:prstGeom>
        </p:spPr>
      </p:pic>
      <p:sp>
        <p:nvSpPr>
          <p:cNvPr id="19" name="Text 10"/>
          <p:cNvSpPr/>
          <p:nvPr/>
        </p:nvSpPr>
        <p:spPr>
          <a:xfrm>
            <a:off x="4797447" y="3243263"/>
            <a:ext cx="1196160"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Create Thumbnail</a:t>
            </a:r>
            <a:endParaRPr lang="en-US" sz="1046" dirty="0"/>
          </a:p>
        </p:txBody>
      </p:sp>
      <p:pic>
        <p:nvPicPr>
          <p:cNvPr id="20" name="Image 7" descr="preencoded.png">    </p:cNvPr>
          <p:cNvPicPr>
            <a:picLocks noChangeAspect="1"/>
          </p:cNvPicPr>
          <p:nvPr/>
        </p:nvPicPr>
        <p:blipFill>
          <a:blip r:embed="rId8"/>
          <a:stretch>
            <a:fillRect/>
          </a:stretch>
        </p:blipFill>
        <p:spPr>
          <a:xfrm>
            <a:off x="4572000" y="3607594"/>
            <a:ext cx="111147" cy="142875"/>
          </a:xfrm>
          <a:prstGeom prst="rect">
            <a:avLst/>
          </a:prstGeom>
        </p:spPr>
      </p:pic>
      <p:sp>
        <p:nvSpPr>
          <p:cNvPr id="21" name="Text 11"/>
          <p:cNvSpPr/>
          <p:nvPr/>
        </p:nvSpPr>
        <p:spPr>
          <a:xfrm>
            <a:off x="4797447" y="3571875"/>
            <a:ext cx="2013840"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Upload &amp; Schedule First Video</a:t>
            </a:r>
            <a:endParaRPr lang="en-US" sz="1046" dirty="0"/>
          </a:p>
        </p:txBody>
      </p:sp>
      <p:pic>
        <p:nvPicPr>
          <p:cNvPr id="22" name="Image 8" descr="preencoded.png">    </p:cNvPr>
          <p:cNvPicPr>
            <a:picLocks noChangeAspect="1"/>
          </p:cNvPicPr>
          <p:nvPr/>
        </p:nvPicPr>
        <p:blipFill>
          <a:blip r:embed="rId9"/>
          <a:stretch>
            <a:fillRect/>
          </a:stretch>
        </p:blipFill>
        <p:spPr>
          <a:xfrm>
            <a:off x="4572000" y="3936206"/>
            <a:ext cx="111147" cy="142875"/>
          </a:xfrm>
          <a:prstGeom prst="rect">
            <a:avLst/>
          </a:prstGeom>
        </p:spPr>
      </p:pic>
      <p:sp>
        <p:nvSpPr>
          <p:cNvPr id="23" name="Text 12"/>
          <p:cNvSpPr/>
          <p:nvPr/>
        </p:nvSpPr>
        <p:spPr>
          <a:xfrm>
            <a:off x="4797447" y="3900488"/>
            <a:ext cx="1795676"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Announce Channel Launch</a:t>
            </a:r>
            <a:endParaRPr lang="en-US" sz="104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Next Steps &amp; Growth Strategy</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Immediate Next Steps</a:t>
            </a:r>
            <a:endParaRPr lang="en-US" sz="1350" dirty="0"/>
          </a:p>
        </p:txBody>
      </p:sp>
      <p:sp>
        <p:nvSpPr>
          <p:cNvPr id="5" name="Text 2"/>
          <p:cNvSpPr/>
          <p:nvPr/>
        </p:nvSpPr>
        <p:spPr>
          <a:xfrm>
            <a:off x="342900" y="1200150"/>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Execute the weekend launch checklist.</a:t>
            </a:r>
            <a:endParaRPr lang="en-US" sz="942" dirty="0"/>
          </a:p>
        </p:txBody>
      </p:sp>
      <p:sp>
        <p:nvSpPr>
          <p:cNvPr id="6" name="Text 3"/>
          <p:cNvSpPr/>
          <p:nvPr/>
        </p:nvSpPr>
        <p:spPr>
          <a:xfrm>
            <a:off x="342900" y="1457325"/>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Publish your first video and announce the channel.</a:t>
            </a:r>
            <a:endParaRPr lang="en-US" sz="942" dirty="0"/>
          </a:p>
        </p:txBody>
      </p:sp>
      <p:sp>
        <p:nvSpPr>
          <p:cNvPr id="7" name="Text 4"/>
          <p:cNvSpPr/>
          <p:nvPr/>
        </p:nvSpPr>
        <p:spPr>
          <a:xfrm>
            <a:off x="342900" y="1714500"/>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Engage with your first viewers and build a community.</a:t>
            </a:r>
            <a:endParaRPr lang="en-US" sz="942" dirty="0"/>
          </a:p>
        </p:txBody>
      </p:sp>
      <p:sp>
        <p:nvSpPr>
          <p:cNvPr id="8" name="Text 5"/>
          <p:cNvSpPr/>
          <p:nvPr/>
        </p:nvSpPr>
        <p:spPr>
          <a:xfrm>
            <a:off x="342900" y="1971675"/>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Monitor analytics to see what's working.</a:t>
            </a:r>
            <a:endParaRPr lang="en-US" sz="942" dirty="0"/>
          </a:p>
        </p:txBody>
      </p:sp>
      <p:sp>
        <p:nvSpPr>
          <p:cNvPr id="9" name="Text 6"/>
          <p:cNvSpPr/>
          <p:nvPr/>
        </p:nvSpPr>
        <p:spPr>
          <a:xfrm>
            <a:off x="342900" y="23431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Long-Term Growth Strategy</a:t>
            </a:r>
            <a:endParaRPr lang="en-US" sz="1350" dirty="0"/>
          </a:p>
        </p:txBody>
      </p:sp>
      <p:sp>
        <p:nvSpPr>
          <p:cNvPr id="10" name="Text 7"/>
          <p:cNvSpPr/>
          <p:nvPr/>
        </p:nvSpPr>
        <p:spPr>
          <a:xfrm>
            <a:off x="342900" y="2686050"/>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Consistently publish high-quality daily content.</a:t>
            </a:r>
            <a:endParaRPr lang="en-US" sz="942" dirty="0"/>
          </a:p>
        </p:txBody>
      </p:sp>
      <p:sp>
        <p:nvSpPr>
          <p:cNvPr id="11" name="Text 8"/>
          <p:cNvSpPr/>
          <p:nvPr/>
        </p:nvSpPr>
        <p:spPr>
          <a:xfrm>
            <a:off x="342900" y="2943225"/>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Collaborate with other creators in your niche.</a:t>
            </a:r>
            <a:endParaRPr lang="en-US" sz="942" dirty="0"/>
          </a:p>
        </p:txBody>
      </p:sp>
      <p:sp>
        <p:nvSpPr>
          <p:cNvPr id="12" name="Text 9"/>
          <p:cNvSpPr/>
          <p:nvPr/>
        </p:nvSpPr>
        <p:spPr>
          <a:xfrm>
            <a:off x="342900" y="3200400"/>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Expand to other social media platforms.</a:t>
            </a:r>
            <a:endParaRPr lang="en-US" sz="942" dirty="0"/>
          </a:p>
        </p:txBody>
      </p:sp>
      <p:sp>
        <p:nvSpPr>
          <p:cNvPr id="13" name="Text 10"/>
          <p:cNvSpPr/>
          <p:nvPr/>
        </p:nvSpPr>
        <p:spPr>
          <a:xfrm>
            <a:off x="342900" y="3457575"/>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Explore new monetization opportunities.</a:t>
            </a:r>
            <a:endParaRPr lang="en-US" sz="942" dirty="0"/>
          </a:p>
        </p:txBody>
      </p:sp>
      <p:pic>
        <p:nvPicPr>
          <p:cNvPr id="14" name="Image 1" descr="preencoded.png">    </p:cNvPr>
          <p:cNvPicPr>
            <a:picLocks noChangeAspect="1"/>
          </p:cNvPicPr>
          <p:nvPr/>
        </p:nvPicPr>
        <p:blipFill>
          <a:blip r:embed="rId2"/>
          <a:stretch>
            <a:fillRect/>
          </a:stretch>
        </p:blipFill>
        <p:spPr>
          <a:xfrm>
            <a:off x="4900613" y="1400175"/>
            <a:ext cx="3571875" cy="2857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2025-09-22T17:26:19Z</dcterms:created>
  <dcterms:modified xsi:type="dcterms:W3CDTF">2025-09-22T17:26:19Z</dcterms:modified>
</cp:coreProperties>
</file>